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 Executive Overview</a:t>
            </a:r>
          </a:p>
          <a:p>
            <a:r>
              <a:t>• Purpose: Introduce EdgeShield AI as a multi-domain engineering and research prototype designed for smart hospital infrastructure.</a:t>
            </a:r>
          </a:p>
          <a:p>
            <a:r>
              <a:t>• Emphasize Architectural Decoupling: Make it clear right away that the cybersecurity intrusion detection system and the clinical patient-monitoring risk pipeline are NOT a single trained model. They are two distinct, complementary subsystems operating on a unified platform.</a:t>
            </a:r>
          </a:p>
          <a:p>
            <a:r>
              <a:t>• Key Motivation: Modern hospitals operate thousands of connected IoT devices (infusion pumps, telemetry monitors, ventilators). Security alerts in hospitals often confuse biomedical engineers because they lack clinical context. EdgeShield solves this by combining deterministic ML intrusion detection, local privacy-preserving generative AI explainability, and an audited clinical vital-sign research pipeline.</a:t>
            </a:r>
          </a:p>
          <a:p>
            <a:r>
              <a:t>• Potential Questions:</a:t>
            </a:r>
          </a:p>
          <a:p>
            <a:r>
              <a:t>  - Q: Is this deployed in an active hospital?</a:t>
            </a:r>
          </a:p>
          <a:p>
            <a:r>
              <a:t>  - A: No, this is an advanced engineering prototype and research pipeline verified against MIMIC-IV Demo data and simulated medical IoT streams.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2: Background &amp; Context</a:t>
            </a:r>
          </a:p>
          <a:p>
            <a:r>
              <a:t>• Healthcare IoMT Growth: Hospitals have seen exponential adoption of connected medical devices. An average hospital bed has 10–15 connected devices.</a:t>
            </a:r>
          </a:p>
          <a:p>
            <a:r>
              <a:t>• The Problem with Legacy Protocols: Modbus, DICOM, and MQTT were created decades ago or designed for industrial simplicity. They often transmit plaintext data, making them prime targets for man-in-the-middle attacks, packet flooding, or malformed function injection.</a:t>
            </a:r>
          </a:p>
          <a:p>
            <a:r>
              <a:t>• Edge Justification: Emphasize why edge computing is chosen. In critical care (ICU, OR), network decisions must happen in milliseconds. Transmitting sensitive patient waveforms to third-party cloud APIs violates HIPAA and creates severe reliability hazards if the hospital's internet connection degrades.</a:t>
            </a:r>
          </a:p>
          <a:p>
            <a:r>
              <a:t>• Anticipated Question: Can't we just install antivirus on medical devices?</a:t>
            </a:r>
          </a:p>
          <a:p>
            <a:r>
              <a:t>  - Answer: No. Medical devices run proprietary real-time operating systems (RTOS) or locked Linux firmware. Modifying software on certified medical devices can void regulatory approval. Intrusion detection must therefore occur non-intrusively at the network edge.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3: Problem Statement</a:t>
            </a:r>
          </a:p>
          <a:p>
            <a:r>
              <a:t>• Delineate Both Problem Domains: Highlight that smart hospitals face dual technical challenges: defending medical hardware against sophisticated cyber threats while also properly validating clinical monitoring pipelines without academic leakage.</a:t>
            </a:r>
          </a:p>
          <a:p>
            <a:r>
              <a:t>• Emphasize Alert Fatigue: Biomedical engineers are not cybersecurity analysts. When an alarm triggers on an infusion pump, they need to know: Is this a network attack? What therapy is being disrupted? What manual override must I execute?</a:t>
            </a:r>
          </a:p>
          <a:p>
            <a:r>
              <a:t>• Emphasize Data Leakage in Clinical ML: Most published hospital AI models fail in practice because they leak future information (temporal leakage) or evaluate duplicate ICU stays from the same patient across splits (patient overlap leakage). EdgeShield AI tackles this by instituting an audited zero-leakage methodology.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4: Objectives &amp; Principles</a:t>
            </a:r>
          </a:p>
          <a:p>
            <a:r>
              <a:t>• Focus on Engineering Integrity: Explain that EdgeShield AI was built with strict engineering guardrails rather than unrealistic hype.</a:t>
            </a:r>
          </a:p>
          <a:p>
            <a:r>
              <a:t>• Decoupling Principle: Re-emphasize that the cybersecurity pipeline and the clinical pipeline solve two separate operational needs.</a:t>
            </a:r>
          </a:p>
          <a:p>
            <a:r>
              <a:t>• Scientific Honesty: Acknowledge upfront that because the clinical dataset is a demonstration sample (MIMIC-IV Demo, 100 patients), we explicitly document confidence intervals and cross-validation discrepancies rather than claiming clinical perfection.</a:t>
            </a:r>
          </a:p>
          <a:p>
            <a:r>
              <a:t>• Safety Interlocks: Point out that automated network disconnection in hospitals can be dangerous; fail-safe interlocks are an essential architectural requirement.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5: Dual-Pipeline Architecture</a:t>
            </a:r>
          </a:p>
          <a:p>
            <a:r>
              <a:t>• Walk Through the Flow: Guide the audience through the two parallel tracks.</a:t>
            </a:r>
          </a:p>
          <a:p>
            <a:r>
              <a:t>• Track A (Cybersecurity): Shows the transition from raw network packets to feature extraction, sub-millisecond ML scoring, asynchronous local GenAI explanation, and safe network isolation.</a:t>
            </a:r>
          </a:p>
          <a:p>
            <a:r>
              <a:t>• Track B (Clinical Informatics): Shows how raw MIMIC-IV ICU chart events pass through strict prospective filtering, 24-hour observation windows, 69-feature engineering, isolated preprocessing, and risk categorization.</a:t>
            </a:r>
          </a:p>
          <a:p>
            <a:r>
              <a:t>• Key Point: Both pipelines converge on the same presentation dashboard (React 18) and API server (FastAPI), but their data pathways, models, and endpoints remain completely distinct.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6: Comprehensive Architecture</a:t>
            </a:r>
          </a:p>
          <a:p>
            <a:r>
              <a:t>• Explain the Three-Tier Structure: Detail how the React frontend, FastAPI backend, and data/enforcement layers interact cleanly.</a:t>
            </a:r>
          </a:p>
          <a:p>
            <a:r>
              <a:t>• Highlight Request Validation: Notice how FastAPI and Pydantic act as a gatekeeper. If someone sends NaN, Infinity, or an unrecognized feature key to the clinical endpoint, it gets rejected immediately with an HTTP 422 before reaching the model.</a:t>
            </a:r>
          </a:p>
          <a:p>
            <a:r>
              <a:t>• Persistence &amp; Models: Point out that model artifacts are versioned in `research/patient_monitoring/` and loaded into memory on FastAPI startup.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7: Ingestion &amp; Device Inventory</a:t>
            </a:r>
          </a:p>
          <a:p>
            <a:r>
              <a:t>• Asset Visibility: Emphasize that you cannot defend what you cannot see. The Device Manager maintains a real-time inventory of hospital assets with IP/MAC mapping and dynamic risk scores.</a:t>
            </a:r>
          </a:p>
          <a:p>
            <a:r>
              <a:t>• Multi-Channel Telemetry: Medical equipment communicates over different channels. The system implements a REST ingest endpoint, a direct raw TCP listener on port 9100, and an MQTT broker bridge.</a:t>
            </a:r>
          </a:p>
          <a:p>
            <a:r>
              <a:t>• Incident Correlation: During an active flood attack, a sensor might emit 1,000 packets per second. The Incident Correlator aggregates these into a single alert flow with an incrementing packet counter, preventing the security dashboard from crashing or overwhelming operators.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8: Detection &amp; Invariants</a:t>
            </a:r>
          </a:p>
          <a:p>
            <a:r>
              <a:t>• 9 Network Features: Explain why entropy, packet rates, and protocol-specific fields (Modbus function codes, MQTT rates) are ideal for detecting medical device compromises.</a:t>
            </a:r>
          </a:p>
          <a:p>
            <a:r>
              <a:t>• Contrast the 2-Stage Model: Stage 1 uses an unsupervised Isolation Forest trained on normal traffic. This detects unknown anomalies and zero-day deviations. Stage 2 uses a multi-class Random Forest to classify known attack behaviors (ransomware, DoS, command injection).</a:t>
            </a:r>
          </a:p>
          <a:p>
            <a:r>
              <a:t>• Cyber-Physical Security (CPS): Emphasize that EdgeShield AI doesn't just look at IP packets; it inspects the physical parameters inside the payload (infusion rates, ventilator pressure, sequence freshness). A packet might be syntactically valid Modbus, but if it tells a ventilator to exceed safe airway pressure, EdgeShield flags it as a cyber-physical invariant breach.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9: Explainable AI &amp; Local SLMs</a:t>
            </a:r>
          </a:p>
          <a:p>
            <a:r>
              <a:t>• Why Generative AI in an IDS? Intrusion detection alerts are notoriously cryptic. An alert saying "Port 104 anomaly" means nothing to a floor nurse or biomedical tech. EdgeShield translates that into: "Siemens PACS workstation is receiving encrypted burst traffic consistent with DICOM Ransomware; CT scans may be locked; isolate workstation and notify radiology."</a:t>
            </a:r>
          </a:p>
          <a:p>
            <a:r>
              <a:t>• Latency Decoupling: A critical architectural point is that the LLM is asynchronous. If the LLM takes 2 seconds to generate text, the network packet detection was already completed in 0.5 milliseconds. The edge detection pipeline is NEVER stalled.</a:t>
            </a:r>
          </a:p>
          <a:p>
            <a:r>
              <a:t>• Privacy Compliance: Emphasize that hospitals CANNOT send network logs to external public APIs like ChatGPT because packets can contain patient names or medical record numbers. Running local SLMs via Ollama ensures complete data sovereignty.</a:t>
            </a:r>
          </a:p>
          <a:p>
            <a:r>
              <a:t>• Crucial Boundary: Clarify that the LLM never blocks traffic. Security enforcement is strictly deterministic.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10: Security Enforcement</a:t>
            </a:r>
          </a:p>
          <a:p>
            <a:r>
              <a:t>• Truth in Engineering: Address one of the most common flaws in student or prototype security projects: claiming that a database record update "isolates the device from the network." EdgeShield AI implements an explicit Adapter pattern.</a:t>
            </a:r>
          </a:p>
          <a:p>
            <a:r>
              <a:t>• Linux Production Mode: In Linux deployment, `HostFirewallAdapter` executes real `iptables` commands with `-I FORWARD 1 -s &lt;IP&gt; -j DROP` and checks idempotency and post-verification.</a:t>
            </a:r>
          </a:p>
          <a:p>
            <a:r>
              <a:t>• macOS / Development Simulation: On developer laptops or macOS, it uses `SimulationEnforcementAdapter`, which transparently returns `status: SIMULATED` and explicitly tells the UI that no host rules were changed.</a:t>
            </a:r>
          </a:p>
          <a:p>
            <a:r>
              <a:t>• Clinical Interlocks: Explain the concept of safety interlocks. If an infusion pump is attacked while infusing epinephrine, you cannot simply sever the network or turn off the device—that could kill the patient. The system engages a safety interlock that locks the device into local manual bedside control mode so the clinician at the bedside can manage therapy safely.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11: Clinical Research Motivation &amp; Cohort</a:t>
            </a:r>
          </a:p>
          <a:p>
            <a:r>
              <a:t>• Context Shift: We now examine the second major module: the patient vital-sign monitoring and mortality risk research pipeline.</a:t>
            </a:r>
          </a:p>
          <a:p>
            <a:r>
              <a:t>• MIMIC-IV Demo 2.2: Clarify that the demo cohort is a small, publicly accessible subset of MIMIC-IV containing 100 patients and 140 ICU stays.</a:t>
            </a:r>
          </a:p>
          <a:p>
            <a:r>
              <a:t>• Patient vs Stay: Emphasize this statistical distinction. An ICU stay is an episode of care, but a single patient can be admitted multiple times. If an ML engineer treats each stay as independent, information from the patient will leak across partitions.</a:t>
            </a:r>
          </a:p>
          <a:p>
            <a:r>
              <a:t>• Research Purpose: Reiterate that this module is intended to demonstrate a reproducible, leakage-free data science pipeline. It is not large enough to train a production-grade diagnostic algorithm.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12: Eligibility Audit &amp; Leakage Elimination</a:t>
            </a:r>
          </a:p>
          <a:p>
            <a:r>
              <a:t>• Methodological Rigor: Explain why these 4 exclusions are required.</a:t>
            </a:r>
          </a:p>
          <a:p>
            <a:r>
              <a:t>• Pre-Prediction Deaths: If a patient dies at hour 12 of their ICU stay, you cannot predict their post-24h mortality at hour 24 because they are already dead. Including them causes severe retrospective target leakage.</a:t>
            </a:r>
          </a:p>
          <a:p>
            <a:r>
              <a:t>• Pre-Prediction Discharges: If a patient is discharged alive from the hospital at hour 15, they are no longer in the acute care setting at hour 24.</a:t>
            </a:r>
          </a:p>
          <a:p>
            <a:r>
              <a:t>• Final Eligible Numbers: 136 stays across 98 patients, with 18 mortality events. Note that these 18 deaths correspond to only 14 unique deceased individuals because some patients had repeated admissions.</a:t>
            </a:r>
          </a:p>
          <a:p>
            <a:r>
              <a:t>• Complete Audit Trail: The repository contains `exclusions_report.md` and `cohort_audit_summary.json` documenting every stay ID and timestamp.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13: Features &amp; Temporal Definition</a:t>
            </a:r>
          </a:p>
          <a:p>
            <a:r>
              <a:t>• Precise Temporal Window: Explain that the observation interval $[t_{	ext{intime}}, t_{	ext{intime}} + 24	ext{h})$ is half-open. Measurements recorded exactly at $t=24.0	ext{h}$ are excluded so that no information at or after the prediction boundary enters the feature vectors.</a:t>
            </a:r>
          </a:p>
          <a:p>
            <a:r>
              <a:t>• 7 Vital Signs $	imes$ 9 Statistical Metrics = 63 Features: For each vital sign, we calculate count, missingness, recent value, mean, min, max, standard deviation, latency to hour 24, and the trajectory trend (late 12 hours minus early 12 hours).</a:t>
            </a:r>
          </a:p>
          <a:p>
            <a:r>
              <a:t>• 6 General Quality Features: Track overall monitoring density and clinical screening flags (zero values, severe hypoxemia &lt; 70%, extreme heart rates). Total = 69 features.</a:t>
            </a:r>
          </a:p>
          <a:p>
            <a:r>
              <a:t>• Feature Schema Verification: The model artifact strictly validates this 69-feature schema on every API request.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14: ML Pipeline &amp; Preprocessing Isolation</a:t>
            </a:r>
          </a:p>
          <a:p>
            <a:r>
              <a:t>• Leakage Elimination: Reiterate the two major leakage prevention steps:</a:t>
            </a:r>
          </a:p>
          <a:p>
            <a:r>
              <a:t>  1. Grouped Partitioning: Grouping on `subject_id` ensures that if Patient X was admitted three times, all three stays reside in the training split (or all in test). None are split across.</a:t>
            </a:r>
          </a:p>
          <a:p>
            <a:r>
              <a:t>  2. Isolated Preprocessing: If you compute the median or standard deviation of the entire dataset before splitting, you leak test distribution info into training. By using `sklearn.pipeline.Pipeline`, the `SimpleImputer` and `StandardScaler` are fitted strictly on `X_train`.</a:t>
            </a:r>
          </a:p>
          <a:p>
            <a:r>
              <a:t>• Model Selection Rationale: In high-dimensional, small-sample regimes (69 features for 101 training stays), complex models overfit instantly. Constrained L2 Logistic Regression with high regularization ($C=0.1$) and low-depth Random Forest (depth 3) are appropriate exploratory baselines.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15: Evaluation Results &amp; Discrepancy</a:t>
            </a:r>
          </a:p>
          <a:p>
            <a:r>
              <a:t>• Walk Through the Table: Review the metrics. Both L2 Logistic Regression and Random Forest achieved 60% test recall (3 out of 5 deaths identified). Random Forest had higher accuracy (91.4%) and precision (75%), but this is driven by high specificity on the majority class.</a:t>
            </a:r>
          </a:p>
          <a:p>
            <a:r>
              <a:t>• The Crucial Discrepancy Question: Anticipate this inevitable reviewer question: "Why did test ROC-AUC reach 0.76 while 5-fold grouped CV out-of-fold ROC-AUC was only 0.53?"</a:t>
            </a:r>
          </a:p>
          <a:p>
            <a:r>
              <a:t>• The Exact Scientific Answer: The test set has only 5 positive events. In such small samples, high test scores are driven by random favorable split partitioning. The bootstrap 95% confidence interval spans from 0.312 to 1.000—meaning the true test performance is statistically indistinguishable from chance (0.50) or cross-validation (0.53).</a:t>
            </a:r>
          </a:p>
          <a:p>
            <a:r>
              <a:t>• Honesty Takeaway: EdgeShield AI explicitly documents this discrepancy rather than hiding the CV score or claiming clinical generalizability.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16: Full-Stack Implementation</a:t>
            </a:r>
          </a:p>
          <a:p>
            <a:r>
              <a:t>• API Reliability: The backend API implements robust defensive engineering. Notice the sanitization: non-finite values (like `NaN` or `Infinity`), negative vitals (e.g. negative SpO2), or unknown feature keys are rejected with HTTP 422 Unprocessable Entity.</a:t>
            </a:r>
          </a:p>
          <a:p>
            <a:r>
              <a:t>• Graceful Fallback: If `baseline_model.joblib` is missing or corrupted, the service does not crash; it returns risk score `INDETERMINATE` with a clear explanation.</a:t>
            </a:r>
          </a:p>
          <a:p>
            <a:r>
              <a:t>• Frontend Design in React: `PatientMonitoringView.tsx` incorporates demonstration case buttons pre-loaded with MIMIC-IV records so evaluators can test stable, elevated, and critical cases with a single click.</a:t>
            </a:r>
          </a:p>
          <a:p>
            <a:r>
              <a:t>• Visual Clarity: The UI visually separates raw measurements from model predictions so users never confuse observed physiological signs with algorithmic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17: Engineering Verification</a:t>
            </a:r>
          </a:p>
          <a:p>
            <a:r>
              <a:t>• Test Coverage: 77 tests were executed with pytest inside `backend/` and achieved 100% pass rate (0 failures).</a:t>
            </a:r>
          </a:p>
          <a:p>
            <a:r>
              <a:t>• Key Test Highlights:</a:t>
            </a:r>
          </a:p>
          <a:p>
            <a:r>
              <a:t>  - Prospective Cohort: Tests verify that Stays 36871784 and 38275267 (deaths &lt;= 24h) and Stays 32554129 and 30864406 (discharges &lt;= 24h) are strictly excluded.</a:t>
            </a:r>
          </a:p>
          <a:p>
            <a:r>
              <a:t>  - Leakage Protection: Tests verify 0 patient overlap between training and testing sets.</a:t>
            </a:r>
          </a:p>
          <a:p>
            <a:r>
              <a:t>  - Robust Error Handling: Tests verify that corrupted model files or missing folders do not cause server 500 errors, but cleanly transition to `INDETERMINATE`.</a:t>
            </a:r>
          </a:p>
          <a:p>
            <a:r>
              <a:t>• Frontend Build: `tsc &amp;&amp; vite build` bundled 2,669 modules with zero TypeScript errors. This demonstrates production readiness of the code artifacts.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18: Limitations &amp; Ethical Disclaimers</a:t>
            </a:r>
          </a:p>
          <a:p>
            <a:r>
              <a:t>• Transparency as a Strength: Emphasize that in biomedical engineering and clinical informatics, recognizing limitations is the hallmark of serious scientific work.</a:t>
            </a:r>
          </a:p>
          <a:p>
            <a:r>
              <a:t>• Sample Size Reality: Reiterate that 14 deceased patients cannot produce a production model. The confidence intervals are wide ($[0.312, 1.000]$), which is why we frame the model strictly as an exploratory baseline.</a:t>
            </a:r>
          </a:p>
          <a:p>
            <a:r>
              <a:t>• Regulatory Clearances: Medical software intended to predict mortality in hospitals requires rigorous clinical trials, Software as a Medical Device (SaMD) documentation, and FDA 510(k) or De Novo clearance. EdgeShield AI makes zero claims of clinical deployment.</a:t>
            </a:r>
          </a:p>
          <a:p>
            <a:r>
              <a:t>• Ethical Safeguards: Point out that autonomous systems in hospitals must always incorporate fail-safe mechanisms—interlocks that prioritize patient life over pure network isolation.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 Slide 19: Future Scope &amp; Conclusion</a:t>
            </a:r>
          </a:p>
          <a:p>
            <a:r>
              <a:t>• Summarize the Technical Journey: Conclude by reiterating the core value proposition of EdgeShield AI.</a:t>
            </a:r>
          </a:p>
          <a:p>
            <a:r>
              <a:t>• Future Directions: Mention that moving from the 100-patient MIMIC-IV Demo to the full 70,000-stay MIMIC-IV dataset and adding laboratory variables (lactate, arterial blood gas) will allow training deep sequence models with clinical statistical power.</a:t>
            </a:r>
          </a:p>
          <a:p>
            <a:r>
              <a:t>• Hardware Edge Deployment: Highlight the next step of testing on physical NVIDIA Jetson and edge gateway appliances in a medical cyber-range testbed.</a:t>
            </a:r>
          </a:p>
          <a:p>
            <a:r>
              <a:t>• Final Conclusion: EdgeShield AI successfully bridges the gap between low-latency IoT cybersecurity and leak-free critical care clinical informatics, supported by verified software engineering and scientific honesty.</a:t>
            </a:r>
          </a:p>
          <a:p>
            <a:r>
              <a:t>• Invite Questions: Open the floor to questions from reviewers.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731520"/>
            <a:ext cx="2011680" cy="73152"/>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60120"/>
            <a:ext cx="10698480" cy="1280160"/>
          </a:xfrm>
          <a:prstGeom prst="rect">
            <a:avLst/>
          </a:prstGeom>
          <a:noFill/>
        </p:spPr>
        <p:txBody>
          <a:bodyPr wrap="square">
            <a:spAutoFit/>
          </a:bodyPr>
          <a:lstStyle/>
          <a:p>
            <a:pPr>
              <a:defRPr sz="3800" b="1">
                <a:solidFill>
                  <a:srgbClr val="F8FAFC"/>
                </a:solidFill>
                <a:latin typeface="Helvetica"/>
              </a:defRPr>
            </a:pPr>
            <a:r>
              <a:t>EdgeShield AI</a:t>
            </a:r>
          </a:p>
          <a:p>
            <a:pPr>
              <a:spcBef>
                <a:spcPts val="600"/>
              </a:spcBef>
              <a:defRPr sz="1500">
                <a:solidFill>
                  <a:srgbClr val="0EA5E9"/>
                </a:solidFill>
                <a:latin typeface="Arial"/>
              </a:defRPr>
            </a:pPr>
            <a:r>
              <a:t>An Edge-Based Intelligent Intrusion Detection and Generative AI Framework for Secure Smart Healthcare IoT Networks</a:t>
            </a:r>
          </a:p>
        </p:txBody>
      </p:sp>
      <p:sp>
        <p:nvSpPr>
          <p:cNvPr id="5" name="Rounded Rectangle 4"/>
          <p:cNvSpPr/>
          <p:nvPr/>
        </p:nvSpPr>
        <p:spPr>
          <a:xfrm>
            <a:off x="731520" y="2468880"/>
            <a:ext cx="3337560" cy="34747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8FAFC"/>
                </a:solidFill>
                <a:latin typeface="Helvetica"/>
              </a:defRPr>
            </a:pPr>
            <a:r>
              <a:t>🛡️ IoMT Cybersecurity</a:t>
            </a:r>
          </a:p>
          <a:p>
            <a:pPr>
              <a:spcBef>
                <a:spcPts val="800"/>
              </a:spcBef>
              <a:defRPr sz="1100">
                <a:solidFill>
                  <a:srgbClr val="CBD5E1"/>
                </a:solidFill>
              </a:defRPr>
            </a:pPr>
            <a:r>
              <a:t>• Monitors connected hospital devices (infusion pumps, smart ventilators, DICOM PACS).</a:t>
            </a:r>
          </a:p>
          <a:p>
            <a:pPr>
              <a:spcBef>
                <a:spcPts val="800"/>
              </a:spcBef>
              <a:defRPr sz="1100">
                <a:solidFill>
                  <a:srgbClr val="CBD5E1"/>
                </a:solidFill>
              </a:defRPr>
            </a:pPr>
            <a:r>
              <a:t>• Dual-Stage ML Detection: Isolation Forest anomaly detector + 6-class Random Forest threat classifier.</a:t>
            </a:r>
          </a:p>
          <a:p>
            <a:pPr>
              <a:spcBef>
                <a:spcPts val="800"/>
              </a:spcBef>
              <a:defRPr sz="1100">
                <a:solidFill>
                  <a:srgbClr val="CBD5E1"/>
                </a:solidFill>
              </a:defRPr>
            </a:pPr>
            <a:r>
              <a:t>• Sub-millisecond edge packet processing with physical invariant &amp; anti-replay validation.</a:t>
            </a:r>
          </a:p>
          <a:p>
            <a:pPr>
              <a:spcBef>
                <a:spcPts val="800"/>
              </a:spcBef>
              <a:defRPr sz="1100">
                <a:solidFill>
                  <a:srgbClr val="CBD5E1"/>
                </a:solidFill>
              </a:defRPr>
            </a:pPr>
            <a:r>
              <a:t>• Linux iptables firewall isolation with automated Clinical Safety Interlocks.</a:t>
            </a:r>
          </a:p>
        </p:txBody>
      </p:sp>
      <p:sp>
        <p:nvSpPr>
          <p:cNvPr id="6" name="Rounded Rectangle 5"/>
          <p:cNvSpPr/>
          <p:nvPr/>
        </p:nvSpPr>
        <p:spPr>
          <a:xfrm>
            <a:off x="4425696" y="2468880"/>
            <a:ext cx="3337560" cy="34747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8FAFC"/>
                </a:solidFill>
                <a:latin typeface="Helvetica"/>
              </a:defRPr>
            </a:pPr>
            <a:r>
              <a:t>🤖 Local GenAI &amp; RAG</a:t>
            </a:r>
          </a:p>
          <a:p>
            <a:pPr>
              <a:spcBef>
                <a:spcPts val="800"/>
              </a:spcBef>
              <a:defRPr sz="1100">
                <a:solidFill>
                  <a:srgbClr val="CBD5E1"/>
                </a:solidFill>
              </a:defRPr>
            </a:pPr>
            <a:r>
              <a:t>• Offline Small Language Models (Ollama Llama-3 / Phi-3) executing locally.</a:t>
            </a:r>
          </a:p>
          <a:p>
            <a:pPr>
              <a:spcBef>
                <a:spcPts val="800"/>
              </a:spcBef>
              <a:defRPr sz="1100">
                <a:solidFill>
                  <a:srgbClr val="CBD5E1"/>
                </a:solidFill>
              </a:defRPr>
            </a:pPr>
            <a:r>
              <a:t>• Zero Cloud Data Egress: Complete compliance with HIPAA, HITECH &amp; GDPR.</a:t>
            </a:r>
          </a:p>
          <a:p>
            <a:pPr>
              <a:spcBef>
                <a:spcPts val="800"/>
              </a:spcBef>
              <a:defRPr sz="1100">
                <a:solidFill>
                  <a:srgbClr val="CBD5E1"/>
                </a:solidFill>
              </a:defRPr>
            </a:pPr>
            <a:r>
              <a:t>• Decoupled Asynchronous Explainability: Explains alerts in human language without blocking edge detection.</a:t>
            </a:r>
          </a:p>
          <a:p>
            <a:pPr>
              <a:spcBef>
                <a:spcPts val="800"/>
              </a:spcBef>
              <a:defRPr sz="1100">
                <a:solidFill>
                  <a:srgbClr val="CBD5E1"/>
                </a:solidFill>
              </a:defRPr>
            </a:pPr>
            <a:r>
              <a:t>• Local RAG Copilot with PDF document search across medical device protocols.</a:t>
            </a:r>
          </a:p>
        </p:txBody>
      </p:sp>
      <p:sp>
        <p:nvSpPr>
          <p:cNvPr id="7" name="Rounded Rectangle 6"/>
          <p:cNvSpPr/>
          <p:nvPr/>
        </p:nvSpPr>
        <p:spPr>
          <a:xfrm>
            <a:off x="8119872" y="2468880"/>
            <a:ext cx="3337560" cy="34747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4B8A6"/>
                </a:solidFill>
                <a:latin typeface="Helvetica"/>
              </a:defRPr>
            </a:pPr>
            <a:r>
              <a:t>🏥 Clinical Research Module</a:t>
            </a:r>
          </a:p>
          <a:p>
            <a:pPr>
              <a:spcBef>
                <a:spcPts val="800"/>
              </a:spcBef>
              <a:defRPr sz="1100">
                <a:solidFill>
                  <a:srgbClr val="CBD5E1"/>
                </a:solidFill>
              </a:defRPr>
            </a:pPr>
            <a:r>
              <a:t>• Completely decoupled research pipeline using MIMIC-IV Demo 2.2 dataset.</a:t>
            </a:r>
          </a:p>
          <a:p>
            <a:pPr>
              <a:spcBef>
                <a:spcPts val="800"/>
              </a:spcBef>
              <a:defRPr sz="1100">
                <a:solidFill>
                  <a:srgbClr val="CBD5E1"/>
                </a:solidFill>
              </a:defRPr>
            </a:pPr>
            <a:r>
              <a:t>• Prospective 24-Hour Window: Extracts 69 features across 7 vital signs with strict zero-leakage protocol.</a:t>
            </a:r>
          </a:p>
          <a:p>
            <a:pPr>
              <a:spcBef>
                <a:spcPts val="800"/>
              </a:spcBef>
              <a:defRPr sz="1100">
                <a:solidFill>
                  <a:srgbClr val="CBD5E1"/>
                </a:solidFill>
              </a:defRPr>
            </a:pPr>
            <a:r>
              <a:t>• Patient-Grouped Validation: Evaluates L2 Logistic Regression &amp; Random Forest baseline comparators.</a:t>
            </a:r>
          </a:p>
          <a:p>
            <a:pPr>
              <a:spcBef>
                <a:spcPts val="800"/>
              </a:spcBef>
              <a:defRPr sz="1100">
                <a:solidFill>
                  <a:srgbClr val="CBD5E1"/>
                </a:solidFill>
              </a:defRPr>
            </a:pPr>
            <a:r>
              <a:t>• Engineering &amp; Research Prototype: Mandatory disclaimers; not an FDA-cleared diagnostic device.</a:t>
            </a:r>
          </a:p>
        </p:txBody>
      </p:sp>
      <p:sp>
        <p:nvSpPr>
          <p:cNvPr id="8" name="Rounded Rectangle 7"/>
          <p:cNvSpPr/>
          <p:nvPr/>
        </p:nvSpPr>
        <p:spPr>
          <a:xfrm>
            <a:off x="731520" y="6126480"/>
            <a:ext cx="10728655" cy="457200"/>
          </a:xfrm>
          <a:prstGeom prst="roundRect">
            <a:avLst/>
          </a:prstGeom>
          <a:solidFill>
            <a:srgbClr val="121C2F"/>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a:solidFill>
                  <a:srgbClr val="94A3B8"/>
                </a:solidFill>
              </a:defRPr>
            </a:pPr>
            <a:r>
              <a:t>Key Takeaway: EdgeShield AI integrates IoMT edge security operations with an audited, leak-free clinical informatics pipeline. Both modules operate independently on decoupled services.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02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Modern Smart Healthcare &amp; Connected IoMT Landscape</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2542032"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0EA5E9"/>
                </a:solidFill>
                <a:latin typeface="Helvetica"/>
              </a:defRPr>
            </a:pPr>
            <a:r>
              <a:t>01</a:t>
            </a:r>
          </a:p>
          <a:p>
            <a:pPr>
              <a:spcBef>
                <a:spcPts val="800"/>
              </a:spcBef>
              <a:defRPr sz="1400" b="1">
                <a:solidFill>
                  <a:srgbClr val="F8FAFC"/>
                </a:solidFill>
                <a:latin typeface="Helvetica"/>
              </a:defRPr>
            </a:pPr>
            <a:r>
              <a:t>Massive Medical IoT Attack Surface</a:t>
            </a:r>
          </a:p>
          <a:p>
            <a:pPr>
              <a:spcBef>
                <a:spcPts val="1200"/>
              </a:spcBef>
              <a:defRPr sz="1100">
                <a:solidFill>
                  <a:srgbClr val="CBD5E1"/>
                </a:solidFill>
                <a:latin typeface="Arial"/>
              </a:defRPr>
            </a:pPr>
            <a:r>
              <a:t>Infusion pumps, smart ventilators, ICU monitors, and PACS radiology servers now continuously stream telemetry over hospital LANs. Medical devices cannot run traditional endpoint protection agents due to firmware and FDA certification constraints.</a:t>
            </a:r>
          </a:p>
        </p:txBody>
      </p:sp>
      <p:sp>
        <p:nvSpPr>
          <p:cNvPr id="7" name="Rounded Rectangle 6"/>
          <p:cNvSpPr/>
          <p:nvPr/>
        </p:nvSpPr>
        <p:spPr>
          <a:xfrm>
            <a:off x="3456432" y="1463040"/>
            <a:ext cx="2542032"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EF4444"/>
                </a:solidFill>
                <a:latin typeface="Helvetica"/>
              </a:defRPr>
            </a:pPr>
            <a:r>
              <a:t>02</a:t>
            </a:r>
          </a:p>
          <a:p>
            <a:pPr>
              <a:spcBef>
                <a:spcPts val="800"/>
              </a:spcBef>
              <a:defRPr sz="1400" b="1">
                <a:solidFill>
                  <a:srgbClr val="F8FAFC"/>
                </a:solidFill>
                <a:latin typeface="Helvetica"/>
              </a:defRPr>
            </a:pPr>
            <a:r>
              <a:t>Inherent Healthcare Protocol Weaknesses</a:t>
            </a:r>
          </a:p>
          <a:p>
            <a:pPr>
              <a:spcBef>
                <a:spcPts val="1200"/>
              </a:spcBef>
              <a:defRPr sz="1100">
                <a:solidFill>
                  <a:srgbClr val="CBD5E1"/>
                </a:solidFill>
                <a:latin typeface="Arial"/>
              </a:defRPr>
            </a:pPr>
            <a:r>
              <a:t>Protocols such as DICOM (port 104), MQTT (port 1883), Modbus/TCP (port 502), and HL7 were engineered for interoperability rather than adversarial resistance, lacking mutual authentication and encryption in legacy deployments.</a:t>
            </a:r>
          </a:p>
        </p:txBody>
      </p:sp>
      <p:sp>
        <p:nvSpPr>
          <p:cNvPr id="8" name="Rounded Rectangle 7"/>
          <p:cNvSpPr/>
          <p:nvPr/>
        </p:nvSpPr>
        <p:spPr>
          <a:xfrm>
            <a:off x="6181344" y="1463040"/>
            <a:ext cx="2542032"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F59E0B"/>
                </a:solidFill>
                <a:latin typeface="Helvetica"/>
              </a:defRPr>
            </a:pPr>
            <a:r>
              <a:t>03</a:t>
            </a:r>
          </a:p>
          <a:p>
            <a:pPr>
              <a:spcBef>
                <a:spcPts val="800"/>
              </a:spcBef>
              <a:defRPr sz="1400" b="1">
                <a:solidFill>
                  <a:srgbClr val="F8FAFC"/>
                </a:solidFill>
                <a:latin typeface="Helvetica"/>
              </a:defRPr>
            </a:pPr>
            <a:r>
              <a:t>Life-Critical Clinical Consequences</a:t>
            </a:r>
          </a:p>
          <a:p>
            <a:pPr>
              <a:spcBef>
                <a:spcPts val="1200"/>
              </a:spcBef>
              <a:defRPr sz="1100">
                <a:solidFill>
                  <a:srgbClr val="CBD5E1"/>
                </a:solidFill>
                <a:latin typeface="Arial"/>
              </a:defRPr>
            </a:pPr>
            <a:r>
              <a:t>Unlike corporate IT, healthcare intrusions threaten patient lives: ransomware locks diagnostic MRI scans, DoS attacks starve infusion pumps of telemetry, and command injection attacks can manipulate ventilator pressures or silence alarms.</a:t>
            </a:r>
          </a:p>
        </p:txBody>
      </p:sp>
      <p:sp>
        <p:nvSpPr>
          <p:cNvPr id="9" name="Rounded Rectangle 8"/>
          <p:cNvSpPr/>
          <p:nvPr/>
        </p:nvSpPr>
        <p:spPr>
          <a:xfrm>
            <a:off x="8906256" y="1463040"/>
            <a:ext cx="2542032"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800" b="1">
                <a:solidFill>
                  <a:srgbClr val="10B981"/>
                </a:solidFill>
                <a:latin typeface="Helvetica"/>
              </a:defRPr>
            </a:pPr>
            <a:r>
              <a:t>04</a:t>
            </a:r>
          </a:p>
          <a:p>
            <a:pPr>
              <a:spcBef>
                <a:spcPts val="800"/>
              </a:spcBef>
              <a:defRPr sz="1400" b="1">
                <a:solidFill>
                  <a:srgbClr val="F8FAFC"/>
                </a:solidFill>
                <a:latin typeface="Helvetica"/>
              </a:defRPr>
            </a:pPr>
            <a:r>
              <a:t>Why Edge Architecture is Essential</a:t>
            </a:r>
          </a:p>
          <a:p>
            <a:pPr>
              <a:spcBef>
                <a:spcPts val="1200"/>
              </a:spcBef>
              <a:defRPr sz="1100">
                <a:solidFill>
                  <a:srgbClr val="CBD5E1"/>
                </a:solidFill>
                <a:latin typeface="Arial"/>
              </a:defRPr>
            </a:pPr>
            <a:r>
              <a:t>Cloud-based IDS introduces &gt;200ms round-trip latency, high bandwidth costs, and outage vulnerabilities. Edge gateways adjacent to clinical subnets achieve &lt;5ms response times, 100% offline survivability, and zero cloud data egress.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03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Problem Statement: Dual Challenges in Healthcare Systems</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EF4444"/>
                </a:solidFill>
                <a:latin typeface="Helvetica"/>
              </a:defRPr>
            </a:pPr>
            <a:r>
              <a:t>PART A: Healthcare IoT Cybersecurity Challenges</a:t>
            </a:r>
          </a:p>
          <a:p>
            <a:pPr>
              <a:spcBef>
                <a:spcPts val="800"/>
              </a:spcBef>
              <a:defRPr b="1" sz="1100">
                <a:solidFill>
                  <a:srgbClr val="F8FAFC"/>
                </a:solidFill>
              </a:defRPr>
            </a:pPr>
            <a:r>
              <a:t>• Cognitive Alert Fatigue: </a:t>
            </a:r>
          </a:p>
          <a:p>
            <a:pPr>
              <a:defRPr sz="1050">
                <a:solidFill>
                  <a:srgbClr val="CBD5E1"/>
                </a:solidFill>
              </a:defRPr>
            </a:pPr>
            <a:r>
              <a:t>Commercial firewalls emit cryptic alerts (e.g., 'SYN_FLOOD port 1883') that clinical biomedical engineers cannot rapidly interpret in terms of patient therapy impacts.</a:t>
            </a:r>
          </a:p>
          <a:p>
            <a:pPr>
              <a:spcBef>
                <a:spcPts val="800"/>
              </a:spcBef>
              <a:defRPr b="1" sz="1100">
                <a:solidFill>
                  <a:srgbClr val="F8FAFC"/>
                </a:solidFill>
              </a:defRPr>
            </a:pPr>
            <a:r>
              <a:t>• Zero-Day &amp; Polymorphic Exploits: </a:t>
            </a:r>
          </a:p>
          <a:p>
            <a:pPr>
              <a:defRPr sz="1050">
                <a:solidFill>
                  <a:srgbClr val="CBD5E1"/>
                </a:solidFill>
              </a:defRPr>
            </a:pPr>
            <a:r>
              <a:t>Signature firewalls fail against previously unseen packet variations targeting medical IoT devices without known CVE signatures.</a:t>
            </a:r>
          </a:p>
          <a:p>
            <a:pPr>
              <a:spcBef>
                <a:spcPts val="800"/>
              </a:spcBef>
              <a:defRPr b="1" sz="1100">
                <a:solidFill>
                  <a:srgbClr val="F8FAFC"/>
                </a:solidFill>
              </a:defRPr>
            </a:pPr>
            <a:r>
              <a:t>• Catastrophic Disconnect Hazards: </a:t>
            </a:r>
          </a:p>
          <a:p>
            <a:pPr>
              <a:defRPr sz="1050">
                <a:solidFill>
                  <a:srgbClr val="CBD5E1"/>
                </a:solidFill>
              </a:defRPr>
            </a:pPr>
            <a:r>
              <a:t>Blindly terminating network ports on medical devices can shut down life-support equipment or halt chemotherapy delivery, causing clinical harm.</a:t>
            </a:r>
          </a:p>
          <a:p>
            <a:pPr>
              <a:spcBef>
                <a:spcPts val="800"/>
              </a:spcBef>
              <a:defRPr b="1" sz="1100">
                <a:solidFill>
                  <a:srgbClr val="F8FAFC"/>
                </a:solidFill>
              </a:defRPr>
            </a:pPr>
            <a:r>
              <a:t>• Regulatory &amp; Privacy Constraints: </a:t>
            </a:r>
          </a:p>
          <a:p>
            <a:pPr>
              <a:defRPr sz="1050">
                <a:solidFill>
                  <a:srgbClr val="CBD5E1"/>
                </a:solidFill>
              </a:defRPr>
            </a:pPr>
            <a:r>
              <a:t>Transmitting hospital packet traces to cloud LLMs (OpenAI, Anthropic) risks HIPAA/GDPR violations due to embedded patient identifiers in DICOM or HL7 payloads.</a:t>
            </a:r>
          </a:p>
        </p:txBody>
      </p:sp>
      <p:sp>
        <p:nvSpPr>
          <p:cNvPr id="7" name="Rounded Rectangle 6"/>
          <p:cNvSpPr/>
          <p:nvPr/>
        </p:nvSpPr>
        <p:spPr>
          <a:xfrm>
            <a:off x="6245352"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4B8A6"/>
                </a:solidFill>
                <a:latin typeface="Helvetica"/>
              </a:defRPr>
            </a:pPr>
            <a:r>
              <a:t>PART B: Critical Care Clinical Data &amp; ML Challenges</a:t>
            </a:r>
          </a:p>
          <a:p>
            <a:pPr>
              <a:spcBef>
                <a:spcPts val="800"/>
              </a:spcBef>
              <a:defRPr b="1" sz="1100">
                <a:solidFill>
                  <a:srgbClr val="F8FAFC"/>
                </a:solidFill>
              </a:defRPr>
            </a:pPr>
            <a:r>
              <a:t>• Temporal Boundary &amp; Target Leakage: </a:t>
            </a:r>
          </a:p>
          <a:p>
            <a:pPr>
              <a:defRPr sz="1050">
                <a:solidFill>
                  <a:srgbClr val="CBD5E1"/>
                </a:solidFill>
              </a:defRPr>
            </a:pPr>
            <a:r>
              <a:t>Many academic clinical ML models inadvertently evaluate records recorded after the prediction cutoff, or fail to prospectively exclude pre-prediction deaths and discharges.</a:t>
            </a:r>
          </a:p>
          <a:p>
            <a:pPr>
              <a:spcBef>
                <a:spcPts val="800"/>
              </a:spcBef>
              <a:defRPr b="1" sz="1100">
                <a:solidFill>
                  <a:srgbClr val="F8FAFC"/>
                </a:solidFill>
              </a:defRPr>
            </a:pPr>
            <a:r>
              <a:t>• Pervasive Patient-Level Overlap Leakage: </a:t>
            </a:r>
          </a:p>
          <a:p>
            <a:pPr>
              <a:defRPr sz="1050">
                <a:solidFill>
                  <a:srgbClr val="CBD5E1"/>
                </a:solidFill>
              </a:defRPr>
            </a:pPr>
            <a:r>
              <a:t>ICU patients frequently have repeated admissions. Random stay-level splitting allows features from the same patient into both train and test splits, causing severe overfitting.</a:t>
            </a:r>
          </a:p>
          <a:p>
            <a:pPr>
              <a:spcBef>
                <a:spcPts val="800"/>
              </a:spcBef>
              <a:defRPr b="1" sz="1100">
                <a:solidFill>
                  <a:srgbClr val="F8FAFC"/>
                </a:solidFill>
              </a:defRPr>
            </a:pPr>
            <a:r>
              <a:t>• Small Demonstration Sample Volatility: </a:t>
            </a:r>
          </a:p>
          <a:p>
            <a:pPr>
              <a:defRPr sz="1050">
                <a:solidFill>
                  <a:srgbClr val="CBD5E1"/>
                </a:solidFill>
              </a:defRPr>
            </a:pPr>
            <a:r>
              <a:t>Evaluating models on small demo cohorts (e.g., MIMIC-IV Demo) produces wide confidence intervals. Overstated claims without uncertainty bounds mislead stakeholders.</a:t>
            </a:r>
          </a:p>
          <a:p>
            <a:pPr>
              <a:spcBef>
                <a:spcPts val="800"/>
              </a:spcBef>
              <a:defRPr b="1" sz="1100">
                <a:solidFill>
                  <a:srgbClr val="F8FAFC"/>
                </a:solidFill>
              </a:defRPr>
            </a:pPr>
            <a:r>
              <a:t>• Conflating Bedside Heuristics with ML: </a:t>
            </a:r>
          </a:p>
          <a:p>
            <a:pPr>
              <a:defRPr sz="1050">
                <a:solidFill>
                  <a:srgbClr val="CBD5E1"/>
                </a:solidFill>
              </a:defRPr>
            </a:pPr>
            <a:r>
              <a:t>Clinical monitoring software often misrepresents simple threshold alerts (e.g., tachycardia &gt; 120 bpm) as predictive artificial intelligence, confusing validation boundaries.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04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Project Objectives &amp; Core Engineering Principles</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EA5E9"/>
                </a:solidFill>
                <a:latin typeface="Helvetica"/>
              </a:defRPr>
            </a:pPr>
            <a:r>
              <a:t>🎯 Primary Engineering Objectives</a:t>
            </a:r>
          </a:p>
          <a:p>
            <a:pPr>
              <a:spcBef>
                <a:spcPts val="800"/>
              </a:spcBef>
              <a:defRPr sz="1050">
                <a:solidFill>
                  <a:srgbClr val="CBD5E1"/>
                </a:solidFill>
              </a:defRPr>
            </a:pPr>
            <a:r>
              <a:t>✓ Develop an Edge-First Cyber Defense Engine capable of multi-protocol packet ingestion (DICOM, MQTT, Modbus) with sub-millisecond anomaly detection.</a:t>
            </a:r>
          </a:p>
          <a:p>
            <a:pPr>
              <a:spcBef>
                <a:spcPts val="800"/>
              </a:spcBef>
              <a:defRPr sz="1050">
                <a:solidFill>
                  <a:srgbClr val="CBD5E1"/>
                </a:solidFill>
              </a:defRPr>
            </a:pPr>
            <a:r>
              <a:t>✓ Integrate Privacy-Preserving GenAI that translates raw ML feature importances into clinical impact assessments and actionable containment playbooks offline.</a:t>
            </a:r>
          </a:p>
          <a:p>
            <a:pPr>
              <a:spcBef>
                <a:spcPts val="800"/>
              </a:spcBef>
              <a:defRPr sz="1050">
                <a:solidFill>
                  <a:srgbClr val="CBD5E1"/>
                </a:solidFill>
              </a:defRPr>
            </a:pPr>
            <a:r>
              <a:t>✓ Implement Safe Cyber-Physical Enforcement with Clinical Safety Interlocks, supporting Linux iptables and development simulation adapters.</a:t>
            </a:r>
          </a:p>
          <a:p>
            <a:pPr>
              <a:spcBef>
                <a:spcPts val="800"/>
              </a:spcBef>
              <a:defRPr sz="1050">
                <a:solidFill>
                  <a:srgbClr val="CBD5E1"/>
                </a:solidFill>
              </a:defRPr>
            </a:pPr>
            <a:r>
              <a:t>✓ Construct a Leak-Free 24-Hour Clinical Data Pipeline on the MIMIC-IV Demo 2.2 dataset with prospective temporal boundaries.</a:t>
            </a:r>
          </a:p>
          <a:p>
            <a:pPr>
              <a:spcBef>
                <a:spcPts val="800"/>
              </a:spcBef>
              <a:defRPr sz="1050">
                <a:solidFill>
                  <a:srgbClr val="CBD5E1"/>
                </a:solidFill>
              </a:defRPr>
            </a:pPr>
            <a:r>
              <a:t>✓ Engineer 69 Clinical Features across 7 vital signs and evaluate patient-grouped baseline mortality models with full uncertainty transparency.</a:t>
            </a:r>
          </a:p>
          <a:p>
            <a:pPr>
              <a:spcBef>
                <a:spcPts val="800"/>
              </a:spcBef>
              <a:defRPr sz="1050">
                <a:solidFill>
                  <a:srgbClr val="CBD5E1"/>
                </a:solidFill>
              </a:defRPr>
            </a:pPr>
            <a:r>
              <a:t>✓ Deliver a Full-Stack Web Cockpit (FastAPI + React 18) verified with 100% automated backend test coverage.</a:t>
            </a:r>
          </a:p>
        </p:txBody>
      </p:sp>
      <p:sp>
        <p:nvSpPr>
          <p:cNvPr id="7" name="Rounded Rectangle 6"/>
          <p:cNvSpPr/>
          <p:nvPr/>
        </p:nvSpPr>
        <p:spPr>
          <a:xfrm>
            <a:off x="6245352"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59E0B"/>
                </a:solidFill>
                <a:latin typeface="Helvetica"/>
              </a:defRPr>
            </a:pPr>
            <a:r>
              <a:t>⚖️ Non-Negotiable Principles &amp; Safeguards</a:t>
            </a:r>
          </a:p>
          <a:p>
            <a:pPr>
              <a:spcBef>
                <a:spcPts val="800"/>
              </a:spcBef>
              <a:defRPr b="1" sz="1100">
                <a:solidFill>
                  <a:srgbClr val="F8FAFC"/>
                </a:solidFill>
              </a:defRPr>
            </a:pPr>
            <a:r>
              <a:t>• Strict Architectural Separation: </a:t>
            </a:r>
          </a:p>
          <a:p>
            <a:pPr>
              <a:defRPr sz="1050">
                <a:solidFill>
                  <a:srgbClr val="CBD5E1"/>
                </a:solidFill>
              </a:defRPr>
            </a:pPr>
            <a:r>
              <a:t>Cybersecurity and clinical prediction modules operate on separate services, endpoints, and data structures. No cross-contamination of models.</a:t>
            </a:r>
          </a:p>
          <a:p>
            <a:pPr>
              <a:spcBef>
                <a:spcPts val="800"/>
              </a:spcBef>
              <a:defRPr b="1" sz="1100">
                <a:solidFill>
                  <a:srgbClr val="F8FAFC"/>
                </a:solidFill>
              </a:defRPr>
            </a:pPr>
            <a:r>
              <a:t>• Zero Data Leakage Protocol: </a:t>
            </a:r>
          </a:p>
          <a:p>
            <a:pPr>
              <a:defRPr sz="1050">
                <a:solidFill>
                  <a:srgbClr val="CBD5E1"/>
                </a:solidFill>
              </a:defRPr>
            </a:pPr>
            <a:r>
              <a:t>Observation window strictly enforced as [t_in, t_in + 24h). All stays with death or discharge &lt;= 24h prospectively excluded.</a:t>
            </a:r>
          </a:p>
          <a:p>
            <a:pPr>
              <a:spcBef>
                <a:spcPts val="800"/>
              </a:spcBef>
              <a:defRPr b="1" sz="1100">
                <a:solidFill>
                  <a:srgbClr val="F8FAFC"/>
                </a:solidFill>
              </a:defRPr>
            </a:pPr>
            <a:r>
              <a:t>• Rigorous Grouped Splitting: </a:t>
            </a:r>
          </a:p>
          <a:p>
            <a:pPr>
              <a:defRPr sz="1050">
                <a:solidFill>
                  <a:srgbClr val="CBD5E1"/>
                </a:solidFill>
              </a:defRPr>
            </a:pPr>
            <a:r>
              <a:t>All repeat ICU stays from the same patient are kept in the same partition. Zero patient overlap between training and test sets.</a:t>
            </a:r>
          </a:p>
          <a:p>
            <a:pPr>
              <a:spcBef>
                <a:spcPts val="800"/>
              </a:spcBef>
              <a:defRPr b="1" sz="1100">
                <a:solidFill>
                  <a:srgbClr val="F8FAFC"/>
                </a:solidFill>
              </a:defRPr>
            </a:pPr>
            <a:r>
              <a:t>• Scientific Honesty &amp; Wide CIs: </a:t>
            </a:r>
          </a:p>
          <a:p>
            <a:pPr>
              <a:defRPr sz="1050">
                <a:solidFill>
                  <a:srgbClr val="CBD5E1"/>
                </a:solidFill>
              </a:defRPr>
            </a:pPr>
            <a:r>
              <a:t>Disclose small-sample volatility: report the wide 95% bootstrap confidence interval [0.312, 1.000] and grouped CV results truthfully.</a:t>
            </a:r>
          </a:p>
          <a:p>
            <a:pPr>
              <a:spcBef>
                <a:spcPts val="800"/>
              </a:spcBef>
              <a:defRPr b="1" sz="1100">
                <a:solidFill>
                  <a:srgbClr val="F8FAFC"/>
                </a:solidFill>
              </a:defRPr>
            </a:pPr>
            <a:r>
              <a:t>• Safety-First Enforcement: </a:t>
            </a:r>
          </a:p>
          <a:p>
            <a:pPr>
              <a:defRPr sz="1050">
                <a:solidFill>
                  <a:srgbClr val="CBD5E1"/>
                </a:solidFill>
              </a:defRPr>
            </a:pPr>
            <a:r>
              <a:t>Never claim an in-memory database update is a real network firewall; provide explicit status distinctions between OS iptables and SIMULATION.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05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Proposed Solution: Modular Dual-Pipeline Architecture</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EA5E9"/>
                </a:solidFill>
                <a:latin typeface="Helvetica"/>
              </a:defRPr>
            </a:pPr>
            <a:r>
              <a:t>PIPELINE A: IoMT CYBERSECURITY PLATFORM</a:t>
            </a:r>
          </a:p>
          <a:p>
            <a:pPr>
              <a:spcBef>
                <a:spcPts val="600"/>
              </a:spcBef>
              <a:defRPr b="1" sz="1100">
                <a:solidFill>
                  <a:srgbClr val="F8FAFC"/>
                </a:solidFill>
              </a:defRPr>
            </a:pPr>
            <a:r>
              <a:t>▶ 1. Multi-Protocol Ingest</a:t>
            </a:r>
          </a:p>
          <a:p>
            <a:pPr>
              <a:defRPr sz="1000">
                <a:solidFill>
                  <a:srgbClr val="CBD5E1"/>
                </a:solidFill>
              </a:defRPr>
            </a:pPr>
            <a:r>
              <a:t>Continuous packet feeds (DICOM, MQTT, Modbus) &amp; direct machine signals (TCP 9100, REST, MQTT bridge).</a:t>
            </a:r>
          </a:p>
          <a:p>
            <a:pPr>
              <a:spcBef>
                <a:spcPts val="600"/>
              </a:spcBef>
              <a:defRPr b="1" sz="1100">
                <a:solidFill>
                  <a:srgbClr val="F8FAFC"/>
                </a:solidFill>
              </a:defRPr>
            </a:pPr>
            <a:r>
              <a:t>▶ 2. Feature Extraction</a:t>
            </a:r>
          </a:p>
          <a:p>
            <a:pPr>
              <a:defRPr sz="1000">
                <a:solidFill>
                  <a:srgbClr val="CBD5E1"/>
                </a:solidFill>
              </a:defRPr>
            </a:pPr>
            <a:r>
              <a:t>Computes 9 network telemetry metrics (packet length, byte rate, entropy, SYN flags, Modbus fn code).</a:t>
            </a:r>
          </a:p>
          <a:p>
            <a:pPr>
              <a:spcBef>
                <a:spcPts val="600"/>
              </a:spcBef>
              <a:defRPr b="1" sz="1100">
                <a:solidFill>
                  <a:srgbClr val="F8FAFC"/>
                </a:solidFill>
              </a:defRPr>
            </a:pPr>
            <a:r>
              <a:t>▶ 3. Dual-Stage ML Inference</a:t>
            </a:r>
          </a:p>
          <a:p>
            <a:pPr>
              <a:defRPr sz="1000">
                <a:solidFill>
                  <a:srgbClr val="CBD5E1"/>
                </a:solidFill>
              </a:defRPr>
            </a:pPr>
            <a:r>
              <a:t>Stage 1: Isolation Forest (Zero-Day Anomaly Boundary)</a:t>
            </a:r>
            <a:br/>
            <a:r>
              <a:t>Stage 2: Random Forest (Multi-Class Threat Categorization)</a:t>
            </a:r>
          </a:p>
          <a:p>
            <a:pPr>
              <a:spcBef>
                <a:spcPts val="600"/>
              </a:spcBef>
              <a:defRPr b="1" sz="1100">
                <a:solidFill>
                  <a:srgbClr val="F8FAFC"/>
                </a:solidFill>
              </a:defRPr>
            </a:pPr>
            <a:r>
              <a:t>▶ 4. Incident Correlation</a:t>
            </a:r>
          </a:p>
          <a:p>
            <a:pPr>
              <a:defRPr sz="1000">
                <a:solidFill>
                  <a:srgbClr val="CBD5E1"/>
                </a:solidFill>
              </a:defRPr>
            </a:pPr>
            <a:r>
              <a:t>Rolling 60-second flow aggregator groups repetitive packets into single correlation incidents.</a:t>
            </a:r>
          </a:p>
          <a:p>
            <a:pPr>
              <a:spcBef>
                <a:spcPts val="600"/>
              </a:spcBef>
              <a:defRPr b="1" sz="1100">
                <a:solidFill>
                  <a:srgbClr val="F8FAFC"/>
                </a:solidFill>
              </a:defRPr>
            </a:pPr>
            <a:r>
              <a:t>▶ 5. Decoupled AI Explainability</a:t>
            </a:r>
          </a:p>
          <a:p>
            <a:pPr>
              <a:defRPr sz="1000">
                <a:solidFill>
                  <a:srgbClr val="CBD5E1"/>
                </a:solidFill>
              </a:defRPr>
            </a:pPr>
            <a:r>
              <a:t>Asynchronous background worker calls local Ollama SLM (Llama-3/Phi-3) or Expert Rule Engine for clinical impact &amp; triage steps.</a:t>
            </a:r>
          </a:p>
          <a:p>
            <a:pPr>
              <a:spcBef>
                <a:spcPts val="600"/>
              </a:spcBef>
              <a:defRPr b="1" sz="1100">
                <a:solidFill>
                  <a:srgbClr val="F8FAFC"/>
                </a:solidFill>
              </a:defRPr>
            </a:pPr>
            <a:r>
              <a:t>▶ 6. Dual-Mode Enforcement</a:t>
            </a:r>
          </a:p>
          <a:p>
            <a:pPr>
              <a:defRPr sz="1000">
                <a:solidFill>
                  <a:srgbClr val="CBD5E1"/>
                </a:solidFill>
              </a:defRPr>
            </a:pPr>
            <a:r>
              <a:t>Enforces network quarantine via Linux iptables FORWARD DROP rules or development simulation adapter.</a:t>
            </a:r>
          </a:p>
        </p:txBody>
      </p:sp>
      <p:sp>
        <p:nvSpPr>
          <p:cNvPr id="7" name="Rounded Rectangle 6"/>
          <p:cNvSpPr/>
          <p:nvPr/>
        </p:nvSpPr>
        <p:spPr>
          <a:xfrm>
            <a:off x="6245352"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4B8A6"/>
                </a:solidFill>
                <a:latin typeface="Helvetica"/>
              </a:defRPr>
            </a:pPr>
            <a:r>
              <a:t>PIPELINE B: CLINICAL VITAL-SIGN RESEARCH</a:t>
            </a:r>
          </a:p>
          <a:p>
            <a:pPr>
              <a:spcBef>
                <a:spcPts val="600"/>
              </a:spcBef>
              <a:defRPr b="1" sz="1100">
                <a:solidFill>
                  <a:srgbClr val="F8FAFC"/>
                </a:solidFill>
              </a:defRPr>
            </a:pPr>
            <a:r>
              <a:t>▶ 1. MIMIC-IV Clinical Demo Cohort</a:t>
            </a:r>
          </a:p>
          <a:p>
            <a:pPr>
              <a:defRPr sz="1000">
                <a:solidFill>
                  <a:srgbClr val="CBD5E1"/>
                </a:solidFill>
              </a:defRPr>
            </a:pPr>
            <a:r>
              <a:t>140 ICU stays linked to hospital outcomes; 4 stays with death/discharge &lt;= 24h prospectively excluded (136 eligible stays).</a:t>
            </a:r>
          </a:p>
          <a:p>
            <a:pPr>
              <a:spcBef>
                <a:spcPts val="600"/>
              </a:spcBef>
              <a:defRPr b="1" sz="1100">
                <a:solidFill>
                  <a:srgbClr val="F8FAFC"/>
                </a:solidFill>
              </a:defRPr>
            </a:pPr>
            <a:r>
              <a:t>▶ 2. Prospective 24h Observation</a:t>
            </a:r>
          </a:p>
          <a:p>
            <a:pPr>
              <a:defRPr sz="1000">
                <a:solidFill>
                  <a:srgbClr val="CBD5E1"/>
                </a:solidFill>
              </a:defRPr>
            </a:pPr>
            <a:r>
              <a:t>Strict half-open interval [t_in, t_in + 24h) eliminates edge temporal leakage.</a:t>
            </a:r>
          </a:p>
          <a:p>
            <a:pPr>
              <a:spcBef>
                <a:spcPts val="600"/>
              </a:spcBef>
              <a:defRPr b="1" sz="1100">
                <a:solidFill>
                  <a:srgbClr val="F8FAFC"/>
                </a:solidFill>
              </a:defRPr>
            </a:pPr>
            <a:r>
              <a:t>▶ 3. 69-Feature Engineering</a:t>
            </a:r>
          </a:p>
          <a:p>
            <a:pPr>
              <a:defRPr sz="1000">
                <a:solidFill>
                  <a:srgbClr val="CBD5E1"/>
                </a:solidFill>
              </a:defRPr>
            </a:pPr>
            <a:r>
              <a:t>Extracts 9 summary stats across 7 core vital signs plus 6 overall data quality &amp; observation indicators.</a:t>
            </a:r>
          </a:p>
          <a:p>
            <a:pPr>
              <a:spcBef>
                <a:spcPts val="600"/>
              </a:spcBef>
              <a:defRPr b="1" sz="1100">
                <a:solidFill>
                  <a:srgbClr val="F8FAFC"/>
                </a:solidFill>
              </a:defRPr>
            </a:pPr>
            <a:r>
              <a:t>▶ 4. Preprocessing Isolation</a:t>
            </a:r>
          </a:p>
          <a:p>
            <a:pPr>
              <a:defRPr sz="1000">
                <a:solidFill>
                  <a:srgbClr val="CBD5E1"/>
                </a:solidFill>
              </a:defRPr>
            </a:pPr>
            <a:r>
              <a:t>Median imputer and standard scaler fitted strictly on training folds to eliminate statistics leakage.</a:t>
            </a:r>
          </a:p>
          <a:p>
            <a:pPr>
              <a:spcBef>
                <a:spcPts val="600"/>
              </a:spcBef>
              <a:defRPr b="1" sz="1100">
                <a:solidFill>
                  <a:srgbClr val="F8FAFC"/>
                </a:solidFill>
              </a:defRPr>
            </a:pPr>
            <a:r>
              <a:t>▶ 5. Patient-Grouped Evaluation</a:t>
            </a:r>
          </a:p>
          <a:p>
            <a:pPr>
              <a:defRPr sz="1000">
                <a:solidFill>
                  <a:srgbClr val="CBD5E1"/>
                </a:solidFill>
              </a:defRPr>
            </a:pPr>
            <a:r>
              <a:t>Evaluates L2 Logistic Regression &amp; Random Forest against Dummy Majority-Class Baseline using GroupShuffleSplit.</a:t>
            </a:r>
          </a:p>
          <a:p>
            <a:pPr>
              <a:spcBef>
                <a:spcPts val="600"/>
              </a:spcBef>
              <a:defRPr b="1" sz="1100">
                <a:solidFill>
                  <a:srgbClr val="F8FAFC"/>
                </a:solidFill>
              </a:defRPr>
            </a:pPr>
            <a:r>
              <a:t>▶ 6. Disclaimed Risk Service</a:t>
            </a:r>
          </a:p>
          <a:p>
            <a:pPr>
              <a:defRPr sz="1000">
                <a:solidFill>
                  <a:srgbClr val="CBD5E1"/>
                </a:solidFill>
              </a:defRPr>
            </a:pPr>
            <a:r>
              <a:t>Serves probability scores bounded [0, 1] categorized as LOW, ELEVATED, or HIGH with mandatory academic disclaimers.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06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Comprehensive System Architecture &amp; Layer Integration</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10728655" cy="137160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EA5E9"/>
                </a:solidFill>
                <a:latin typeface="Helvetica"/>
              </a:defRPr>
            </a:pPr>
            <a:r>
              <a:t>TIER 1: PRESENTATION &amp; INTERACTION LAYER (React 18 + TypeScript + Vite + Tailwind CSS)</a:t>
            </a:r>
          </a:p>
          <a:p>
            <a:pPr>
              <a:spcBef>
                <a:spcPts val="400"/>
              </a:spcBef>
              <a:defRPr sz="1050">
                <a:solidFill>
                  <a:srgbClr val="CBD5E1"/>
                </a:solidFill>
              </a:defRPr>
            </a:pPr>
            <a:r>
              <a:t>• Views: Overview Dashboard, Machine Signals Monitor, Patient Vitals &amp; Risk View, Alert Center, Device Manager, ML Analytics, Attack Simulator, Document Reader.</a:t>
            </a:r>
            <a:br/>
            <a:r>
              <a:t>• Modals &amp; Drawers: Deep-Dive AI Explainer Modal, Ambient AI Copilot Drawer (5 contexts: research, incident, device, architecture, telemetry), Security Action Workflow.</a:t>
            </a:r>
            <a:br/>
            <a:r>
              <a:t>• Communication: Real-time telemetry via WebSocket (/ws/telemetry), REST API service layer with full TypeScript typing.</a:t>
            </a:r>
          </a:p>
        </p:txBody>
      </p:sp>
      <p:sp>
        <p:nvSpPr>
          <p:cNvPr id="7" name="Rounded Rectangle 6"/>
          <p:cNvSpPr/>
          <p:nvPr/>
        </p:nvSpPr>
        <p:spPr>
          <a:xfrm>
            <a:off x="731520" y="3017520"/>
            <a:ext cx="10728655" cy="16459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6366F1"/>
                </a:solidFill>
                <a:latin typeface="Helvetica"/>
              </a:defRPr>
            </a:pPr>
            <a:r>
              <a:t>TIER 2: API &amp; APPLICATION LOGIC LAYER (Python 3.11+ / FastAPI / Pydantic / SQLAlchemy)</a:t>
            </a:r>
          </a:p>
          <a:p>
            <a:pPr>
              <a:spcBef>
                <a:spcPts val="400"/>
              </a:spcBef>
              <a:defRPr sz="1050">
                <a:solidFill>
                  <a:srgbClr val="CBD5E1"/>
                </a:solidFill>
              </a:defRPr>
            </a:pPr>
            <a:r>
              <a:t>• Service Decoupling: CanonicalSecurityPipeline, MLEngineService (IsolationForest/RandomForest), AIEnrichmentService (Ollama), PDFService (RAG), PatientMonitoringService.</a:t>
            </a:r>
            <a:br/>
            <a:r>
              <a:t>• Endpoints: /health, /api/v1/devices, /alerts, /detection, /signals, /llm, /documents, /patient-monitoring (validate-vitals, assess-risk, predict, cohort-summary, sample-records).</a:t>
            </a:r>
            <a:br/>
            <a:r>
              <a:t>• Request Validation: Pydantic schemas enforcing physiological bounds, finite numeric checks (rejection of NaN/Inf), and 69-feature schema matching.</a:t>
            </a:r>
          </a:p>
        </p:txBody>
      </p:sp>
      <p:sp>
        <p:nvSpPr>
          <p:cNvPr id="8" name="Rounded Rectangle 7"/>
          <p:cNvSpPr/>
          <p:nvPr/>
        </p:nvSpPr>
        <p:spPr>
          <a:xfrm>
            <a:off x="731520" y="4846320"/>
            <a:ext cx="10728655" cy="146304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4B8A6"/>
                </a:solidFill>
                <a:latin typeface="Helvetica"/>
              </a:defRPr>
            </a:pPr>
            <a:r>
              <a:t>TIER 3: DATA, MODEL &amp; ENFORCEMENT LAYER (SQLite / Scikit-Learn / Ollama SLM / Host Firewall)</a:t>
            </a:r>
          </a:p>
          <a:p>
            <a:pPr>
              <a:spcBef>
                <a:spcPts val="400"/>
              </a:spcBef>
              <a:defRPr sz="1050">
                <a:solidFill>
                  <a:srgbClr val="CBD5E1"/>
                </a:solidFill>
              </a:defRPr>
            </a:pPr>
            <a:r>
              <a:t>• Model Binaries: baseline_model.joblib (L2 Logistic Regression), classifier.joblib (100-tree Random Forest), isolation_forest.joblib, scaler.joblib.</a:t>
            </a:r>
            <a:br/>
            <a:r>
              <a:t>• Storage: SQLite (edgeshield.db: devices, alerts, packet logs, machine signals, safety interlocks, audit logs) + MIMIC-IV Demo 2.2 parquet/csv data.</a:t>
            </a:r>
            <a:br/>
            <a:r>
              <a:t>• Enforcement Adapters: HostFirewallAdapter (Linux iptables FORWARD DROP) and SimulationEnforcementAdapter (macOS/Windows dev fallback).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07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Cybersecurity Module: Telemetry Ingestion &amp; Device Inventory</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0EA5E9"/>
                </a:solidFill>
                <a:latin typeface="Helvetica"/>
              </a:defRPr>
            </a:pPr>
            <a:r>
              <a:t>📋 Smart Hospital Medical Device Inventory</a:t>
            </a:r>
          </a:p>
          <a:p>
            <a:pPr>
              <a:spcBef>
                <a:spcPts val="600"/>
              </a:spcBef>
              <a:defRPr b="1" sz="1100">
                <a:solidFill>
                  <a:srgbClr val="F8FAFC"/>
                </a:solidFill>
              </a:defRPr>
            </a:pPr>
            <a:r>
              <a:t>• DEV-ICU-101: ICU Telemetry Station A</a:t>
            </a:r>
          </a:p>
          <a:p>
            <a:pPr>
              <a:defRPr sz="950">
                <a:solidFill>
                  <a:srgbClr val="CBD5E1"/>
                </a:solidFill>
              </a:defRPr>
            </a:pPr>
            <a:r>
              <a:t>   IP: 192.168.10.101 | Protocol: Modbus/TCP | Status: Risk: 12.0 (Active)</a:t>
            </a:r>
          </a:p>
          <a:p>
            <a:pPr>
              <a:spcBef>
                <a:spcPts val="600"/>
              </a:spcBef>
              <a:defRPr b="1" sz="1100">
                <a:solidFill>
                  <a:srgbClr val="F8FAFC"/>
                </a:solidFill>
              </a:defRPr>
            </a:pPr>
            <a:r>
              <a:t>• DEV-PUMP-204: Alaris Infusion Pump #4</a:t>
            </a:r>
          </a:p>
          <a:p>
            <a:pPr>
              <a:defRPr sz="950">
                <a:solidFill>
                  <a:srgbClr val="CBD5E1"/>
                </a:solidFill>
              </a:defRPr>
            </a:pPr>
            <a:r>
              <a:t>   IP: 192.168.10.102 | Protocol: MQTT | Status: Risk: 68.5 (Warning)</a:t>
            </a:r>
          </a:p>
          <a:p>
            <a:pPr>
              <a:spcBef>
                <a:spcPts val="600"/>
              </a:spcBef>
              <a:defRPr b="1" sz="1100">
                <a:solidFill>
                  <a:srgbClr val="F8FAFC"/>
                </a:solidFill>
              </a:defRPr>
            </a:pPr>
            <a:r>
              <a:t>• DEV-VENT-301: Puritan Bennett Ventilator</a:t>
            </a:r>
          </a:p>
          <a:p>
            <a:pPr>
              <a:defRPr sz="950">
                <a:solidFill>
                  <a:srgbClr val="CBD5E1"/>
                </a:solidFill>
              </a:defRPr>
            </a:pPr>
            <a:r>
              <a:t>   IP: 192.168.10.103 | Protocol: Modbus | Status: Risk: 5.0 (Active)</a:t>
            </a:r>
          </a:p>
          <a:p>
            <a:pPr>
              <a:spcBef>
                <a:spcPts val="600"/>
              </a:spcBef>
              <a:defRPr b="1" sz="1100">
                <a:solidFill>
                  <a:srgbClr val="F8FAFC"/>
                </a:solidFill>
              </a:defRPr>
            </a:pPr>
            <a:r>
              <a:t>• DEV-RAD-405: Siemens DICOM Workstation</a:t>
            </a:r>
          </a:p>
          <a:p>
            <a:pPr>
              <a:defRPr sz="950">
                <a:solidFill>
                  <a:srgbClr val="CBD5E1"/>
                </a:solidFill>
              </a:defRPr>
            </a:pPr>
            <a:r>
              <a:t>   IP: 192.168.10.104 | Protocol: DICOM | Status: Risk: 94.0 (Critical)</a:t>
            </a:r>
          </a:p>
          <a:p>
            <a:pPr>
              <a:spcBef>
                <a:spcPts val="600"/>
              </a:spcBef>
              <a:defRPr b="1" sz="1100">
                <a:solidFill>
                  <a:srgbClr val="F8FAFC"/>
                </a:solidFill>
              </a:defRPr>
            </a:pPr>
            <a:r>
              <a:t>• DEV-SYRINGE-12: Baxter Smart Syringe Driver</a:t>
            </a:r>
          </a:p>
          <a:p>
            <a:pPr>
              <a:defRPr sz="950">
                <a:solidFill>
                  <a:srgbClr val="CBD5E1"/>
                </a:solidFill>
              </a:defRPr>
            </a:pPr>
            <a:r>
              <a:t>   IP: 192.168.10.105 | Protocol: MQTT | Status: Risk: 18.0 (Active)</a:t>
            </a:r>
          </a:p>
          <a:p>
            <a:br/>
            <a:pPr>
              <a:defRPr sz="1000">
                <a:solidFill>
                  <a:srgbClr val="94A3B8"/>
                </a:solidFill>
              </a:defRPr>
            </a:pPr>
            <a:r>
              <a:t>Database Tracking: Stores MAC addresses, firmware versions, hospital locations, and real-time risk scores updated dynamically based on telemetry.</a:t>
            </a:r>
          </a:p>
        </p:txBody>
      </p:sp>
      <p:sp>
        <p:nvSpPr>
          <p:cNvPr id="7" name="Rounded Rectangle 6"/>
          <p:cNvSpPr/>
          <p:nvPr/>
        </p:nvSpPr>
        <p:spPr>
          <a:xfrm>
            <a:off x="6245352"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4B8A6"/>
                </a:solidFill>
                <a:latin typeface="Helvetica"/>
              </a:defRPr>
            </a:pPr>
            <a:r>
              <a:t>🔌 Ingestion Interfaces &amp; Flow Correlation</a:t>
            </a:r>
          </a:p>
          <a:p>
            <a:pPr>
              <a:spcBef>
                <a:spcPts val="600"/>
              </a:spcBef>
              <a:defRPr b="1" sz="1100">
                <a:solidFill>
                  <a:srgbClr val="F8FAFC"/>
                </a:solidFill>
              </a:defRPr>
            </a:pPr>
            <a:r>
              <a:t>▶ Bedside REST Ingest</a:t>
            </a:r>
          </a:p>
          <a:p>
            <a:pPr>
              <a:defRPr sz="950">
                <a:solidFill>
                  <a:srgbClr val="CBD5E1"/>
                </a:solidFill>
              </a:defRPr>
            </a:pPr>
            <a:r>
              <a:t>POST /api/v1/signals/ingest — High-throughput JSON collector for bedside micro-gateways (Raspberry Pi, industrial gateways).</a:t>
            </a:r>
          </a:p>
          <a:p>
            <a:pPr>
              <a:spcBef>
                <a:spcPts val="600"/>
              </a:spcBef>
              <a:defRPr b="1" sz="1100">
                <a:solidFill>
                  <a:srgbClr val="F8FAFC"/>
                </a:solidFill>
              </a:defRPr>
            </a:pPr>
            <a:r>
              <a:t>▶ Medical Machine TCP Socket</a:t>
            </a:r>
          </a:p>
          <a:p>
            <a:pPr>
              <a:defRPr sz="950">
                <a:solidFill>
                  <a:srgbClr val="CBD5E1"/>
                </a:solidFill>
              </a:defRPr>
            </a:pPr>
            <a:r>
              <a:t>tcp://0.0.0.0:9100 — Direct raw TCP stream listener accepting continuous hospital device byte streams.</a:t>
            </a:r>
          </a:p>
          <a:p>
            <a:pPr>
              <a:spcBef>
                <a:spcPts val="600"/>
              </a:spcBef>
              <a:defRPr b="1" sz="1100">
                <a:solidFill>
                  <a:srgbClr val="F8FAFC"/>
                </a:solidFill>
              </a:defRPr>
            </a:pPr>
            <a:r>
              <a:t>▶ Hospital MQTT Telemetry Bridge</a:t>
            </a:r>
          </a:p>
          <a:p>
            <a:pPr>
              <a:defRPr sz="950">
                <a:solidFill>
                  <a:srgbClr val="CBD5E1"/>
                </a:solidFill>
              </a:defRPr>
            </a:pPr>
            <a:r>
              <a:t>Subscribes to hospital-broker.lan:1883/devices/+/telemetry for continuous vital and infusion telemetry.</a:t>
            </a:r>
          </a:p>
          <a:p>
            <a:pPr>
              <a:spcBef>
                <a:spcPts val="600"/>
              </a:spcBef>
              <a:defRPr b="1" sz="1100">
                <a:solidFill>
                  <a:srgbClr val="F8FAFC"/>
                </a:solidFill>
              </a:defRPr>
            </a:pPr>
            <a:r>
              <a:t>▶ Incident Flow Correlator</a:t>
            </a:r>
          </a:p>
          <a:p>
            <a:pPr>
              <a:defRPr sz="950">
                <a:solidFill>
                  <a:srgbClr val="CBD5E1"/>
                </a:solidFill>
              </a:defRPr>
            </a:pPr>
            <a:r>
              <a:t>IncidentCorrelator groups repetitive packets within a rolling 60-second window by (src_ip, dst_ip, threat_type, protocol, device_id), preventing notification floods.</a:t>
            </a:r>
          </a:p>
          <a:p>
            <a:pPr>
              <a:spcBef>
                <a:spcPts val="600"/>
              </a:spcBef>
              <a:defRPr b="1" sz="1100">
                <a:solidFill>
                  <a:srgbClr val="F8FAFC"/>
                </a:solidFill>
              </a:defRPr>
            </a:pPr>
            <a:r>
              <a:t>▶ PipelineMetricsCollector</a:t>
            </a:r>
          </a:p>
          <a:p>
            <a:pPr>
              <a:defRPr sz="950">
                <a:solidFill>
                  <a:srgbClr val="CBD5E1"/>
                </a:solidFill>
              </a:defRPr>
            </a:pPr>
            <a:r>
              <a:t>In-memory rolling metrics window (200 events) tracks average detection latency (verified &lt; 1.0 ms) and AI latency.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08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Cyber-Physical Threat Detection &amp; Machine Signal Invariants</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EA5E9"/>
                </a:solidFill>
                <a:latin typeface="Helvetica"/>
              </a:defRPr>
            </a:pPr>
            <a:r>
              <a:t>⚡ 9-Feature Vector &amp; Dual-Stage Detection</a:t>
            </a:r>
          </a:p>
          <a:p>
            <a:pPr>
              <a:spcBef>
                <a:spcPts val="400"/>
              </a:spcBef>
              <a:defRPr sz="950">
                <a:solidFill>
                  <a:srgbClr val="CBD5E1"/>
                </a:solidFill>
              </a:defRPr>
            </a:pPr>
            <a:r>
              <a:t>Extracted Telemetry Features (9): packet_length (bytes), flow_duration (seconds), header_length (bytes), byte_rate (bytes/sec), packet_rate (pkts/sec), tcp_syn_flag (0 or 1), mqtt_msg_rate (msgs/sec), modbus_fn_code (fn code ID), entropy (payload 0-8)</a:t>
            </a:r>
          </a:p>
          <a:p>
            <a:pPr>
              <a:spcBef>
                <a:spcPts val="400"/>
              </a:spcBef>
              <a:defRPr b="1" sz="1000">
                <a:solidFill>
                  <a:srgbClr val="10B981"/>
                </a:solidFill>
              </a:defRPr>
            </a:pPr>
            <a:r>
              <a:t>• Normal: </a:t>
            </a:r>
          </a:p>
          <a:p>
            <a:pPr>
              <a:defRPr sz="950">
                <a:solidFill>
                  <a:srgbClr val="CBD5E1"/>
                </a:solidFill>
              </a:defRPr>
            </a:pPr>
            <a:r>
              <a:t>Baseline medical traffic (flow 0.1-5s, modest rates, read fn codes).</a:t>
            </a:r>
          </a:p>
          <a:p>
            <a:pPr>
              <a:spcBef>
                <a:spcPts val="400"/>
              </a:spcBef>
              <a:defRPr b="1" sz="1000">
                <a:solidFill>
                  <a:srgbClr val="EF4444"/>
                </a:solidFill>
              </a:defRPr>
            </a:pPr>
            <a:r>
              <a:t>• DICOM Ransomware: </a:t>
            </a:r>
          </a:p>
          <a:p>
            <a:pPr>
              <a:defRPr sz="950">
                <a:solidFill>
                  <a:srgbClr val="CBD5E1"/>
                </a:solidFill>
              </a:defRPr>
            </a:pPr>
            <a:r>
              <a:t>Burst payloads, high encryption entropy (&gt;7.5), large packet size (&gt;1300B) targeting PACS radiology archives.</a:t>
            </a:r>
          </a:p>
          <a:p>
            <a:pPr>
              <a:spcBef>
                <a:spcPts val="400"/>
              </a:spcBef>
              <a:defRPr b="1" sz="1000">
                <a:solidFill>
                  <a:srgbClr val="EF4444"/>
                </a:solidFill>
              </a:defRPr>
            </a:pPr>
            <a:r>
              <a:t>• MQTT Flood DoS: </a:t>
            </a:r>
          </a:p>
          <a:p>
            <a:pPr>
              <a:defRPr sz="950">
                <a:solidFill>
                  <a:srgbClr val="CBD5E1"/>
                </a:solidFill>
              </a:defRPr>
            </a:pPr>
            <a:r>
              <a:t>Massive message rate (&gt;300 msgs/s) starving infusion pump telemetry brokers.</a:t>
            </a:r>
          </a:p>
          <a:p>
            <a:pPr>
              <a:spcBef>
                <a:spcPts val="400"/>
              </a:spcBef>
              <a:defRPr b="1" sz="1000">
                <a:solidFill>
                  <a:srgbClr val="EF4444"/>
                </a:solidFill>
              </a:defRPr>
            </a:pPr>
            <a:r>
              <a:t>• Modbus Command Injection: </a:t>
            </a:r>
          </a:p>
          <a:p>
            <a:pPr>
              <a:defRPr sz="950">
                <a:solidFill>
                  <a:srgbClr val="CBD5E1"/>
                </a:solidFill>
              </a:defRPr>
            </a:pPr>
            <a:r>
              <a:t>Unauthorized write commands (Fn Codes 5, 6, 15, 16) targeting ventilators.</a:t>
            </a:r>
          </a:p>
          <a:p>
            <a:pPr>
              <a:spcBef>
                <a:spcPts val="400"/>
              </a:spcBef>
              <a:defRPr b="1" sz="1000">
                <a:solidFill>
                  <a:srgbClr val="EF4444"/>
                </a:solidFill>
              </a:defRPr>
            </a:pPr>
            <a:r>
              <a:t>• ARP Spoofing MITM: </a:t>
            </a:r>
          </a:p>
          <a:p>
            <a:pPr>
              <a:defRPr sz="950">
                <a:solidFill>
                  <a:srgbClr val="CBD5E1"/>
                </a:solidFill>
              </a:defRPr>
            </a:pPr>
            <a:r>
              <a:t>High packet rate with small packet lengths (&lt;80B) intercepting patient vitals.</a:t>
            </a:r>
          </a:p>
          <a:p>
            <a:pPr>
              <a:spcBef>
                <a:spcPts val="400"/>
              </a:spcBef>
              <a:defRPr b="1" sz="1000">
                <a:solidFill>
                  <a:srgbClr val="EF4444"/>
                </a:solidFill>
              </a:defRPr>
            </a:pPr>
            <a:r>
              <a:t>• Port Scan Reconnaissance: </a:t>
            </a:r>
          </a:p>
          <a:p>
            <a:pPr>
              <a:defRPr sz="950">
                <a:solidFill>
                  <a:srgbClr val="CBD5E1"/>
                </a:solidFill>
              </a:defRPr>
            </a:pPr>
            <a:r>
              <a:t>High TCP SYN flag rate with tiny packets searching for exposed medical ports.</a:t>
            </a:r>
          </a:p>
        </p:txBody>
      </p:sp>
      <p:sp>
        <p:nvSpPr>
          <p:cNvPr id="7" name="Rounded Rectangle 6"/>
          <p:cNvSpPr/>
          <p:nvPr/>
        </p:nvSpPr>
        <p:spPr>
          <a:xfrm>
            <a:off x="6245352"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4B8A6"/>
                </a:solidFill>
                <a:latin typeface="Helvetica"/>
              </a:defRPr>
            </a:pPr>
            <a:r>
              <a:t>🩺 Cyber-Physical Invariants &amp; Anti-Replay</a:t>
            </a:r>
          </a:p>
          <a:p>
            <a:pPr>
              <a:spcBef>
                <a:spcPts val="600"/>
              </a:spcBef>
              <a:defRPr b="1" sz="1050">
                <a:solidFill>
                  <a:srgbClr val="F8FAFC"/>
                </a:solidFill>
              </a:defRPr>
            </a:pPr>
            <a:r>
              <a:t>▶ Anti-Replay &amp; Sequence Enforcement</a:t>
            </a:r>
          </a:p>
          <a:p>
            <a:pPr>
              <a:defRPr sz="950">
                <a:solidFill>
                  <a:srgbClr val="CBD5E1"/>
                </a:solidFill>
              </a:defRPr>
            </a:pPr>
            <a:r>
              <a:t>Tracks monotonic sequence counters and timestamp freshness per device; rejects stale, replayed, or out-of-order packets attempting to forge vital-sign trends.</a:t>
            </a:r>
          </a:p>
          <a:p>
            <a:pPr>
              <a:spcBef>
                <a:spcPts val="600"/>
              </a:spcBef>
              <a:defRPr b="1" sz="1050">
                <a:solidFill>
                  <a:srgbClr val="F8FAFC"/>
                </a:solidFill>
              </a:defRPr>
            </a:pPr>
            <a:r>
              <a:t>▶ Bolus Overdose Protection</a:t>
            </a:r>
          </a:p>
          <a:p>
            <a:pPr>
              <a:defRPr sz="950">
                <a:solidFill>
                  <a:srgbClr val="CBD5E1"/>
                </a:solidFill>
              </a:defRPr>
            </a:pPr>
            <a:r>
              <a:t>Monitors infusion pump flow rate invariants (e.g., maximum safe infusion rate 999 mL/h). Flags sudden anomalous multiplier jumps as cyber-tampering.</a:t>
            </a:r>
          </a:p>
          <a:p>
            <a:pPr>
              <a:spcBef>
                <a:spcPts val="600"/>
              </a:spcBef>
              <a:defRPr b="1" sz="1050">
                <a:solidFill>
                  <a:srgbClr val="F8FAFC"/>
                </a:solidFill>
              </a:defRPr>
            </a:pPr>
            <a:r>
              <a:t>▶ Barotrauma Ventilator Hijack Defense</a:t>
            </a:r>
          </a:p>
          <a:p>
            <a:pPr>
              <a:defRPr sz="950">
                <a:solidFill>
                  <a:srgbClr val="CBD5E1"/>
                </a:solidFill>
              </a:defRPr>
            </a:pPr>
            <a:r>
              <a:t>Inspects ventilator peak inspiratory pressure (PIP). Flags attempts to force high pressure (&gt;40 cmH2O) that would cause patient lung barotrauma.</a:t>
            </a:r>
          </a:p>
          <a:p>
            <a:pPr>
              <a:spcBef>
                <a:spcPts val="600"/>
              </a:spcBef>
              <a:defRPr b="1" sz="1050">
                <a:solidFill>
                  <a:srgbClr val="F8FAFC"/>
                </a:solidFill>
              </a:defRPr>
            </a:pPr>
            <a:r>
              <a:t>▶ Sensor Value Spoofing Defense</a:t>
            </a:r>
          </a:p>
          <a:p>
            <a:pPr>
              <a:defRPr sz="950">
                <a:solidFill>
                  <a:srgbClr val="CBD5E1"/>
                </a:solidFill>
              </a:defRPr>
            </a:pPr>
            <a:r>
              <a:t>Cross-validates physiological trends against physical bounds; detects artificial square-wave sensor injection attacks.</a:t>
            </a:r>
          </a:p>
          <a:p>
            <a:pPr>
              <a:spcBef>
                <a:spcPts val="600"/>
              </a:spcBef>
              <a:defRPr b="1" sz="1050">
                <a:solidFill>
                  <a:srgbClr val="F8FAFC"/>
                </a:solidFill>
              </a:defRPr>
            </a:pPr>
            <a:r>
              <a:t>▶ Verified Implementation</a:t>
            </a:r>
          </a:p>
          <a:p>
            <a:pPr>
              <a:defRPr sz="950">
                <a:solidFill>
                  <a:srgbClr val="CBD5E1"/>
                </a:solidFill>
              </a:defRPr>
            </a:pPr>
            <a:r>
              <a:t>Engineered in MachineSignalCybersecurityEngine with active state tracking per connected medical device 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09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Explainable AI &amp; Privacy-Preserving Local SLM Architecture</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10728655" cy="192024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0EA5E9"/>
                </a:solidFill>
                <a:latin typeface="Helvetica"/>
              </a:defRPr>
            </a:pPr>
            <a:r>
              <a:t>DECOUPLED ASYNCHRONOUS EXPLAINABILITY WORKFLOW</a:t>
            </a:r>
          </a:p>
          <a:p>
            <a:br/>
            <a:pPr>
              <a:spcBef>
                <a:spcPts val="400"/>
              </a:spcBef>
              <a:defRPr sz="950">
                <a:solidFill>
                  <a:srgbClr val="CBD5E1"/>
                </a:solidFill>
                <a:latin typeface="Courier New"/>
              </a:defRPr>
            </a:pPr>
            <a:r>
              <a:t>    Network Packet Ingest ──► ML Engine (&lt; 1ms) ──► Alert Stored (Status: PENDING) ──► Stream to UI via WebSocket</a:t>
            </a:r>
            <a:br/>
            <a:r>
              <a:t>                                     │</a:t>
            </a:r>
            <a:br/>
            <a:r>
              <a:t>                                     ▼ (Dispatched Asynchronously in Background)</a:t>
            </a:r>
            <a:br/>
            <a:r>
              <a:t>    AIEnrichmentService Worker ──► Ollama Local Daemon (Llama-3 / Phi-3) ──► Generates Clinical Explanation &amp; Playbook</a:t>
            </a:r>
            <a:br/>
            <a:r>
              <a:t>                                     │ (Fallback if Offline: Deterministic Rule Engine)</a:t>
            </a:r>
            <a:br/>
            <a:r>
              <a:t>                                     ▼</a:t>
            </a:r>
            <a:br/>
            <a:r>
              <a:t>    Database Alert Record Updated (Status: COMPLETED / UNAVAILABLE) ──► Broadcast Enrichment via WebSocket</a:t>
            </a:r>
            <a:br/>
            <a:r>
              <a:t>    </a:t>
            </a:r>
          </a:p>
        </p:txBody>
      </p:sp>
      <p:sp>
        <p:nvSpPr>
          <p:cNvPr id="7" name="Rounded Rectangle 6"/>
          <p:cNvSpPr/>
          <p:nvPr/>
        </p:nvSpPr>
        <p:spPr>
          <a:xfrm>
            <a:off x="731520" y="3566160"/>
            <a:ext cx="3337560" cy="274320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Helvetica"/>
              </a:defRPr>
            </a:pPr>
            <a:r>
              <a:t>🔒 Privacy-Preserving SLMs</a:t>
            </a:r>
          </a:p>
          <a:p>
            <a:pPr>
              <a:spcBef>
                <a:spcPts val="400"/>
              </a:spcBef>
              <a:defRPr sz="950">
                <a:solidFill>
                  <a:srgbClr val="CBD5E1"/>
                </a:solidFill>
              </a:defRPr>
            </a:pPr>
            <a:r>
              <a:t>• Runs Small Language Models (Ollama Llama-3 8B / Phi-3) completely offline on edge hardware.</a:t>
            </a:r>
          </a:p>
          <a:p>
            <a:pPr>
              <a:spcBef>
                <a:spcPts val="400"/>
              </a:spcBef>
              <a:defRPr sz="950">
                <a:solidFill>
                  <a:srgbClr val="CBD5E1"/>
                </a:solidFill>
              </a:defRPr>
            </a:pPr>
            <a:r>
              <a:t>• Zero Cloud Egress: Protects protected health information (PHI) and network topology maps.</a:t>
            </a:r>
          </a:p>
          <a:p>
            <a:pPr>
              <a:spcBef>
                <a:spcPts val="400"/>
              </a:spcBef>
              <a:defRPr sz="950">
                <a:solidFill>
                  <a:srgbClr val="CBD5E1"/>
                </a:solidFill>
              </a:defRPr>
            </a:pPr>
            <a:r>
              <a:t>• Full compliance with HIPAA Security Rule, HITECH, and EU GDPR requirements.</a:t>
            </a:r>
          </a:p>
        </p:txBody>
      </p:sp>
      <p:sp>
        <p:nvSpPr>
          <p:cNvPr id="8" name="Rounded Rectangle 7"/>
          <p:cNvSpPr/>
          <p:nvPr/>
        </p:nvSpPr>
        <p:spPr>
          <a:xfrm>
            <a:off x="4425696" y="3566160"/>
            <a:ext cx="3337560" cy="274320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8FAFC"/>
                </a:solidFill>
                <a:latin typeface="Helvetica"/>
              </a:defRPr>
            </a:pPr>
            <a:r>
              <a:t>📋 Structured Clinical Output</a:t>
            </a:r>
          </a:p>
          <a:p>
            <a:pPr>
              <a:spcBef>
                <a:spcPts val="400"/>
              </a:spcBef>
              <a:defRPr sz="950">
                <a:solidFill>
                  <a:srgbClr val="CBD5E1"/>
                </a:solidFill>
              </a:defRPr>
            </a:pPr>
            <a:r>
              <a:t>• Clinical Explanation: Translates telemetry (e.g., 'entropy 7.8 on port 104') into plain English medical context.</a:t>
            </a:r>
          </a:p>
          <a:p>
            <a:pPr>
              <a:spcBef>
                <a:spcPts val="400"/>
              </a:spcBef>
              <a:defRPr sz="950">
                <a:solidFill>
                  <a:srgbClr val="CBD5E1"/>
                </a:solidFill>
              </a:defRPr>
            </a:pPr>
            <a:r>
              <a:t>• Operational Impact: Evaluates consequence (e.g., 'emergency surgery delayed due to locked CT scans').</a:t>
            </a:r>
          </a:p>
          <a:p>
            <a:pPr>
              <a:spcBef>
                <a:spcPts val="400"/>
              </a:spcBef>
              <a:defRPr sz="950">
                <a:solidFill>
                  <a:srgbClr val="CBD5E1"/>
                </a:solidFill>
              </a:defRPr>
            </a:pPr>
            <a:r>
              <a:t>• Actionable Mitigation: Delivers step-by-step containment instructions for biomedical engineers.</a:t>
            </a:r>
          </a:p>
        </p:txBody>
      </p:sp>
      <p:sp>
        <p:nvSpPr>
          <p:cNvPr id="9" name="Rounded Rectangle 8"/>
          <p:cNvSpPr/>
          <p:nvPr/>
        </p:nvSpPr>
        <p:spPr>
          <a:xfrm>
            <a:off x="8119872" y="3566160"/>
            <a:ext cx="3337560" cy="274320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latin typeface="Helvetica"/>
              </a:defRPr>
            </a:pPr>
            <a:r>
              <a:t>⚖️ Strict Generative Boundary</a:t>
            </a:r>
          </a:p>
          <a:p>
            <a:pPr>
              <a:spcBef>
                <a:spcPts val="400"/>
              </a:spcBef>
              <a:defRPr sz="950">
                <a:solidFill>
                  <a:srgbClr val="CBD5E1"/>
                </a:solidFill>
              </a:defRPr>
            </a:pPr>
            <a:r>
              <a:t>• GenAI NEVER makes classification decisions or triggers network blocking actions.</a:t>
            </a:r>
          </a:p>
          <a:p>
            <a:pPr>
              <a:spcBef>
                <a:spcPts val="400"/>
              </a:spcBef>
              <a:defRPr sz="950">
                <a:solidFill>
                  <a:srgbClr val="CBD5E1"/>
                </a:solidFill>
              </a:defRPr>
            </a:pPr>
            <a:r>
              <a:t>• Detection is 100% deterministic via the ML engine; GenAI functions strictly as an advisory analyst.</a:t>
            </a:r>
          </a:p>
          <a:p>
            <a:pPr>
              <a:spcBef>
                <a:spcPts val="400"/>
              </a:spcBef>
              <a:defRPr sz="950">
                <a:solidFill>
                  <a:srgbClr val="CBD5E1"/>
                </a:solidFill>
              </a:defRPr>
            </a:pPr>
            <a:r>
              <a:t>• Truthful Status Tracking: Alerts reflect COMPLETED (Ollama online), UNAVAILABLE (offline fallback), or FAILED.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10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Security Enforcement: Linux iptables vs. Development Simulation</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latin typeface="Helvetica"/>
              </a:defRPr>
            </a:pPr>
            <a:r>
              <a:t>🐧 Linux Host Firewall Enforcement (Production)</a:t>
            </a:r>
          </a:p>
          <a:p>
            <a:pPr>
              <a:spcBef>
                <a:spcPts val="600"/>
              </a:spcBef>
              <a:defRPr b="1" sz="1050">
                <a:solidFill>
                  <a:srgbClr val="F8FAFC"/>
                </a:solidFill>
              </a:defRPr>
            </a:pPr>
            <a:r>
              <a:t>• Architecture: </a:t>
            </a:r>
          </a:p>
          <a:p>
            <a:pPr>
              <a:defRPr sz="950">
                <a:solidFill>
                  <a:srgbClr val="CBD5E1"/>
                </a:solidFill>
              </a:defRPr>
            </a:pPr>
            <a:r>
              <a:t>Implemented via HostFirewallAdapter in firewall_service.py.</a:t>
            </a:r>
          </a:p>
          <a:p>
            <a:pPr>
              <a:spcBef>
                <a:spcPts val="600"/>
              </a:spcBef>
              <a:defRPr b="1" sz="1050">
                <a:solidFill>
                  <a:srgbClr val="F8FAFC"/>
                </a:solidFill>
              </a:defRPr>
            </a:pPr>
            <a:r>
              <a:t>• Kernel-Level Quarantine: </a:t>
            </a:r>
          </a:p>
          <a:p>
            <a:pPr>
              <a:defRPr sz="950">
                <a:solidFill>
                  <a:srgbClr val="CBD5E1"/>
                </a:solidFill>
              </a:defRPr>
            </a:pPr>
            <a:r>
              <a:t>Injects deterministic DROP rules directly into Linux iptables/nftables FORWARD chain to block compromised medical IoT traffic.</a:t>
            </a:r>
          </a:p>
          <a:p>
            <a:pPr>
              <a:spcBef>
                <a:spcPts val="600"/>
              </a:spcBef>
              <a:defRPr b="1" sz="1050">
                <a:solidFill>
                  <a:srgbClr val="F8FAFC"/>
                </a:solidFill>
              </a:defRPr>
            </a:pPr>
            <a:r>
              <a:t>• Command Injection Prevention: </a:t>
            </a:r>
          </a:p>
          <a:p>
            <a:pPr>
              <a:defRPr sz="950">
                <a:solidFill>
                  <a:srgbClr val="CBD5E1"/>
                </a:solidFill>
              </a:defRPr>
            </a:pPr>
            <a:r>
              <a:t>Strictly parses and sanitizes IP addresses using Python's ipaddress module before command generation.</a:t>
            </a:r>
          </a:p>
          <a:p>
            <a:pPr>
              <a:spcBef>
                <a:spcPts val="600"/>
              </a:spcBef>
              <a:defRPr b="1" sz="1050">
                <a:solidFill>
                  <a:srgbClr val="F8FAFC"/>
                </a:solidFill>
              </a:defRPr>
            </a:pPr>
            <a:r>
              <a:t>• Idempotency Verification: </a:t>
            </a:r>
          </a:p>
          <a:p>
            <a:pPr>
              <a:defRPr sz="950">
                <a:solidFill>
                  <a:srgbClr val="CBD5E1"/>
                </a:solidFill>
              </a:defRPr>
            </a:pPr>
            <a:r>
              <a:t>Executes iptables -C FORWARD before rule insertion to verify whether the rule already exists, preventing duplicate rule accumulation.</a:t>
            </a:r>
          </a:p>
          <a:p>
            <a:pPr>
              <a:spcBef>
                <a:spcPts val="600"/>
              </a:spcBef>
              <a:defRPr b="1" sz="1050">
                <a:solidFill>
                  <a:srgbClr val="F8FAFC"/>
                </a:solidFill>
              </a:defRPr>
            </a:pPr>
            <a:r>
              <a:t>• Traceable Comment Tags: </a:t>
            </a:r>
          </a:p>
          <a:p>
            <a:pPr>
              <a:defRPr sz="950">
                <a:solidFill>
                  <a:srgbClr val="CBD5E1"/>
                </a:solidFill>
              </a:defRPr>
            </a:pPr>
            <a:r>
              <a:t>Tags rules with unique comments: -m comment --comment edgeshield-isolated-&lt;device_id&gt; for deterministic removal.</a:t>
            </a:r>
          </a:p>
          <a:p>
            <a:pPr>
              <a:spcBef>
                <a:spcPts val="600"/>
              </a:spcBef>
              <a:defRPr b="1" sz="1050">
                <a:solidFill>
                  <a:srgbClr val="F8FAFC"/>
                </a:solidFill>
              </a:defRPr>
            </a:pPr>
            <a:r>
              <a:t>• Post-Condition Verification: </a:t>
            </a:r>
          </a:p>
          <a:p>
            <a:pPr>
              <a:defRPr sz="950">
                <a:solidFill>
                  <a:srgbClr val="CBD5E1"/>
                </a:solidFill>
              </a:defRPr>
            </a:pPr>
            <a:r>
              <a:t>Executes automated post-insertion check; returns FAILED if rule is not actively verified in kernel state.</a:t>
            </a:r>
          </a:p>
        </p:txBody>
      </p:sp>
      <p:sp>
        <p:nvSpPr>
          <p:cNvPr id="7" name="Rounded Rectangle 6"/>
          <p:cNvSpPr/>
          <p:nvPr/>
        </p:nvSpPr>
        <p:spPr>
          <a:xfrm>
            <a:off x="6245352"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latin typeface="Helvetica"/>
              </a:defRPr>
            </a:pPr>
            <a:r>
              <a:t>💻 Development Simulation &amp; Safety Interlocks</a:t>
            </a:r>
          </a:p>
          <a:p>
            <a:pPr>
              <a:spcBef>
                <a:spcPts val="600"/>
              </a:spcBef>
              <a:defRPr b="1" sz="1050">
                <a:solidFill>
                  <a:srgbClr val="F8FAFC"/>
                </a:solidFill>
              </a:defRPr>
            </a:pPr>
            <a:r>
              <a:t>• SimulationEnforcementAdapter: </a:t>
            </a:r>
          </a:p>
          <a:p>
            <a:pPr>
              <a:defRPr sz="950">
                <a:solidFill>
                  <a:srgbClr val="CBD5E1"/>
                </a:solidFill>
              </a:defRPr>
            </a:pPr>
            <a:r>
              <a:t>Default mode in development (macOS, Windows, testing). Transparently manages isolated device set in memory without altering OS networking.</a:t>
            </a:r>
          </a:p>
          <a:p>
            <a:pPr>
              <a:spcBef>
                <a:spcPts val="600"/>
              </a:spcBef>
              <a:defRPr b="1" sz="1050">
                <a:solidFill>
                  <a:srgbClr val="F8FAFC"/>
                </a:solidFill>
              </a:defRPr>
            </a:pPr>
            <a:r>
              <a:t>• Truthful Status Reporting: </a:t>
            </a:r>
          </a:p>
          <a:p>
            <a:pPr>
              <a:defRPr sz="950">
                <a:solidFill>
                  <a:srgbClr val="CBD5E1"/>
                </a:solidFill>
              </a:defRPr>
            </a:pPr>
            <a:r>
              <a:t>Explicitly reports status: SIMULATED with message: 'No OS firewall rules were modified on darwin/windows'. Never falsely claims real isolation.</a:t>
            </a:r>
          </a:p>
          <a:p>
            <a:pPr>
              <a:spcBef>
                <a:spcPts val="600"/>
              </a:spcBef>
              <a:defRPr b="1" sz="1050">
                <a:solidFill>
                  <a:srgbClr val="F8FAFC"/>
                </a:solidFill>
              </a:defRPr>
            </a:pPr>
            <a:r>
              <a:t>• Clinical Safety Interlocks: </a:t>
            </a:r>
          </a:p>
          <a:p>
            <a:pPr>
              <a:defRPr sz="950">
                <a:solidFill>
                  <a:srgbClr val="CBD5E1"/>
                </a:solidFill>
              </a:defRPr>
            </a:pPr>
            <a:r>
              <a:t>ClinicalSafetyInterlock database table and engine safeguards life-support devices (infusion pumps, ventilators) under cyber defense.</a:t>
            </a:r>
          </a:p>
          <a:p>
            <a:pPr>
              <a:spcBef>
                <a:spcPts val="600"/>
              </a:spcBef>
              <a:defRPr b="1" sz="1050">
                <a:solidFill>
                  <a:srgbClr val="F8FAFC"/>
                </a:solidFill>
              </a:defRPr>
            </a:pPr>
            <a:r>
              <a:t>• Fail-Safe Bedside Override: </a:t>
            </a:r>
          </a:p>
          <a:p>
            <a:pPr>
              <a:defRPr sz="950">
                <a:solidFill>
                  <a:srgbClr val="CBD5E1"/>
                </a:solidFill>
              </a:defRPr>
            </a:pPr>
            <a:r>
              <a:t>Instead of abrupt power cutoff, interlock triggers safe state: LOCAL_BEDSIDE_OVERRIDE_LOCKED, requiring clinician manual verification.</a:t>
            </a:r>
          </a:p>
          <a:p>
            <a:pPr>
              <a:spcBef>
                <a:spcPts val="600"/>
              </a:spcBef>
              <a:defRPr b="1" sz="1050">
                <a:solidFill>
                  <a:srgbClr val="F8FAFC"/>
                </a:solidFill>
              </a:defRPr>
            </a:pPr>
            <a:r>
              <a:t>• Audit Trail Logging: </a:t>
            </a:r>
          </a:p>
          <a:p>
            <a:pPr>
              <a:defRPr sz="950">
                <a:solidFill>
                  <a:srgbClr val="CBD5E1"/>
                </a:solidFill>
              </a:defRPr>
            </a:pPr>
            <a:r>
              <a:t>All isolation and reconnection events are cryptographically recorded in the AuditLog database table with timestamp, operator, and reason.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11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Clinical Monitoring Module: Research Context &amp; Cohort Audit</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33756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4B8A6"/>
                </a:solidFill>
                <a:latin typeface="Helvetica"/>
              </a:defRPr>
            </a:pPr>
            <a:r>
              <a:t>🎯 Clinical Research Objective</a:t>
            </a:r>
          </a:p>
          <a:p>
            <a:pPr>
              <a:spcBef>
                <a:spcPts val="800"/>
              </a:spcBef>
              <a:defRPr sz="1050">
                <a:solidFill>
                  <a:srgbClr val="CBD5E1"/>
                </a:solidFill>
              </a:defRPr>
            </a:pPr>
            <a:r>
              <a:t>• Investigate the technical feasibility of predicting post-24h in-hospital mortality using non-invasive bedside vital signs.</a:t>
            </a:r>
          </a:p>
          <a:p>
            <a:pPr>
              <a:spcBef>
                <a:spcPts val="800"/>
              </a:spcBef>
              <a:defRPr sz="1050">
                <a:solidFill>
                  <a:srgbClr val="CBD5E1"/>
                </a:solidFill>
              </a:defRPr>
            </a:pPr>
            <a:r>
              <a:t>• Demonstrate an audited, zero-leakage clinical data engineering pipeline.</a:t>
            </a:r>
          </a:p>
          <a:p>
            <a:pPr>
              <a:spcBef>
                <a:spcPts val="800"/>
              </a:spcBef>
              <a:defRPr sz="1050">
                <a:solidFill>
                  <a:srgbClr val="CBD5E1"/>
                </a:solidFill>
              </a:defRPr>
            </a:pPr>
            <a:r>
              <a:t>• Provide a benchmark baseline model (L2 Logistic Regression vs Random Forest).</a:t>
            </a:r>
          </a:p>
          <a:p>
            <a:pPr>
              <a:spcBef>
                <a:spcPts val="800"/>
              </a:spcBef>
              <a:defRPr sz="1050">
                <a:solidFill>
                  <a:srgbClr val="CBD5E1"/>
                </a:solidFill>
              </a:defRPr>
            </a:pPr>
            <a:r>
              <a:t>• Deliver clear clinical disclaimers distinguishing exploratory risk estimates from certified diagnostic devices.</a:t>
            </a:r>
          </a:p>
        </p:txBody>
      </p:sp>
      <p:sp>
        <p:nvSpPr>
          <p:cNvPr id="7" name="Rounded Rectangle 6"/>
          <p:cNvSpPr/>
          <p:nvPr/>
        </p:nvSpPr>
        <p:spPr>
          <a:xfrm>
            <a:off x="4425696" y="1463040"/>
            <a:ext cx="333756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EA5E9"/>
                </a:solidFill>
                <a:latin typeface="Helvetica"/>
              </a:defRPr>
            </a:pPr>
            <a:r>
              <a:t>📊 MIMIC-IV Demo 2.2 Cohort</a:t>
            </a:r>
          </a:p>
          <a:p>
            <a:pPr>
              <a:spcBef>
                <a:spcPts val="800"/>
              </a:spcBef>
              <a:defRPr sz="1050">
                <a:solidFill>
                  <a:srgbClr val="CBD5E1"/>
                </a:solidFill>
              </a:defRPr>
            </a:pPr>
            <a:r>
              <a:t>• Source: Beth Israel Deaconess Medical Center critical care database (Demo 2.2 release).</a:t>
            </a:r>
          </a:p>
          <a:p>
            <a:pPr>
              <a:spcBef>
                <a:spcPts val="800"/>
              </a:spcBef>
              <a:defRPr sz="1050">
                <a:solidFill>
                  <a:srgbClr val="CBD5E1"/>
                </a:solidFill>
              </a:defRPr>
            </a:pPr>
            <a:r>
              <a:t>• Raw Dataset Scope: 140 ICU stays across 100 unique patients.</a:t>
            </a:r>
          </a:p>
          <a:p>
            <a:pPr>
              <a:spcBef>
                <a:spcPts val="800"/>
              </a:spcBef>
              <a:defRPr sz="1050">
                <a:solidFill>
                  <a:srgbClr val="CBD5E1"/>
                </a:solidFill>
              </a:defRPr>
            </a:pPr>
            <a:r>
              <a:t>• Linkage Audit: Verified against admissions.csv.gz using many-to-one join on (subject_id, hadm_id).</a:t>
            </a:r>
          </a:p>
          <a:p>
            <a:pPr>
              <a:spcBef>
                <a:spcPts val="800"/>
              </a:spcBef>
              <a:defRPr sz="1050">
                <a:solidFill>
                  <a:srgbClr val="CBD5E1"/>
                </a:solidFill>
              </a:defRPr>
            </a:pPr>
            <a:r>
              <a:t>• Outcome Coverage: 140 out of 140 stays linked to hospital outcomes with exactly 0 missing labels.</a:t>
            </a:r>
          </a:p>
        </p:txBody>
      </p:sp>
      <p:sp>
        <p:nvSpPr>
          <p:cNvPr id="8" name="Rounded Rectangle 7"/>
          <p:cNvSpPr/>
          <p:nvPr/>
        </p:nvSpPr>
        <p:spPr>
          <a:xfrm>
            <a:off x="8119872" y="1463040"/>
            <a:ext cx="333756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latin typeface="Helvetica"/>
              </a:defRPr>
            </a:pPr>
            <a:r>
              <a:t>🔍 Patient Units vs Stays</a:t>
            </a:r>
          </a:p>
          <a:p>
            <a:pPr>
              <a:spcBef>
                <a:spcPts val="800"/>
              </a:spcBef>
              <a:defRPr sz="1050">
                <a:solidFill>
                  <a:srgbClr val="CBD5E1"/>
                </a:solidFill>
              </a:defRPr>
            </a:pPr>
            <a:r>
              <a:t>• Critical Distinction: An ICU stay is not an independent patient.</a:t>
            </a:r>
          </a:p>
          <a:p>
            <a:pPr>
              <a:spcBef>
                <a:spcPts val="800"/>
              </a:spcBef>
              <a:defRPr sz="1050">
                <a:solidFill>
                  <a:srgbClr val="CBD5E1"/>
                </a:solidFill>
              </a:defRPr>
            </a:pPr>
            <a:r>
              <a:t>• Repeated Admissions: 26 patients in the cohort experienced multiple ICU stays (up to 5 stays per patient).</a:t>
            </a:r>
          </a:p>
          <a:p>
            <a:pPr>
              <a:spcBef>
                <a:spcPts val="800"/>
              </a:spcBef>
              <a:defRPr sz="1050">
                <a:solidFill>
                  <a:srgbClr val="CBD5E1"/>
                </a:solidFill>
              </a:defRPr>
            </a:pPr>
            <a:r>
              <a:t>• Mixed Outcomes: 4 patients experienced multiple admissions spanning both survival and mortality outcomes.</a:t>
            </a:r>
          </a:p>
          <a:p>
            <a:pPr>
              <a:spcBef>
                <a:spcPts val="800"/>
              </a:spcBef>
              <a:defRPr sz="1050">
                <a:solidFill>
                  <a:srgbClr val="CBD5E1"/>
                </a:solidFill>
              </a:defRPr>
            </a:pPr>
            <a:r>
              <a:t>• Sample Size Reality: The small cohort serves to prove pipeline integrity and methodology, not clinical predictive power.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12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Prospective Cohort Eligibility Audit &amp; Leakage Elimination</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10728655"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EA5E9"/>
                </a:solidFill>
                <a:latin typeface="Helvetica"/>
              </a:defRPr>
            </a:pPr>
            <a:r>
              <a:t>COHORT ELIGIBILITY AUDIT TRAIL (Total Stays: 140 ──► Excluded: 4 ──► Eligible: 136)</a:t>
            </a:r>
          </a:p>
          <a:p>
            <a:pPr>
              <a:spcBef>
                <a:spcPts val="400"/>
              </a:spcBef>
              <a:defRPr sz="1050">
                <a:solidFill>
                  <a:srgbClr val="CBD5E1"/>
                </a:solidFill>
              </a:defRPr>
            </a:pPr>
            <a:r>
              <a:t>Prospective prediction requires all evaluated patients to be alive and present in the ICU at the prediction point (ICU intime + 24.0h).</a:t>
            </a:r>
          </a:p>
          <a:p>
            <a:pPr>
              <a:spcBef>
                <a:spcPts val="600"/>
              </a:spcBef>
              <a:defRPr b="1" sz="1050">
                <a:solidFill>
                  <a:srgbClr val="EF4444"/>
                </a:solidFill>
              </a:defRPr>
            </a:pPr>
            <a:r>
              <a:t>• Stay 36871784 (Subject 10017492): EXCLUDED: Death occurred before 24h prediction point</a:t>
            </a:r>
          </a:p>
          <a:p>
            <a:pPr>
              <a:defRPr sz="950">
                <a:solidFill>
                  <a:srgbClr val="CBD5E1"/>
                </a:solidFill>
              </a:defRPr>
            </a:pPr>
            <a:r>
              <a:t>   ICU in: 2116-07-05 06:50 | Death: 2116-07-05 08:05 (Died at 1.25 hours after ICU admission)</a:t>
            </a:r>
          </a:p>
          <a:p>
            <a:pPr>
              <a:spcBef>
                <a:spcPts val="600"/>
              </a:spcBef>
              <a:defRPr b="1" sz="1050">
                <a:solidFill>
                  <a:srgbClr val="EF4444"/>
                </a:solidFill>
              </a:defRPr>
            </a:pPr>
            <a:r>
              <a:t>• Stay 38275267 (Subject 10025463): EXCLUDED: Death occurred before 24h prediction point</a:t>
            </a:r>
          </a:p>
          <a:p>
            <a:pPr>
              <a:defRPr sz="950">
                <a:solidFill>
                  <a:srgbClr val="CBD5E1"/>
                </a:solidFill>
              </a:defRPr>
            </a:pPr>
            <a:r>
              <a:t>   ICU in: 2137-10-09 02:51 | Death: 2137-10-09 15:30 (Died at 12.64 hours after ICU admission)</a:t>
            </a:r>
          </a:p>
          <a:p>
            <a:pPr>
              <a:spcBef>
                <a:spcPts val="600"/>
              </a:spcBef>
              <a:defRPr b="1" sz="1050">
                <a:solidFill>
                  <a:srgbClr val="EF4444"/>
                </a:solidFill>
              </a:defRPr>
            </a:pPr>
            <a:r>
              <a:t>• Stay 32554129 (Subject 10020187): EXCLUDED: Acute stay terminated before 24h window closed</a:t>
            </a:r>
          </a:p>
          <a:p>
            <a:pPr>
              <a:defRPr sz="950">
                <a:solidFill>
                  <a:srgbClr val="CBD5E1"/>
                </a:solidFill>
              </a:defRPr>
            </a:pPr>
            <a:r>
              <a:t>   ICU in: 2170-02-24 18:18 | Disch: 2170-02-25 15:00 (Discharged alive at 20.69 hours after admission)</a:t>
            </a:r>
          </a:p>
          <a:p>
            <a:pPr>
              <a:spcBef>
                <a:spcPts val="600"/>
              </a:spcBef>
              <a:defRPr b="1" sz="1050">
                <a:solidFill>
                  <a:srgbClr val="EF4444"/>
                </a:solidFill>
              </a:defRPr>
            </a:pPr>
            <a:r>
              <a:t>• Stay 30864406 (Subject 10026406): EXCLUDED: Acute stay terminated before 24h window closed</a:t>
            </a:r>
          </a:p>
          <a:p>
            <a:pPr>
              <a:defRPr sz="950">
                <a:solidFill>
                  <a:srgbClr val="CBD5E1"/>
                </a:solidFill>
              </a:defRPr>
            </a:pPr>
            <a:r>
              <a:t>   ICU in: 2129-01-05 02:37 | Disch: 2129-01-05 14:10 (Discharged alive at 11.54 hours after admission)</a:t>
            </a:r>
          </a:p>
          <a:p>
            <a:br/>
            <a:pPr>
              <a:spcBef>
                <a:spcPts val="1000"/>
              </a:spcBef>
              <a:defRPr sz="1050">
                <a:solidFill>
                  <a:srgbClr val="14B8A6"/>
                </a:solidFill>
              </a:defRPr>
            </a:pPr>
            <a:r>
              <a:t>    FINAL VERIFIED ELIGIBLE COHORT METRICS:</a:t>
            </a:r>
            <a:br/>
            <a:r>
              <a:t>    • Eligible ICU Stays: 136 (18 Deaths, 118 Survivors | Mortality Prevalence: 13.24%)</a:t>
            </a:r>
            <a:br/>
            <a:r>
              <a:t>    • Eligible Unique Patients: 98 (14 Deaths, 88 Survivors | 4 patients with mixed outcomes)</a:t>
            </a:r>
            <a:br/>
            <a:r>
              <a:t>    • Core Vital Coverage: 100.0% (all 136 stays have recorded Heart Rate, Respiratory Rate, and SpO2)</a:t>
            </a:r>
            <a:br/>
            <a:r>
              <a:t>    • Zero Target Leakage: 0 future outcomes or post-24h event flags present in feature matrix.</a:t>
            </a:r>
            <a:br/>
            <a:r>
              <a:t>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13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24-Hour Observation Window &amp; 69-Feature Engineering Schema</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EA5E9"/>
                </a:solidFill>
                <a:latin typeface="Helvetica"/>
              </a:defRPr>
            </a:pPr>
            <a:r>
              <a:t>⏱️ Observation Window &amp; Core Vitals</a:t>
            </a:r>
          </a:p>
          <a:p>
            <a:pPr>
              <a:spcBef>
                <a:spcPts val="400"/>
              </a:spcBef>
              <a:defRPr sz="1000">
                <a:solidFill>
                  <a:srgbClr val="CBD5E1"/>
                </a:solidFill>
              </a:defRPr>
            </a:pPr>
            <a:r>
              <a:t>Strict Half-Open Interval: [t_intime, t_intime + 24.0 hours)</a:t>
            </a:r>
            <a:br/>
            <a:r>
              <a:t>Enforces charttime &lt; prediction_time. 3 boundary measurements recorded at exactly t = 24.0h were audited and excluded to ensure strict prospective isolation. Over 50,400 post-24h chart events safely excluded.</a:t>
            </a:r>
          </a:p>
          <a:p>
            <a:pPr>
              <a:spcBef>
                <a:spcPts val="800"/>
              </a:spcBef>
              <a:defRPr b="1" sz="1100">
                <a:solidFill>
                  <a:srgbClr val="F8FAFC"/>
                </a:solidFill>
              </a:defRPr>
            </a:pPr>
            <a:r>
              <a:t>The 7 Core Vital Signs Monitored:</a:t>
            </a:r>
          </a:p>
          <a:p>
            <a:pPr>
              <a:spcBef>
                <a:spcPts val="300"/>
              </a:spcBef>
              <a:defRPr sz="950">
                <a:solidFill>
                  <a:srgbClr val="CBD5E1"/>
                </a:solidFill>
              </a:defRPr>
            </a:pPr>
            <a:r>
              <a:t>• Heart Rate (20 - 260 bpm): Tachycardia / Bradycardia trends</a:t>
            </a:r>
          </a:p>
          <a:p>
            <a:pPr>
              <a:spcBef>
                <a:spcPts val="300"/>
              </a:spcBef>
              <a:defRPr sz="950">
                <a:solidFill>
                  <a:srgbClr val="CBD5E1"/>
                </a:solidFill>
              </a:defRPr>
            </a:pPr>
            <a:r>
              <a:t>• Respiratory Rate (0 - 70 insp/min): Tachypnea / Apneic arrest flags</a:t>
            </a:r>
          </a:p>
          <a:p>
            <a:pPr>
              <a:spcBef>
                <a:spcPts val="300"/>
              </a:spcBef>
              <a:defRPr sz="950">
                <a:solidFill>
                  <a:srgbClr val="CBD5E1"/>
                </a:solidFill>
              </a:defRPr>
            </a:pPr>
            <a:r>
              <a:t>• Oxygen Saturation (SpO2) (50 - 100 %): Hypoxemic episodes (&lt; 70% flagged)</a:t>
            </a:r>
          </a:p>
          <a:p>
            <a:pPr>
              <a:spcBef>
                <a:spcPts val="300"/>
              </a:spcBef>
              <a:defRPr sz="950">
                <a:solidFill>
                  <a:srgbClr val="CBD5E1"/>
                </a:solidFill>
              </a:defRPr>
            </a:pPr>
            <a:r>
              <a:t>• Systolic Blood Pressure (40 - 280 mmHg): Hypotension / Shock indicator</a:t>
            </a:r>
          </a:p>
          <a:p>
            <a:pPr>
              <a:spcBef>
                <a:spcPts val="300"/>
              </a:spcBef>
              <a:defRPr sz="950">
                <a:solidFill>
                  <a:srgbClr val="CBD5E1"/>
                </a:solidFill>
              </a:defRPr>
            </a:pPr>
            <a:r>
              <a:t>• Diastolic Blood Pressure (20 - 180 mmHg): Perfusion pressure</a:t>
            </a:r>
          </a:p>
          <a:p>
            <a:pPr>
              <a:spcBef>
                <a:spcPts val="300"/>
              </a:spcBef>
              <a:defRPr sz="950">
                <a:solidFill>
                  <a:srgbClr val="CBD5E1"/>
                </a:solidFill>
              </a:defRPr>
            </a:pPr>
            <a:r>
              <a:t>• Mean Arterial Pressure (MAP) (25 - 200 mmHg): Critical perfusion marker</a:t>
            </a:r>
          </a:p>
          <a:p>
            <a:pPr>
              <a:spcBef>
                <a:spcPts val="300"/>
              </a:spcBef>
              <a:defRPr sz="950">
                <a:solidFill>
                  <a:srgbClr val="CBD5E1"/>
                </a:solidFill>
              </a:defRPr>
            </a:pPr>
            <a:r>
              <a:t>• Body Temperature (°C) (30.0 - 43.5 °C): Converted from °F; hypothermia/pyrexia</a:t>
            </a:r>
          </a:p>
        </p:txBody>
      </p:sp>
      <p:sp>
        <p:nvSpPr>
          <p:cNvPr id="7" name="Rounded Rectangle 6"/>
          <p:cNvSpPr/>
          <p:nvPr/>
        </p:nvSpPr>
        <p:spPr>
          <a:xfrm>
            <a:off x="6245352"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4B8A6"/>
                </a:solidFill>
                <a:latin typeface="Helvetica"/>
              </a:defRPr>
            </a:pPr>
            <a:r>
              <a:t>📐 69 Engineered Features Breakdown</a:t>
            </a:r>
          </a:p>
          <a:p>
            <a:pPr>
              <a:spcBef>
                <a:spcPts val="400"/>
              </a:spcBef>
              <a:defRPr sz="1000">
                <a:solidFill>
                  <a:srgbClr val="F8FAFC"/>
                </a:solidFill>
              </a:defRPr>
            </a:pPr>
            <a:r>
              <a:t>Total Features: 63 Vital Features + 6 Observation Indicators = 69 Features</a:t>
            </a:r>
          </a:p>
          <a:p>
            <a:pPr>
              <a:spcBef>
                <a:spcPts val="200"/>
              </a:spcBef>
              <a:defRPr sz="900">
                <a:solidFill>
                  <a:srgbClr val="CBD5E1"/>
                </a:solidFill>
              </a:defRPr>
            </a:pPr>
            <a:r>
              <a:t>• 1. count: Number of distinct chart recordings in 24h</a:t>
            </a:r>
          </a:p>
          <a:p>
            <a:pPr>
              <a:spcBef>
                <a:spcPts val="200"/>
              </a:spcBef>
              <a:defRPr sz="900">
                <a:solidFill>
                  <a:srgbClr val="CBD5E1"/>
                </a:solidFill>
              </a:defRPr>
            </a:pPr>
            <a:r>
              <a:t>• 2. is_missing: Binary flag indicating complete absence of vital sign</a:t>
            </a:r>
          </a:p>
          <a:p>
            <a:pPr>
              <a:spcBef>
                <a:spcPts val="200"/>
              </a:spcBef>
              <a:defRPr sz="900">
                <a:solidFill>
                  <a:srgbClr val="CBD5E1"/>
                </a:solidFill>
              </a:defRPr>
            </a:pPr>
            <a:r>
              <a:t>• 3. recent: Most recent observation value within the 24h window</a:t>
            </a:r>
          </a:p>
          <a:p>
            <a:pPr>
              <a:spcBef>
                <a:spcPts val="200"/>
              </a:spcBef>
              <a:defRPr sz="900">
                <a:solidFill>
                  <a:srgbClr val="CBD5E1"/>
                </a:solidFill>
              </a:defRPr>
            </a:pPr>
            <a:r>
              <a:t>• 4. mean: Arithmetic mean across all valid measurements in window</a:t>
            </a:r>
          </a:p>
          <a:p>
            <a:pPr>
              <a:spcBef>
                <a:spcPts val="200"/>
              </a:spcBef>
              <a:defRPr sz="900">
                <a:solidFill>
                  <a:srgbClr val="CBD5E1"/>
                </a:solidFill>
              </a:defRPr>
            </a:pPr>
            <a:r>
              <a:t>• 5. min: Minimum recorded observation value in window</a:t>
            </a:r>
          </a:p>
          <a:p>
            <a:pPr>
              <a:spcBef>
                <a:spcPts val="200"/>
              </a:spcBef>
              <a:defRPr sz="900">
                <a:solidFill>
                  <a:srgbClr val="CBD5E1"/>
                </a:solidFill>
              </a:defRPr>
            </a:pPr>
            <a:r>
              <a:t>• 6. max: Maximum recorded observation value in window</a:t>
            </a:r>
          </a:p>
          <a:p>
            <a:pPr>
              <a:spcBef>
                <a:spcPts val="200"/>
              </a:spcBef>
              <a:defRPr sz="900">
                <a:solidFill>
                  <a:srgbClr val="CBD5E1"/>
                </a:solidFill>
              </a:defRPr>
            </a:pPr>
            <a:r>
              <a:t>• 7. std: Sample standard deviation (0.0 if count &lt;= 1)</a:t>
            </a:r>
          </a:p>
          <a:p>
            <a:pPr>
              <a:spcBef>
                <a:spcPts val="200"/>
              </a:spcBef>
              <a:defRPr sz="900">
                <a:solidFill>
                  <a:srgbClr val="CBD5E1"/>
                </a:solidFill>
              </a:defRPr>
            </a:pPr>
            <a:r>
              <a:t>• 8. time_since_last_h: Hours elapsed between most recent vital and hour 24</a:t>
            </a:r>
          </a:p>
          <a:p>
            <a:pPr>
              <a:spcBef>
                <a:spcPts val="200"/>
              </a:spcBef>
              <a:defRPr sz="900">
                <a:solidFill>
                  <a:srgbClr val="CBD5E1"/>
                </a:solidFill>
              </a:defRPr>
            </a:pPr>
            <a:r>
              <a:t>• 9. trend_late_minus_early: Mean of hours 12–24 minus mean of hours 0–12</a:t>
            </a:r>
          </a:p>
          <a:p>
            <a:br/>
            <a:pPr>
              <a:spcBef>
                <a:spcPts val="400"/>
              </a:spcBef>
              <a:defRPr sz="950">
                <a:solidFill>
                  <a:srgbClr val="F59E0B"/>
                </a:solidFill>
              </a:defRPr>
            </a:pPr>
            <a:r>
              <a:t>6 General Observation &amp; Screening Features:</a:t>
            </a:r>
            <a:br/>
            <a:r>
              <a:t>• flag_zero_value_count, flag_low_spo2_count, flag_extreme_hr_count</a:t>
            </a:r>
            <a:br/>
            <a:r>
              <a:t>• total_flagged_observations, distinct_monitored_hours, total_vital_measurements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14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Machine Learning Pipeline: Preprocessing Isolation &amp; Grouped Splits</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2542032"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EA5E9"/>
                </a:solidFill>
                <a:latin typeface="Helvetica"/>
              </a:defRPr>
            </a:pPr>
            <a:r>
              <a:t>PHASE 1</a:t>
            </a:r>
          </a:p>
          <a:p>
            <a:pPr>
              <a:spcBef>
                <a:spcPts val="600"/>
              </a:spcBef>
              <a:defRPr sz="1300" b="1">
                <a:solidFill>
                  <a:srgbClr val="F8FAFC"/>
                </a:solidFill>
                <a:latin typeface="Helvetica"/>
              </a:defRPr>
            </a:pPr>
            <a:r>
              <a:t>Step 1: Patient Grouping</a:t>
            </a:r>
          </a:p>
          <a:p>
            <a:pPr>
              <a:spcBef>
                <a:spcPts val="1000"/>
              </a:spcBef>
              <a:defRPr sz="1050">
                <a:solidFill>
                  <a:srgbClr val="CBD5E1"/>
                </a:solidFill>
                <a:latin typeface="Arial"/>
              </a:defRPr>
            </a:pPr>
            <a:r>
              <a:t>Enforced GroupShuffleSplit on subject_id (75% Train / 25% Test; seed=42).</a:t>
            </a:r>
            <a:br/>
            <a:r>
              <a:t>• Train: 101 stays across 73 unique patients (13 deaths).</a:t>
            </a:r>
            <a:br/>
            <a:r>
              <a:t>• Test: 35 stays across 25 unique patients (5 deaths).</a:t>
            </a:r>
            <a:br/>
            <a:r>
              <a:t>• Zero patient overlap: assert len(set(train_patients).intersection(test_patients)) == 0.</a:t>
            </a:r>
          </a:p>
        </p:txBody>
      </p:sp>
      <p:sp>
        <p:nvSpPr>
          <p:cNvPr id="7" name="Rounded Rectangle 6"/>
          <p:cNvSpPr/>
          <p:nvPr/>
        </p:nvSpPr>
        <p:spPr>
          <a:xfrm>
            <a:off x="3456432" y="1463040"/>
            <a:ext cx="2542032"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4B8A6"/>
                </a:solidFill>
                <a:latin typeface="Helvetica"/>
              </a:defRPr>
            </a:pPr>
            <a:r>
              <a:t>PHASE 2</a:t>
            </a:r>
          </a:p>
          <a:p>
            <a:pPr>
              <a:spcBef>
                <a:spcPts val="600"/>
              </a:spcBef>
              <a:defRPr sz="1300" b="1">
                <a:solidFill>
                  <a:srgbClr val="F8FAFC"/>
                </a:solidFill>
                <a:latin typeface="Helvetica"/>
              </a:defRPr>
            </a:pPr>
            <a:r>
              <a:t>Step 2: Preprocessing Isolation</a:t>
            </a:r>
          </a:p>
          <a:p>
            <a:pPr>
              <a:spcBef>
                <a:spcPts val="1000"/>
              </a:spcBef>
              <a:defRPr sz="1050">
                <a:solidFill>
                  <a:srgbClr val="CBD5E1"/>
                </a:solidFill>
                <a:latin typeface="Arial"/>
              </a:defRPr>
            </a:pPr>
            <a:r>
              <a:t>Median imputation and standard scaling are wrapped inside sklearn.pipeline.Pipeline.</a:t>
            </a:r>
            <a:br/>
            <a:r>
              <a:t>• SimpleImputer(strategy='median') fit strictly on training fold.</a:t>
            </a:r>
            <a:br/>
            <a:r>
              <a:t>• StandardScaler() fit strictly on training fold.</a:t>
            </a:r>
            <a:br/>
            <a:r>
              <a:t>• Zero testing statistics leak into preprocessing transformations.</a:t>
            </a:r>
          </a:p>
        </p:txBody>
      </p:sp>
      <p:sp>
        <p:nvSpPr>
          <p:cNvPr id="8" name="Rounded Rectangle 7"/>
          <p:cNvSpPr/>
          <p:nvPr/>
        </p:nvSpPr>
        <p:spPr>
          <a:xfrm>
            <a:off x="6181344" y="1463040"/>
            <a:ext cx="2542032"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6366F1"/>
                </a:solidFill>
                <a:latin typeface="Helvetica"/>
              </a:defRPr>
            </a:pPr>
            <a:r>
              <a:t>PHASE 3</a:t>
            </a:r>
          </a:p>
          <a:p>
            <a:pPr>
              <a:spcBef>
                <a:spcPts val="600"/>
              </a:spcBef>
              <a:defRPr sz="1300" b="1">
                <a:solidFill>
                  <a:srgbClr val="F8FAFC"/>
                </a:solidFill>
                <a:latin typeface="Helvetica"/>
              </a:defRPr>
            </a:pPr>
            <a:r>
              <a:t>Step 3: Baseline Model Architectures</a:t>
            </a:r>
          </a:p>
          <a:p>
            <a:pPr>
              <a:spcBef>
                <a:spcPts val="1000"/>
              </a:spcBef>
              <a:defRPr sz="1050">
                <a:solidFill>
                  <a:srgbClr val="CBD5E1"/>
                </a:solidFill>
                <a:latin typeface="Arial"/>
              </a:defRPr>
            </a:pPr>
            <a:r>
              <a:t>1. Majority-Class DummyClassifier (predicts prior class distribution).</a:t>
            </a:r>
            <a:br/>
            <a:r>
              <a:t>2. Regularized Logistic Regression (L2 penalty, C=0.1, balanced weights, lbfgs solver).</a:t>
            </a:r>
            <a:br/>
            <a:r>
              <a:t>3. Constrained Random Forest (50 trees, max depth 3, balanced class weights).</a:t>
            </a:r>
          </a:p>
        </p:txBody>
      </p:sp>
      <p:sp>
        <p:nvSpPr>
          <p:cNvPr id="9" name="Rounded Rectangle 8"/>
          <p:cNvSpPr/>
          <p:nvPr/>
        </p:nvSpPr>
        <p:spPr>
          <a:xfrm>
            <a:off x="8906256" y="1463040"/>
            <a:ext cx="2542032"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latin typeface="Helvetica"/>
              </a:defRPr>
            </a:pPr>
            <a:r>
              <a:t>PHASE 4</a:t>
            </a:r>
          </a:p>
          <a:p>
            <a:pPr>
              <a:spcBef>
                <a:spcPts val="600"/>
              </a:spcBef>
              <a:defRPr sz="1300" b="1">
                <a:solidFill>
                  <a:srgbClr val="F8FAFC"/>
                </a:solidFill>
                <a:latin typeface="Helvetica"/>
              </a:defRPr>
            </a:pPr>
            <a:r>
              <a:t>Step 4: Grouped Cross-Validation</a:t>
            </a:r>
          </a:p>
          <a:p>
            <a:pPr>
              <a:spcBef>
                <a:spcPts val="1000"/>
              </a:spcBef>
              <a:defRPr sz="1050">
                <a:solidFill>
                  <a:srgbClr val="CBD5E1"/>
                </a:solidFill>
                <a:latin typeface="Arial"/>
              </a:defRPr>
            </a:pPr>
            <a:r>
              <a:t>Executed 5-fold GroupKFold cross-validation across all 136 stays.</a:t>
            </a:r>
            <a:br/>
            <a:r>
              <a:t>• Every fold preserves patient independence.</a:t>
            </a:r>
            <a:br/>
            <a:r>
              <a:t>• Every fold contains positive mortality cases (Fold 0: 3, Fold 1: 2, Fold 2: 6, Fold 3: 3, Fold 4: 4).</a:t>
            </a:r>
            <a:br/>
            <a:r>
              <a:t>• Evaluates out-of-fold generalization.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15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Model Evaluation Results &amp; Scientific Discrepancy Resolution</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10728655" cy="265176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EA5E9"/>
                </a:solidFill>
                <a:latin typeface="Helvetica"/>
              </a:defRPr>
            </a:pPr>
            <a:r>
              <a:t>HELD-OUT TEST SET EVALUATION (N=35 stays, 25 patients, 5 deaths)</a:t>
            </a:r>
          </a:p>
          <a:p>
            <a:pPr>
              <a:spcBef>
                <a:spcPts val="400"/>
              </a:spcBef>
              <a:defRPr sz="850">
                <a:solidFill>
                  <a:srgbClr val="CBD5E1"/>
                </a:solidFill>
                <a:latin typeface="Courier New"/>
              </a:defRPr>
            </a:pPr>
            <a:r>
              <a:t>Metric                 | Majority-Class Baseline  | L2 Logistic Regression (C=0.1)      | Constrained Random Forest (depth=3)</a:t>
            </a:r>
            <a:br/>
            <a:r>
              <a:t>Accuracy               | 85.71%                   | 82.86%                              | 91.43%                          </a:t>
            </a:r>
            <a:br/>
            <a:r>
              <a:t>Sensitivity (Recall)   | 0.00%                    | 60.00% (3 / 5)                      | 60.00% (3 / 5)                  </a:t>
            </a:r>
            <a:br/>
            <a:r>
              <a:t>Specificity            | 100.00%                  | 86.67% (26 / 30)                    | 96.67% (29 / 30)                </a:t>
            </a:r>
            <a:br/>
            <a:r>
              <a:t>Precision              | 0.00%                    | 42.86% (3 / 7)                      | 75.00% (3 / 4)                  </a:t>
            </a:r>
            <a:br/>
            <a:r>
              <a:t>ROC-AUC                | 0.5000                   | 0.7600 (was 0.7533 pre-hardening)   | 0.7667                          </a:t>
            </a:r>
            <a:br/>
            <a:r>
              <a:t>PR-AUC                 | 0.1429                   | 0.6160 (was 0.6151 pre-hardening)   | 0.4894                          </a:t>
            </a:r>
            <a:br/>
            <a:r>
              <a:t>Brier Score Loss       | 0.1226                   | 0.1268                              | 0.1395                          </a:t>
            </a:r>
            <a:br/>
            <a:r>
              <a:t>Confusion Matrix       | TN: 30, FP: 0, FN: 5, TP: 0 | TN: 26, FP: 4, FN: 2, TP: 3         | TN: 29, FP: 1, FN: 2, TP: 3     </a:t>
            </a:r>
            <a:br/>
          </a:p>
        </p:txBody>
      </p:sp>
      <p:sp>
        <p:nvSpPr>
          <p:cNvPr id="7" name="Rounded Rectangle 6"/>
          <p:cNvSpPr/>
          <p:nvPr/>
        </p:nvSpPr>
        <p:spPr>
          <a:xfrm>
            <a:off x="731520" y="4251960"/>
            <a:ext cx="10728655" cy="205740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latin typeface="Helvetica"/>
              </a:defRPr>
            </a:pPr>
            <a:r>
              <a:t>🔬 Scientific Discrepancy Resolution &amp; Bootstrap Uncertainty Audit</a:t>
            </a:r>
          </a:p>
          <a:p>
            <a:pPr>
              <a:spcBef>
                <a:spcPts val="300"/>
              </a:spcBef>
              <a:defRPr sz="950">
                <a:solidFill>
                  <a:srgbClr val="CBD5E1"/>
                </a:solidFill>
              </a:defRPr>
            </a:pPr>
            <a:r>
              <a:t>• Disparity with Grouped Cross-Validation: 5-fold grouped out-of-fold ROC-AUC across all 136 stays is 0.5325 (PR-AUC: 0.3083, sensitivity: 33.33%, specificity: 81.36%, accuracy: 75.00%). Mean fold ROC-AUC: 0.5540 ± 0.1064.</a:t>
            </a:r>
          </a:p>
          <a:p>
            <a:pPr>
              <a:spcBef>
                <a:spcPts val="300"/>
              </a:spcBef>
              <a:defRPr sz="950">
                <a:solidFill>
                  <a:srgbClr val="CBD5E1"/>
                </a:solidFill>
              </a:defRPr>
            </a:pPr>
            <a:r>
              <a:t>• Small-Sample Volatility Cause: The held-out test split contains only 5 positive deaths. Misclassifying a single patient swings sensitivity by 20.0 percentage points.</a:t>
            </a:r>
          </a:p>
          <a:p>
            <a:pPr>
              <a:spcBef>
                <a:spcPts val="300"/>
              </a:spcBef>
              <a:defRPr sz="950">
                <a:solidFill>
                  <a:srgbClr val="CBD5E1"/>
                </a:solidFill>
              </a:defRPr>
            </a:pPr>
            <a:r>
              <a:t>• Wide 95% Bootstrap Confidence Interval: Resampling audit reveals the test ROC-AUC 95% bootstrap CI is [0.3120, 1.0000] (spanning 68.8 percentage points), fully enclosing the 0.5325 cross-validation score.</a:t>
            </a:r>
          </a:p>
          <a:p>
            <a:pPr>
              <a:spcBef>
                <a:spcPts val="300"/>
              </a:spcBef>
              <a:defRPr sz="950">
                <a:solidFill>
                  <a:srgbClr val="CBD5E1"/>
                </a:solidFill>
              </a:defRPr>
            </a:pPr>
            <a:r>
              <a:t>• Scientific Conclusion: The single held-out test score (0.76) is subject to high sampling noise on N=5 events. The grouped cross-validation score (~0.53–0.55) reflects true expected baseline vital-sign predictive ability on this demo cohort.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16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Full-Stack Implementation: FastAPI Backend &amp; React 18 Dashboard</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EA5E9"/>
                </a:solidFill>
                <a:latin typeface="Helvetica"/>
              </a:defRPr>
            </a:pPr>
            <a:r>
              <a:t>⚡ FastAPI Clinical &amp; Security Endpoints</a:t>
            </a:r>
          </a:p>
          <a:p>
            <a:pPr>
              <a:spcBef>
                <a:spcPts val="400"/>
              </a:spcBef>
              <a:defRPr b="1" sz="1000">
                <a:solidFill>
                  <a:srgbClr val="F8FAFC"/>
                </a:solidFill>
              </a:defRPr>
            </a:pPr>
            <a:r>
              <a:t>• GET /health</a:t>
            </a:r>
          </a:p>
          <a:p>
            <a:pPr>
              <a:defRPr sz="900">
                <a:solidFill>
                  <a:srgbClr val="CBD5E1"/>
                </a:solidFill>
              </a:defRPr>
            </a:pPr>
            <a:r>
              <a:t>   Returns service status, UTC timestamp, and module health (intrusion_detection: ONLINE, patient_monitoring: ONLINE).</a:t>
            </a:r>
          </a:p>
          <a:p>
            <a:pPr>
              <a:spcBef>
                <a:spcPts val="400"/>
              </a:spcBef>
              <a:defRPr b="1" sz="1000">
                <a:solidFill>
                  <a:srgbClr val="F8FAFC"/>
                </a:solidFill>
              </a:defRPr>
            </a:pPr>
            <a:r>
              <a:t>• GET /api/v1/patient-monitoring/status</a:t>
            </a:r>
          </a:p>
          <a:p>
            <a:pPr>
              <a:defRPr sz="900">
                <a:solidFill>
                  <a:srgbClr val="CBD5E1"/>
                </a:solidFill>
              </a:defRPr>
            </a:pPr>
            <a:r>
              <a:t>   Reports model artifact status (baseline_model.joblib), loaded schema version, and research mode.</a:t>
            </a:r>
          </a:p>
          <a:p>
            <a:pPr>
              <a:spcBef>
                <a:spcPts val="400"/>
              </a:spcBef>
              <a:defRPr b="1" sz="1000">
                <a:solidFill>
                  <a:srgbClr val="F8FAFC"/>
                </a:solidFill>
              </a:defRPr>
            </a:pPr>
            <a:r>
              <a:t>• POST /api/v1/patient-monitoring/validate-vitals</a:t>
            </a:r>
          </a:p>
          <a:p>
            <a:pPr>
              <a:defRPr sz="900">
                <a:solidFill>
                  <a:srgbClr val="CBD5E1"/>
                </a:solidFill>
              </a:defRPr>
            </a:pPr>
            <a:r>
              <a:t>   Physiological range screening, °F to °C conversion, and flags zero values, hypoxemia, or extreme heart rates.</a:t>
            </a:r>
          </a:p>
          <a:p>
            <a:pPr>
              <a:spcBef>
                <a:spcPts val="400"/>
              </a:spcBef>
              <a:defRPr b="1" sz="1000">
                <a:solidFill>
                  <a:srgbClr val="F8FAFC"/>
                </a:solidFill>
              </a:defRPr>
            </a:pPr>
            <a:r>
              <a:t>• POST /api/v1/patient-monitoring/assess-risk</a:t>
            </a:r>
          </a:p>
          <a:p>
            <a:pPr>
              <a:defRPr sz="900">
                <a:solidFill>
                  <a:srgbClr val="CBD5E1"/>
                </a:solidFill>
              </a:defRPr>
            </a:pPr>
            <a:r>
              <a:t>   Produces experimental in-hospital mortality risk estimate with category (LOW / ELEVATED / HIGH) &amp; mandatory disclaimers.</a:t>
            </a:r>
          </a:p>
          <a:p>
            <a:pPr>
              <a:spcBef>
                <a:spcPts val="400"/>
              </a:spcBef>
              <a:defRPr b="1" sz="1000">
                <a:solidFill>
                  <a:srgbClr val="F8FAFC"/>
                </a:solidFill>
              </a:defRPr>
            </a:pPr>
            <a:r>
              <a:t>• POST /api/v1/patient-monitoring/predict</a:t>
            </a:r>
          </a:p>
          <a:p>
            <a:pPr>
              <a:defRPr sz="900">
                <a:solidFill>
                  <a:srgbClr val="CBD5E1"/>
                </a:solidFill>
              </a:defRPr>
            </a:pPr>
            <a:r>
              <a:t>   Standardized clinical prediction validating 69-feature vector schema. Rejects NaN, Inf, and unexpected keys with HTTP 422.</a:t>
            </a:r>
          </a:p>
          <a:p>
            <a:pPr>
              <a:spcBef>
                <a:spcPts val="400"/>
              </a:spcBef>
              <a:defRPr b="1" sz="1000">
                <a:solidFill>
                  <a:srgbClr val="F8FAFC"/>
                </a:solidFill>
              </a:defRPr>
            </a:pPr>
            <a:r>
              <a:t>• GET /api/v1/patient-monitoring/cohort-summary</a:t>
            </a:r>
          </a:p>
          <a:p>
            <a:pPr>
              <a:defRPr sz="900">
                <a:solidFill>
                  <a:srgbClr val="CBD5E1"/>
                </a:solidFill>
              </a:defRPr>
            </a:pPr>
            <a:r>
              <a:t>   Returns verified MIMIC-IV Demo cohort metrics (136 eligible stays, 18 deaths, 0 leakage).</a:t>
            </a:r>
          </a:p>
          <a:p>
            <a:pPr>
              <a:spcBef>
                <a:spcPts val="400"/>
              </a:spcBef>
              <a:defRPr b="1" sz="1000">
                <a:solidFill>
                  <a:srgbClr val="F8FAFC"/>
                </a:solidFill>
              </a:defRPr>
            </a:pPr>
            <a:r>
              <a:t>• GET /api/v1/patient-monitoring/sample-records</a:t>
            </a:r>
          </a:p>
          <a:p>
            <a:pPr>
              <a:defRPr sz="900">
                <a:solidFill>
                  <a:srgbClr val="CBD5E1"/>
                </a:solidFill>
              </a:defRPr>
            </a:pPr>
            <a:r>
              <a:t>   Serves 3 demonstration cases from MIMIC-IV Demo (Stays 31269608, 38559363, 39543480).</a:t>
            </a:r>
          </a:p>
        </p:txBody>
      </p:sp>
      <p:sp>
        <p:nvSpPr>
          <p:cNvPr id="7" name="Rounded Rectangle 6"/>
          <p:cNvSpPr/>
          <p:nvPr/>
        </p:nvSpPr>
        <p:spPr>
          <a:xfrm>
            <a:off x="6245352"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4B8A6"/>
                </a:solidFill>
                <a:latin typeface="Helvetica"/>
              </a:defRPr>
            </a:pPr>
            <a:r>
              <a:t>🖥️ React 18 Patient Vitals &amp; Risk UI Component</a:t>
            </a:r>
          </a:p>
          <a:p>
            <a:pPr>
              <a:spcBef>
                <a:spcPts val="500"/>
              </a:spcBef>
              <a:defRPr b="1" sz="1050">
                <a:solidFill>
                  <a:srgbClr val="F8FAFC"/>
                </a:solidFill>
              </a:defRPr>
            </a:pPr>
            <a:r>
              <a:t>▶ Demonstration Case Selector</a:t>
            </a:r>
          </a:p>
          <a:p>
            <a:pPr>
              <a:defRPr sz="900">
                <a:solidFill>
                  <a:srgbClr val="CBD5E1"/>
                </a:solidFill>
              </a:defRPr>
            </a:pPr>
            <a:r>
              <a:t>Pre-loads real MIMIC-IV Demo records (Patient A: Stable Floor, Patient B: Tachycardic, Patient C: Critical Hypotensive/Hypoxemic).</a:t>
            </a:r>
          </a:p>
          <a:p>
            <a:pPr>
              <a:spcBef>
                <a:spcPts val="500"/>
              </a:spcBef>
              <a:defRPr b="1" sz="1050">
                <a:solidFill>
                  <a:srgbClr val="F8FAFC"/>
                </a:solidFill>
              </a:defRPr>
            </a:pPr>
            <a:r>
              <a:t>▶ Interactive Vital Input &amp; Unit Switching</a:t>
            </a:r>
          </a:p>
          <a:p>
            <a:pPr>
              <a:defRPr sz="900">
                <a:solidFill>
                  <a:srgbClr val="CBD5E1"/>
                </a:solidFill>
              </a:defRPr>
            </a:pPr>
            <a:r>
              <a:t>Input fields for HR, RR, SpO2, SBP, DBP, and Body Temperature with dynamic °C / °F switching and normal range cues.</a:t>
            </a:r>
          </a:p>
          <a:p>
            <a:pPr>
              <a:spcBef>
                <a:spcPts val="500"/>
              </a:spcBef>
              <a:defRPr b="1" sz="1050">
                <a:solidFill>
                  <a:srgbClr val="F8FAFC"/>
                </a:solidFill>
              </a:defRPr>
            </a:pPr>
            <a:r>
              <a:t>▶ Real-Time Data Quality Screening</a:t>
            </a:r>
          </a:p>
          <a:p>
            <a:pPr>
              <a:defRPr sz="900">
                <a:solidFill>
                  <a:srgbClr val="CBD5E1"/>
                </a:solidFill>
              </a:defRPr>
            </a:pPr>
            <a:r>
              <a:t>Renders review badges: review_zero_value, review_low_spo2, review_extreme_heart_rate and displays missing measurements handled by median imputer.</a:t>
            </a:r>
          </a:p>
          <a:p>
            <a:pPr>
              <a:spcBef>
                <a:spcPts val="500"/>
              </a:spcBef>
              <a:defRPr b="1" sz="1050">
                <a:solidFill>
                  <a:srgbClr val="F8FAFC"/>
                </a:solidFill>
              </a:defRPr>
            </a:pPr>
            <a:r>
              <a:t>▶ Visual Prediction Separation</a:t>
            </a:r>
          </a:p>
          <a:p>
            <a:pPr>
              <a:defRPr sz="900">
                <a:solidFill>
                  <a:srgbClr val="CBD5E1"/>
                </a:solidFill>
              </a:defRPr>
            </a:pPr>
            <a:r>
              <a:t>Clinical risk probability is strictly separated from observed vital cards into a dedicated Risk Card with risk categories (LOW, ELEVATED, HIGH).</a:t>
            </a:r>
          </a:p>
          <a:p>
            <a:pPr>
              <a:spcBef>
                <a:spcPts val="500"/>
              </a:spcBef>
              <a:defRPr b="1" sz="1050">
                <a:solidFill>
                  <a:srgbClr val="F8FAFC"/>
                </a:solidFill>
              </a:defRPr>
            </a:pPr>
            <a:r>
              <a:t>▶ Permanent Research Disclaimer Banner</a:t>
            </a:r>
          </a:p>
          <a:p>
            <a:pPr>
              <a:defRPr sz="900">
                <a:solidFill>
                  <a:srgbClr val="CBD5E1"/>
                </a:solidFill>
              </a:defRPr>
            </a:pPr>
            <a:r>
              <a:t>Prominent amber disclaimer visible at top of view: clearly states that the model is for research verification and NOT an FDA diagnostic tool.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17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Engineering Verification: 77 Automated Tests &amp; Production Build</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0B981"/>
                </a:solidFill>
                <a:latin typeface="Helvetica"/>
              </a:defRPr>
            </a:pPr>
            <a:r>
              <a:t>🧪 Backend Automated Test Suite: 77 Passed, 0 Failed</a:t>
            </a:r>
          </a:p>
          <a:p>
            <a:pPr>
              <a:spcBef>
                <a:spcPts val="400"/>
              </a:spcBef>
              <a:defRPr b="1" sz="1000">
                <a:solidFill>
                  <a:srgbClr val="F8FAFC"/>
                </a:solidFill>
              </a:defRPr>
            </a:pPr>
            <a:r>
              <a:t>• test_patient_monitoring.py (28 Tests)</a:t>
            </a:r>
          </a:p>
          <a:p>
            <a:pPr>
              <a:defRPr sz="900">
                <a:solidFill>
                  <a:srgbClr val="CBD5E1"/>
                </a:solidFill>
              </a:defRPr>
            </a:pPr>
            <a:r>
              <a:t>Validates prospective cohort exclusions, 0 temporal leakage, 0 patient overlap, NaN/Inf rejection, °F to °C conversion, quality flags, and missing artifact graceful fallbacks.</a:t>
            </a:r>
          </a:p>
          <a:p>
            <a:pPr>
              <a:spcBef>
                <a:spcPts val="400"/>
              </a:spcBef>
              <a:defRPr b="1" sz="1000">
                <a:solidFill>
                  <a:srgbClr val="F8FAFC"/>
                </a:solidFill>
              </a:defRPr>
            </a:pPr>
            <a:r>
              <a:t>• test_security_and_enforcement.py (17 Tests)</a:t>
            </a:r>
          </a:p>
          <a:p>
            <a:pPr>
              <a:defRPr sz="900">
                <a:solidFill>
                  <a:srgbClr val="CBD5E1"/>
                </a:solidFill>
              </a:defRPr>
            </a:pPr>
            <a:r>
              <a:t>Tests Linux iptables command generation, idempotency -C check, SimulationEnforcementAdapter status, and ClinicalSafetyInterlock state transitions.</a:t>
            </a:r>
          </a:p>
          <a:p>
            <a:pPr>
              <a:spcBef>
                <a:spcPts val="400"/>
              </a:spcBef>
              <a:defRPr b="1" sz="1000">
                <a:solidFill>
                  <a:srgbClr val="F8FAFC"/>
                </a:solidFill>
              </a:defRPr>
            </a:pPr>
            <a:r>
              <a:t>• test_canonical_pipeline.py (14 Tests)</a:t>
            </a:r>
          </a:p>
          <a:p>
            <a:pPr>
              <a:defRPr sz="900">
                <a:solidFill>
                  <a:srgbClr val="CBD5E1"/>
                </a:solidFill>
              </a:defRPr>
            </a:pPr>
            <a:r>
              <a:t>Verifies end-to-end edge packet ingestion, rolling incident correlation, 60s flow aggregation, and latency tracking collector.</a:t>
            </a:r>
          </a:p>
          <a:p>
            <a:pPr>
              <a:spcBef>
                <a:spcPts val="400"/>
              </a:spcBef>
              <a:defRPr b="1" sz="1000">
                <a:solidFill>
                  <a:srgbClr val="F8FAFC"/>
                </a:solidFill>
              </a:defRPr>
            </a:pPr>
            <a:r>
              <a:t>• test_machine_signals.py (7 Tests)</a:t>
            </a:r>
          </a:p>
          <a:p>
            <a:pPr>
              <a:defRPr sz="900">
                <a:solidFill>
                  <a:srgbClr val="CBD5E1"/>
                </a:solidFill>
              </a:defRPr>
            </a:pPr>
            <a:r>
              <a:t>Verifies physical invariant breaches (bolus overdose, ventilator pressure hijack), anti-replay sequence checks, and socket collectors.</a:t>
            </a:r>
          </a:p>
          <a:p>
            <a:pPr>
              <a:spcBef>
                <a:spcPts val="400"/>
              </a:spcBef>
              <a:defRPr b="1" sz="1000">
                <a:solidFill>
                  <a:srgbClr val="F8FAFC"/>
                </a:solidFill>
              </a:defRPr>
            </a:pPr>
            <a:r>
              <a:t>• test_documents_and_copilot.py (7 Tests)</a:t>
            </a:r>
          </a:p>
          <a:p>
            <a:pPr>
              <a:defRPr sz="900">
                <a:solidFill>
                  <a:srgbClr val="CBD5E1"/>
                </a:solidFill>
              </a:defRPr>
            </a:pPr>
            <a:r>
              <a:t>Tests PDF document RAG search, multi-context AI copilot (5 contexts), and citation generation.</a:t>
            </a:r>
          </a:p>
          <a:p>
            <a:pPr>
              <a:spcBef>
                <a:spcPts val="400"/>
              </a:spcBef>
              <a:defRPr b="1" sz="1000">
                <a:solidFill>
                  <a:srgbClr val="F8FAFC"/>
                </a:solidFill>
              </a:defRPr>
            </a:pPr>
            <a:r>
              <a:t>• test_api.py (4 Tests)</a:t>
            </a:r>
          </a:p>
          <a:p>
            <a:pPr>
              <a:defRPr sz="900">
                <a:solidFill>
                  <a:srgbClr val="CBD5E1"/>
                </a:solidFill>
              </a:defRPr>
            </a:pPr>
            <a:r>
              <a:t>Validates GET /health, OpenAPI schema generation, and CORS preflight headers.</a:t>
            </a:r>
          </a:p>
        </p:txBody>
      </p:sp>
      <p:sp>
        <p:nvSpPr>
          <p:cNvPr id="7" name="Rounded Rectangle 6"/>
          <p:cNvSpPr/>
          <p:nvPr/>
        </p:nvSpPr>
        <p:spPr>
          <a:xfrm>
            <a:off x="6245352"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EA5E9"/>
                </a:solidFill>
                <a:latin typeface="Helvetica"/>
              </a:defRPr>
            </a:pPr>
            <a:r>
              <a:t>📦 Frontend Production Build &amp; Integration Audit</a:t>
            </a:r>
          </a:p>
          <a:p>
            <a:pPr>
              <a:spcBef>
                <a:spcPts val="500"/>
              </a:spcBef>
              <a:defRPr b="1" sz="1050">
                <a:solidFill>
                  <a:srgbClr val="F8FAFC"/>
                </a:solidFill>
              </a:defRPr>
            </a:pPr>
            <a:r>
              <a:t>▶ TypeScript Compiler (tsc)</a:t>
            </a:r>
          </a:p>
          <a:p>
            <a:pPr>
              <a:defRPr sz="900">
                <a:solidFill>
                  <a:srgbClr val="CBD5E1"/>
                </a:solidFill>
              </a:defRPr>
            </a:pPr>
            <a:r>
              <a:t>0 TypeScript compilation errors. All frontend interfaces strictly typed to Pydantic schemas.</a:t>
            </a:r>
          </a:p>
          <a:p>
            <a:pPr>
              <a:spcBef>
                <a:spcPts val="500"/>
              </a:spcBef>
              <a:defRPr b="1" sz="1050">
                <a:solidFill>
                  <a:srgbClr val="F8FAFC"/>
                </a:solidFill>
              </a:defRPr>
            </a:pPr>
            <a:r>
              <a:t>▶ Vite Production Bundler</a:t>
            </a:r>
          </a:p>
          <a:p>
            <a:pPr>
              <a:defRPr sz="900">
                <a:solidFill>
                  <a:srgbClr val="CBD5E1"/>
                </a:solidFill>
              </a:defRPr>
            </a:pPr>
            <a:r>
              <a:t>Successfully bundled 2,669 modules in 1.28 seconds.</a:t>
            </a:r>
          </a:p>
          <a:p>
            <a:pPr>
              <a:spcBef>
                <a:spcPts val="500"/>
              </a:spcBef>
              <a:defRPr b="1" sz="1050">
                <a:solidFill>
                  <a:srgbClr val="F8FAFC"/>
                </a:solidFill>
              </a:defRPr>
            </a:pPr>
            <a:r>
              <a:t>▶ Production Assets Generated</a:t>
            </a:r>
          </a:p>
          <a:p>
            <a:pPr>
              <a:defRPr sz="900">
                <a:solidFill>
                  <a:srgbClr val="CBD5E1"/>
                </a:solidFill>
              </a:defRPr>
            </a:pPr>
            <a:r>
              <a:t>dist/index.html (0.96 kB)</a:t>
            </a:r>
            <a:br/>
            <a:r>
              <a:t>dist/assets/index.css (44.60 kB | gzip: 7.77 kB)</a:t>
            </a:r>
            <a:br/>
            <a:r>
              <a:t>dist/assets/index.js (860.00 kB | gzip: 236.13 kB)</a:t>
            </a:r>
          </a:p>
          <a:p>
            <a:pPr>
              <a:spcBef>
                <a:spcPts val="500"/>
              </a:spcBef>
              <a:defRPr b="1" sz="1050">
                <a:solidFill>
                  <a:srgbClr val="F8FAFC"/>
                </a:solidFill>
              </a:defRPr>
            </a:pPr>
            <a:r>
              <a:t>▶ Live API Integration Audit</a:t>
            </a:r>
          </a:p>
          <a:p>
            <a:pPr>
              <a:defRPr sz="900">
                <a:solidFill>
                  <a:srgbClr val="CBD5E1"/>
                </a:solidFill>
              </a:defRPr>
            </a:pPr>
            <a:r>
              <a:t>Verified live HTTP 200 responses on /health, /api/v1/devices, /alerts, /signals, and /patient-monitoring.</a:t>
            </a:r>
          </a:p>
          <a:p>
            <a:pPr>
              <a:spcBef>
                <a:spcPts val="500"/>
              </a:spcBef>
              <a:defRPr b="1" sz="1050">
                <a:solidFill>
                  <a:srgbClr val="F8FAFC"/>
                </a:solidFill>
              </a:defRPr>
            </a:pPr>
            <a:r>
              <a:t>▶ Timezone &amp; Modernization Audit</a:t>
            </a:r>
          </a:p>
          <a:p>
            <a:pPr>
              <a:defRPr sz="900">
                <a:solidFill>
                  <a:srgbClr val="CBD5E1"/>
                </a:solidFill>
              </a:defRPr>
            </a:pPr>
            <a:r>
              <a:t>Modernized datetime.utcnow() to datetime.now(timezone.utc) across all services, ensuring compatibility with modern Python 3.12+ / 3.14.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18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Critical Limitations, Ethical Considerations &amp; Clinical Disclaimers</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333756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latin typeface="Helvetica"/>
              </a:defRPr>
            </a:pPr>
            <a:r>
              <a:t>⚠️ Statistical &amp; Dataset Limitations</a:t>
            </a:r>
          </a:p>
          <a:p>
            <a:pPr>
              <a:spcBef>
                <a:spcPts val="600"/>
              </a:spcBef>
              <a:defRPr sz="1000">
                <a:solidFill>
                  <a:srgbClr val="CBD5E1"/>
                </a:solidFill>
              </a:defRPr>
            </a:pPr>
            <a:r>
              <a:t>• Small Positive Sample Size: Only 14 unique deceased patients (18 stays) in the entire eligible demo cohort.</a:t>
            </a:r>
          </a:p>
          <a:p>
            <a:pPr>
              <a:spcBef>
                <a:spcPts val="600"/>
              </a:spcBef>
              <a:defRPr sz="1000">
                <a:solidFill>
                  <a:srgbClr val="CBD5E1"/>
                </a:solidFill>
              </a:defRPr>
            </a:pPr>
            <a:r>
              <a:t>• High Metric Volatility: Single misclassifications swing test recall by 20.0 percentage points.</a:t>
            </a:r>
          </a:p>
          <a:p>
            <a:pPr>
              <a:spcBef>
                <a:spcPts val="600"/>
              </a:spcBef>
              <a:defRPr sz="1000">
                <a:solidFill>
                  <a:srgbClr val="CBD5E1"/>
                </a:solidFill>
              </a:defRPr>
            </a:pPr>
            <a:r>
              <a:t>• Wide Confidence Intervals: 95% bootstrap CI for test ROC-AUC is [0.312, 1.000], indicating extreme estimation uncertainty.</a:t>
            </a:r>
          </a:p>
          <a:p>
            <a:pPr>
              <a:spcBef>
                <a:spcPts val="600"/>
              </a:spcBef>
              <a:defRPr sz="1000">
                <a:solidFill>
                  <a:srgbClr val="CBD5E1"/>
                </a:solidFill>
              </a:defRPr>
            </a:pPr>
            <a:r>
              <a:t>• Vital-Signs Only: Models lack laboratory values (lactate, arterial blood gases), ventilation parameters, and vasopressor infusions.</a:t>
            </a:r>
          </a:p>
        </p:txBody>
      </p:sp>
      <p:sp>
        <p:nvSpPr>
          <p:cNvPr id="7" name="Rounded Rectangle 6"/>
          <p:cNvSpPr/>
          <p:nvPr/>
        </p:nvSpPr>
        <p:spPr>
          <a:xfrm>
            <a:off x="4425696" y="1463040"/>
            <a:ext cx="333756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EF4444"/>
                </a:solidFill>
                <a:latin typeface="Helvetica"/>
              </a:defRPr>
            </a:pPr>
            <a:r>
              <a:t>⚖️ Mandatory Clinical Disclaimer</a:t>
            </a:r>
          </a:p>
          <a:p>
            <a:pPr>
              <a:spcBef>
                <a:spcPts val="600"/>
              </a:spcBef>
              <a:defRPr sz="1000">
                <a:solidFill>
                  <a:srgbClr val="CBD5E1"/>
                </a:solidFill>
              </a:defRPr>
            </a:pPr>
            <a:r>
              <a:t>• NOT an FDA-Cleared Medical Device: EdgeShield AI has not been evaluated, cleared, or approved by the US FDA or CE notified bodies.</a:t>
            </a:r>
          </a:p>
          <a:p>
            <a:pPr>
              <a:spcBef>
                <a:spcPts val="600"/>
              </a:spcBef>
              <a:defRPr sz="1000">
                <a:solidFill>
                  <a:srgbClr val="CBD5E1"/>
                </a:solidFill>
              </a:defRPr>
            </a:pPr>
            <a:r>
              <a:t>• Exploratory Engineering Prototype: Built solely for technical demonstration, pipeline verification, and research methodology proof.</a:t>
            </a:r>
          </a:p>
          <a:p>
            <a:pPr>
              <a:spcBef>
                <a:spcPts val="600"/>
              </a:spcBef>
              <a:defRPr sz="1000">
                <a:solidFill>
                  <a:srgbClr val="CBD5E1"/>
                </a:solidFill>
              </a:defRPr>
            </a:pPr>
            <a:r>
              <a:t>• NEVER for Patient Care: The risk estimates must NEVER be used for bedside triage, patient diagnosis, clinical intervention, or clinical decision-making.</a:t>
            </a:r>
          </a:p>
          <a:p>
            <a:pPr>
              <a:spcBef>
                <a:spcPts val="600"/>
              </a:spcBef>
              <a:defRPr sz="1000">
                <a:solidFill>
                  <a:srgbClr val="CBD5E1"/>
                </a:solidFill>
              </a:defRPr>
            </a:pPr>
            <a:r>
              <a:t>• Permanently Disclaimed in Software: Displayed in API metadata, JSON responses, and permanently rendered on the React UI banner.</a:t>
            </a:r>
          </a:p>
        </p:txBody>
      </p:sp>
      <p:sp>
        <p:nvSpPr>
          <p:cNvPr id="8" name="Rounded Rectangle 7"/>
          <p:cNvSpPr/>
          <p:nvPr/>
        </p:nvSpPr>
        <p:spPr>
          <a:xfrm>
            <a:off x="8119872" y="1463040"/>
            <a:ext cx="333756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EA5E9"/>
                </a:solidFill>
                <a:latin typeface="Helvetica"/>
              </a:defRPr>
            </a:pPr>
            <a:r>
              <a:t>🛡️ Cybersecurity Ethical Guardrails</a:t>
            </a:r>
          </a:p>
          <a:p>
            <a:pPr>
              <a:spcBef>
                <a:spcPts val="600"/>
              </a:spcBef>
              <a:defRPr sz="1000">
                <a:solidFill>
                  <a:srgbClr val="CBD5E1"/>
                </a:solidFill>
              </a:defRPr>
            </a:pPr>
            <a:r>
              <a:t>• No Autonomous Disconnection: Life-support machines are protected by Clinical Safety Interlocks preventing catastrophic therapy cutoffs.</a:t>
            </a:r>
          </a:p>
          <a:p>
            <a:pPr>
              <a:spcBef>
                <a:spcPts val="600"/>
              </a:spcBef>
              <a:defRPr sz="1000">
                <a:solidFill>
                  <a:srgbClr val="CBD5E1"/>
                </a:solidFill>
              </a:defRPr>
            </a:pPr>
            <a:r>
              <a:t>• Advisory GenAI Boundary: Local LLMs strictly explain alerts and suggest triage playbooks; they never make blocking decisions.</a:t>
            </a:r>
          </a:p>
          <a:p>
            <a:pPr>
              <a:spcBef>
                <a:spcPts val="600"/>
              </a:spcBef>
              <a:defRPr sz="1000">
                <a:solidFill>
                  <a:srgbClr val="CBD5E1"/>
                </a:solidFill>
              </a:defRPr>
            </a:pPr>
            <a:r>
              <a:t>• Privacy &amp; Sovereignty: All AI inference runs locally without cloud transmission, preventing data breaches of patient telemetry.</a:t>
            </a:r>
          </a:p>
          <a:p>
            <a:pPr>
              <a:spcBef>
                <a:spcPts val="600"/>
              </a:spcBef>
              <a:defRPr sz="1000">
                <a:solidFill>
                  <a:srgbClr val="CBD5E1"/>
                </a:solidFill>
              </a:defRPr>
            </a:pPr>
            <a:r>
              <a:t>• Auditability: Every administrative and containment action is logged with operator identification in SQLite audit trails.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274320"/>
          </a:xfrm>
          <a:prstGeom prst="rect">
            <a:avLst/>
          </a:prstGeom>
          <a:noFill/>
        </p:spPr>
        <p:txBody>
          <a:bodyPr wrap="square" lIns="0" tIns="0" rIns="0" bIns="0">
            <a:spAutoFit/>
          </a:bodyPr>
          <a:lstStyle/>
          <a:p>
            <a:pPr>
              <a:defRPr sz="950" b="1">
                <a:solidFill>
                  <a:srgbClr val="0EA5E9"/>
                </a:solidFill>
                <a:latin typeface="Arial"/>
              </a:defRPr>
            </a:pPr>
            <a:r>
              <a:t>EDGESHIELD AI — TECHNICAL &amp; RESEARCH REVIEW  |  SLIDE 19 OF 19</a:t>
            </a:r>
          </a:p>
        </p:txBody>
      </p:sp>
      <p:sp>
        <p:nvSpPr>
          <p:cNvPr id="4" name="TextBox 3"/>
          <p:cNvSpPr txBox="1"/>
          <p:nvPr/>
        </p:nvSpPr>
        <p:spPr>
          <a:xfrm>
            <a:off x="731520" y="658368"/>
            <a:ext cx="10058400" cy="548640"/>
          </a:xfrm>
          <a:prstGeom prst="rect">
            <a:avLst/>
          </a:prstGeom>
          <a:noFill/>
        </p:spPr>
        <p:txBody>
          <a:bodyPr wrap="square" lIns="0" tIns="0" rIns="0" bIns="0">
            <a:spAutoFit/>
          </a:bodyPr>
          <a:lstStyle/>
          <a:p>
            <a:pPr>
              <a:defRPr sz="2200" b="1">
                <a:solidFill>
                  <a:srgbClr val="F8FAFC"/>
                </a:solidFill>
                <a:latin typeface="Helvetica"/>
              </a:defRPr>
            </a:pPr>
            <a:r>
              <a:t>Future Scope &amp; Conclusion</a:t>
            </a:r>
          </a:p>
        </p:txBody>
      </p:sp>
      <p:sp>
        <p:nvSpPr>
          <p:cNvPr id="5" name="Rectangle 4"/>
          <p:cNvSpPr/>
          <p:nvPr/>
        </p:nvSpPr>
        <p:spPr>
          <a:xfrm>
            <a:off x="731520" y="1234440"/>
            <a:ext cx="10728655" cy="18288"/>
          </a:xfrm>
          <a:prstGeom prst="rect">
            <a:avLst/>
          </a:prstGeom>
          <a:solidFill>
            <a:srgbClr val="2D3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EA5E9"/>
                </a:solidFill>
                <a:latin typeface="Helvetica"/>
              </a:defRPr>
            </a:pPr>
            <a:r>
              <a:t>🚀 Future Research &amp; Engineering Roadmap</a:t>
            </a:r>
          </a:p>
          <a:p>
            <a:pPr>
              <a:spcBef>
                <a:spcPts val="500"/>
              </a:spcBef>
              <a:defRPr b="1" sz="1050">
                <a:solidFill>
                  <a:srgbClr val="F8FAFC"/>
                </a:solidFill>
              </a:defRPr>
            </a:pPr>
            <a:r>
              <a:t>▶ Full-Scale Clinical Cohort Training</a:t>
            </a:r>
          </a:p>
          <a:p>
            <a:pPr>
              <a:defRPr sz="900">
                <a:solidFill>
                  <a:srgbClr val="CBD5E1"/>
                </a:solidFill>
              </a:defRPr>
            </a:pPr>
            <a:r>
              <a:t>Scale pipeline from MIMIC-IV Demo to full MIMIC-IV (over 70,000 ICU stays) and external eICU Collaborative Research Database.</a:t>
            </a:r>
          </a:p>
          <a:p>
            <a:pPr>
              <a:spcBef>
                <a:spcPts val="500"/>
              </a:spcBef>
              <a:defRPr b="1" sz="1050">
                <a:solidFill>
                  <a:srgbClr val="F8FAFC"/>
                </a:solidFill>
              </a:defRPr>
            </a:pPr>
            <a:r>
              <a:t>▶ Multimodal Clinical Covariates</a:t>
            </a:r>
          </a:p>
          <a:p>
            <a:pPr>
              <a:defRPr sz="900">
                <a:solidFill>
                  <a:srgbClr val="CBD5E1"/>
                </a:solidFill>
              </a:defRPr>
            </a:pPr>
            <a:r>
              <a:t>Incorporate continuous arterial lines, blood gas laboratory values (lactate, pH), medications (vasopressors), and clinical text notes.</a:t>
            </a:r>
          </a:p>
          <a:p>
            <a:pPr>
              <a:spcBef>
                <a:spcPts val="500"/>
              </a:spcBef>
              <a:defRPr b="1" sz="1050">
                <a:solidFill>
                  <a:srgbClr val="F8FAFC"/>
                </a:solidFill>
              </a:defRPr>
            </a:pPr>
            <a:r>
              <a:t>▶ Temporal Deep Learning Models</a:t>
            </a:r>
          </a:p>
          <a:p>
            <a:pPr>
              <a:defRPr sz="900">
                <a:solidFill>
                  <a:srgbClr val="CBD5E1"/>
                </a:solidFill>
              </a:defRPr>
            </a:pPr>
            <a:r>
              <a:t>Investigate Transformer-based and recurrent architectures (LSTM, Temporal Convolutional Networks) for dynamic hourly deterioration tracking.</a:t>
            </a:r>
          </a:p>
          <a:p>
            <a:pPr>
              <a:spcBef>
                <a:spcPts val="500"/>
              </a:spcBef>
              <a:defRPr b="1" sz="1050">
                <a:solidFill>
                  <a:srgbClr val="F8FAFC"/>
                </a:solidFill>
              </a:defRPr>
            </a:pPr>
            <a:r>
              <a:t>▶ Physical Hardware Edge Testing</a:t>
            </a:r>
          </a:p>
          <a:p>
            <a:pPr>
              <a:defRPr sz="900">
                <a:solidFill>
                  <a:srgbClr val="CBD5E1"/>
                </a:solidFill>
              </a:defRPr>
            </a:pPr>
            <a:r>
              <a:t>Benchmark inference latency and thermal profiles on physical NVIDIA Jetson Orin Nano and industrial medical edge gateways.</a:t>
            </a:r>
          </a:p>
          <a:p>
            <a:pPr>
              <a:spcBef>
                <a:spcPts val="500"/>
              </a:spcBef>
              <a:defRPr b="1" sz="1050">
                <a:solidFill>
                  <a:srgbClr val="F8FAFC"/>
                </a:solidFill>
              </a:defRPr>
            </a:pPr>
            <a:r>
              <a:t>▶ Hospital Cyber-Range Evaluation</a:t>
            </a:r>
          </a:p>
          <a:p>
            <a:pPr>
              <a:defRPr sz="900">
                <a:solidFill>
                  <a:srgbClr val="CBD5E1"/>
                </a:solidFill>
              </a:defRPr>
            </a:pPr>
            <a:r>
              <a:t>Connect collector interfaces to hardware-in-the-loop medical testbeds to evaluate live multi-stage ransomware and protocol injection attacks.</a:t>
            </a:r>
          </a:p>
        </p:txBody>
      </p:sp>
      <p:sp>
        <p:nvSpPr>
          <p:cNvPr id="7" name="Rounded Rectangle 6"/>
          <p:cNvSpPr/>
          <p:nvPr/>
        </p:nvSpPr>
        <p:spPr>
          <a:xfrm>
            <a:off x="6245352" y="1463040"/>
            <a:ext cx="5212080" cy="4846320"/>
          </a:xfrm>
          <a:prstGeom prst="roundRect">
            <a:avLst/>
          </a:prstGeom>
          <a:solidFill>
            <a:srgbClr val="162238"/>
          </a:solidFill>
          <a:ln w="12700">
            <a:solidFill>
              <a:srgbClr val="2D3F5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4B8A6"/>
                </a:solidFill>
                <a:latin typeface="Helvetica"/>
              </a:defRPr>
            </a:pPr>
            <a:r>
              <a:t>🏁 Conclusion &amp; Key Engineering Achievements</a:t>
            </a:r>
          </a:p>
          <a:p>
            <a:pPr>
              <a:spcBef>
                <a:spcPts val="500"/>
              </a:spcBef>
              <a:defRPr b="1" sz="1050">
                <a:solidFill>
                  <a:srgbClr val="F8FAFC"/>
                </a:solidFill>
              </a:defRPr>
            </a:pPr>
            <a:r>
              <a:t>✓ Modular Dual-Pipeline Architecture</a:t>
            </a:r>
          </a:p>
          <a:p>
            <a:pPr>
              <a:defRPr sz="900">
                <a:solidFill>
                  <a:srgbClr val="CBD5E1"/>
                </a:solidFill>
              </a:defRPr>
            </a:pPr>
            <a:r>
              <a:t>Demonstrated that healthcare IoT environments can benefit from decoupled edge intrusion detection and clinical vital monitoring on a unified platform.</a:t>
            </a:r>
          </a:p>
          <a:p>
            <a:pPr>
              <a:spcBef>
                <a:spcPts val="500"/>
              </a:spcBef>
              <a:defRPr b="1" sz="1050">
                <a:solidFill>
                  <a:srgbClr val="F8FAFC"/>
                </a:solidFill>
              </a:defRPr>
            </a:pPr>
            <a:r>
              <a:t>✓ Sub-Millisecond Edge Security</a:t>
            </a:r>
          </a:p>
          <a:p>
            <a:pPr>
              <a:defRPr sz="900">
                <a:solidFill>
                  <a:srgbClr val="CBD5E1"/>
                </a:solidFill>
              </a:defRPr>
            </a:pPr>
            <a:r>
              <a:t>Achieved real-time packet anomaly scoring with physical invariant validation, safe iptables enforcement, and offline GenAI triage.</a:t>
            </a:r>
          </a:p>
          <a:p>
            <a:pPr>
              <a:spcBef>
                <a:spcPts val="500"/>
              </a:spcBef>
              <a:defRPr b="1" sz="1050">
                <a:solidFill>
                  <a:srgbClr val="F8FAFC"/>
                </a:solidFill>
              </a:defRPr>
            </a:pPr>
            <a:r>
              <a:t>✓ Audited Zero-Leakage Clinical Science</a:t>
            </a:r>
          </a:p>
          <a:p>
            <a:pPr>
              <a:defRPr sz="900">
                <a:solidFill>
                  <a:srgbClr val="CBD5E1"/>
                </a:solidFill>
              </a:defRPr>
            </a:pPr>
            <a:r>
              <a:t>Established a strictly prospective 24-hour ICU observation window, verified 69 clinical features, and proved patient-grouped evaluation integrity on MIMIC-IV Demo.</a:t>
            </a:r>
          </a:p>
          <a:p>
            <a:pPr>
              <a:spcBef>
                <a:spcPts val="500"/>
              </a:spcBef>
              <a:defRPr b="1" sz="1050">
                <a:solidFill>
                  <a:srgbClr val="F8FAFC"/>
                </a:solidFill>
              </a:defRPr>
            </a:pPr>
            <a:r>
              <a:t>✓ Production-Ready Software Quality</a:t>
            </a:r>
          </a:p>
          <a:p>
            <a:pPr>
              <a:defRPr sz="900">
                <a:solidFill>
                  <a:srgbClr val="CBD5E1"/>
                </a:solidFill>
              </a:defRPr>
            </a:pPr>
            <a:r>
              <a:t>Verified with 77 passed backend tests (0 failures), 0 build errors in Vite, and robust Pydantic/FastAPI defensive input validation.</a:t>
            </a:r>
          </a:p>
          <a:p>
            <a:pPr>
              <a:spcBef>
                <a:spcPts val="500"/>
              </a:spcBef>
              <a:defRPr b="1" sz="1050">
                <a:solidFill>
                  <a:srgbClr val="F8FAFC"/>
                </a:solidFill>
              </a:defRPr>
            </a:pPr>
            <a:r>
              <a:t>✓ Scientific Integrity &amp; Honesty</a:t>
            </a:r>
          </a:p>
          <a:p>
            <a:pPr>
              <a:defRPr sz="900">
                <a:solidFill>
                  <a:srgbClr val="CBD5E1"/>
                </a:solidFill>
              </a:defRPr>
            </a:pPr>
            <a:r>
              <a:t>Transparently resolved performance discrepancies and wide bootstrap confidence intervals without making unsupported clinical claims.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