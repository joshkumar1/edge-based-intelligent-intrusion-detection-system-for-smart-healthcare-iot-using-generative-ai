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Welcome to the final engineering and research viva presentation for EdgeShield AI.</a:t>
            </a:r>
          </a:p>
          <a:p>
            <a:r>
              <a:t>This presentation represents the complete, end-to-end delivery of the project, covering both theoretical formulation, empirical cybersecurity evaluations, clinical data validation, system integration, automated verification, and future research.</a:t>
            </a:r>
          </a:p>
          <a:p/>
          <a:p>
            <a:r>
              <a:t>KEY HIGHLIGHTS:</a:t>
            </a:r>
          </a:p>
          <a:p>
            <a:r>
              <a:t>1. Dual-Pipeline Decoupled Architecture separating IoMT network intrusion detection from prospective patient vital-sign mortality risk research.</a:t>
            </a:r>
          </a:p>
          <a:p>
            <a:r>
              <a:t>2. Real cybersecurity benchmarking on the IEEE Access Edge-IIoTset dataset (157,800 records), discovering crucial data quality properties and evaluating Random Forest, XGBoost, Decision Tree, Logistic Regression, and Isolation Forest.</a:t>
            </a:r>
          </a:p>
          <a:p>
            <a:r>
              <a:t>3. Prospective clinical vital-sign monitoring pipeline audited on MIMIC-IV Demo v2.2 (136 eligible stays, strict 24-hour observation window, grouped patient splits).</a:t>
            </a:r>
          </a:p>
          <a:p>
            <a:r>
              <a:t>4. Cyber-physical safety interlocks preventing autonomous isolation of life-critical devices (infusion pumps, ventilators).</a:t>
            </a:r>
          </a:p>
          <a:p>
            <a:r>
              <a:t>5. 90/90 passing automated backend and ML pipeline unit tests; 100% clean React 18 production build.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Provides a high-level executive overview of the entire project for reviewers and evaluators.</a:t>
            </a:r>
          </a:p>
          <a:p/>
          <a:p>
            <a:r>
              <a:t>KEY TAKEAWAYS:</a:t>
            </a:r>
          </a:p>
          <a:p>
            <a:r>
              <a:t>- Explain that EdgeShield AI addresses a critical dual problem in smart hospitals: cybersecurity vulnerability in IoT devices and the danger of alert fatigue and abrupt device shutdown.</a:t>
            </a:r>
          </a:p>
          <a:p>
            <a:r>
              <a:t>- Emphasize the strict scientific integrity: no fabricated results, clear separation between cybersecurity and clinical monitoring, and honest disclosure of sample size limitations.</a:t>
            </a:r>
          </a:p>
          <a:p>
            <a:r>
              <a:t>- Highlight the verification status: all 90 backend tests pass, the frontend builds cleanly, and all deliverables have been validated.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Establishes the real-world operational and technical context of smart healthcare IoT.</a:t>
            </a:r>
          </a:p>
          <a:p/>
          <a:p>
            <a:r>
              <a:t>VIVA DEFENSE POINTS:</a:t>
            </a:r>
          </a:p>
          <a:p>
            <a:r>
              <a:t>- Why is medical IoT security harder than standard enterprise IT?</a:t>
            </a:r>
          </a:p>
          <a:p>
            <a:r>
              <a:t>  1. Devices cannot be easily patched or rebooted without interrupting patient therapy.</a:t>
            </a:r>
          </a:p>
          <a:p>
            <a:r>
              <a:t>  2. Proprietary protocols lack authentication.</a:t>
            </a:r>
          </a:p>
          <a:p>
            <a:r>
              <a:t>  3. Strict latency constraints: clinical alarms must be processed immediately.</a:t>
            </a:r>
          </a:p>
          <a:p>
            <a:r>
              <a:t>- How does EdgeShield AI address edge deployment?</a:t>
            </a:r>
          </a:p>
          <a:p>
            <a:r>
              <a:t>  The model runs locally at the network gateway or bedside gateway with sub-5ms inference latency, without requiring external cloud connectivity for primary detection.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Clearly articulates the three core challenges that EdgeShield AI solves.</a:t>
            </a:r>
          </a:p>
          <a:p/>
          <a:p>
            <a:r>
              <a:t>KEY CONCEPTUAL TAKEAWAY:</a:t>
            </a:r>
          </a:p>
          <a:p>
            <a:r>
              <a:t>- Alert fatigue is a critical human-factors vulnerability in hospital cybersecurity.</a:t>
            </a:r>
          </a:p>
          <a:p>
            <a:r>
              <a:t>- Cyber-physical safety interlocks are an essential differentiator: we cannot apply naive IT firewall policies to ICU life-support machines.</a:t>
            </a:r>
          </a:p>
          <a:p>
            <a:r>
              <a:t>- Decoupling of pipelines: justify why EdgeShield AI strictly separates IoMT network security from clinical monitoring research.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Establishes the scientific boundaries of the project, defending against overclaiming.</a:t>
            </a:r>
          </a:p>
          <a:p/>
          <a:p>
            <a:r>
              <a:t>VIVA DEFENSE STRATEGY:</a:t>
            </a:r>
          </a:p>
          <a:p>
            <a:r>
              <a:t>- Reviewers appreciate engineering honesty. By explicitly defining what is in-scope vs out-of-scope, we demonstrate maturity and adherence to healthcare AI safety standards.</a:t>
            </a:r>
          </a:p>
          <a:p>
            <a:r>
              <a:t>- Clarify that clinical disclaimers are not a weakness; they are a mandatory requirement under FDA and SaMD (Software as a Medical Device) guidelines.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Details the four-tier architectural flow of EdgeShield AI from edge sensor ingestion to the operator interface.</a:t>
            </a:r>
          </a:p>
          <a:p/>
          <a:p>
            <a:r>
              <a:t>TECHNICAL HIGHLIGHTS:</a:t>
            </a:r>
          </a:p>
          <a:p>
            <a:r>
              <a:t>- Point out that Tier 1 handles protocol ingestion with explicit provenance tagging (Live vs Simulator).</a:t>
            </a:r>
          </a:p>
          <a:p>
            <a:r>
              <a:t>- Tier 2 processes packets through the Canonical Pipeline with dual-stage ML scoring in sub-5ms.</a:t>
            </a:r>
          </a:p>
          <a:p>
            <a:r>
              <a:t>- Tier 3 decouples asynchronous AI explanations and executes safety interlocks.</a:t>
            </a:r>
          </a:p>
          <a:p>
            <a:r>
              <a:t>- Tier 4 presents a unified, reactive operator dashboard over WebSockets.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Explains why the two pipelines are strictly decoupled and highlights the methodological rationale.</a:t>
            </a:r>
          </a:p>
          <a:p/>
          <a:p>
            <a:r>
              <a:t>VIVA QUESTIONS TO PREPARE:</a:t>
            </a:r>
          </a:p>
          <a:p>
            <a:r>
              <a:t>- Q: Why not build a single multimodal model that takes both network packets and patient vitals?</a:t>
            </a:r>
          </a:p>
          <a:p>
            <a:r>
              <a:t>- A: Conflating network telemetry with patient physiology introduces spurious correlations. If a hacker attacks an infusion pump, the network traffic changes immediately, but the patient's blood pressure might change 20 minutes later—or not at all. Furthermore, patient vital signs should never be used to predict whether a packet is a SYN flood! Keeping extractors, scalers, and models strictly separate is an AI safety imperative.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Justifies the specific architectural and library selections across the stack.</a:t>
            </a:r>
          </a:p>
          <a:p/>
          <a:p>
            <a:r>
              <a:t>KEY HIGHLIGHTS:</a:t>
            </a:r>
          </a:p>
          <a:p>
            <a:r>
              <a:t>- Edge deployability: No reliance on heavyweight cloud infrastructure (Kubernetes, external cloud databases). The entire backend runs on standard edge hospital appliances.</a:t>
            </a:r>
          </a:p>
          <a:p>
            <a:r>
              <a:t>- Concurrency model: FastAPI with asyncio decouples low-latency ML scoring from slow LLM text generation.</a:t>
            </a:r>
          </a:p>
          <a:p>
            <a:r>
              <a:t>- Type safety: TypeScript on the frontend and Pydantic on the backend provide end-to-end type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Walks reviewers step-by-step through the lifecycle of a packet as it flows through EdgeShield AI.</a:t>
            </a:r>
          </a:p>
          <a:p/>
          <a:p>
            <a:r>
              <a:t>KEY DESIGN PRINCIPLES:</a:t>
            </a:r>
          </a:p>
          <a:p>
            <a:r>
              <a:t>- Emphasize that Step 3 (ML scoring) is synchronous and ultra-fast (&lt;5ms), while Step 5 (AI Enrichment) is asynchronous, ensuring the network ingestion is never blocked by LLM execution.</a:t>
            </a:r>
          </a:p>
          <a:p>
            <a:r>
              <a:t>- Step 4 (Aggregation) prevents alert flooding when a DoS attack sends 10,000 packets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Shows the concrete medical device context in which EdgeShield AI operates.</a:t>
            </a:r>
          </a:p>
          <a:p/>
          <a:p>
            <a:r>
              <a:t>KEY ARCHITECTURAL ELEMENTS:</a:t>
            </a:r>
          </a:p>
          <a:p>
            <a:r>
              <a:t>- Explain that medical IoT security requires device-aware context: a flood DoS on a syringe pump has a radically different clinical consequence than on a radiology viewing workstation.</a:t>
            </a:r>
          </a:p>
          <a:p>
            <a:r>
              <a:t>- Mention the mathematical formula for risk decay: R(t) = R_0 * exp(-lambda * t), which prevents devices from remaining permanently locked in WARNING status once threats subside.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Presents the empirical data audit findings from Phase 2.1 &amp; 2.2, proving deep inspection of the actual data.</a:t>
            </a:r>
          </a:p>
          <a:p/>
          <a:p>
            <a:r>
              <a:t>VIVA DEFENSE STRENGTH:</a:t>
            </a:r>
          </a:p>
          <a:p>
            <a:r>
              <a:t>- Reviewers are frequently impressed when students identify real flaws in published datasets!</a:t>
            </a:r>
          </a:p>
          <a:p>
            <a:r>
              <a:t>- Mention the discovery of the 15,712 corrupted timestamp cells in `frame.time` and the 8 constant columns. This demonstrates that we did not just run `model.fit()` blindly, but conducted thorough exploratory data analysis.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Details the feature engineering strategy, explaining why Configuration A and Configuration B were constructed.</a:t>
            </a:r>
          </a:p>
          <a:p/>
          <a:p>
            <a:r>
              <a:t>KEY TAKEAWAY:</a:t>
            </a:r>
          </a:p>
          <a:p>
            <a:r>
              <a:t>- Emphasize that removing IP addresses and ports was essential to prevent trivial testbed memorization.</a:t>
            </a:r>
          </a:p>
          <a:p>
            <a:r>
              <a:t>- Configuration A proved an invaluable scientific control: it proved that when 8 of 9 features are absent in the tabular release, the model collapses, justifying why Configuration B is necessary for empirical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Outlines the supervised classification modeling strategy and taxonomy mapping.</a:t>
            </a:r>
          </a:p>
          <a:p/>
          <a:p>
            <a:r>
              <a:t>KEY POINTS:</a:t>
            </a:r>
          </a:p>
          <a:p>
            <a:r>
              <a:t>- Grouping 12 attack sub-types into 6 canonical categories mirrors real hospital security operations centers, where operators respond based on operational category (e.g. Flood vs Ransomware vs MITM).</a:t>
            </a:r>
          </a:p>
          <a:p>
            <a:r>
              <a:t>- Mention that class imbalance was handled via `class_weight='balanced'` in Random Forest.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Explains the unsupervised anomaly detection layer and the held-out OOD threat experiment.</a:t>
            </a:r>
          </a:p>
          <a:p/>
          <a:p>
            <a:r>
              <a:t>VIVA DEFENSE STRATEGY:</a:t>
            </a:r>
          </a:p>
          <a:p>
            <a:r>
              <a:t>- Emphasize the scientific rule from the prompt: "Do not claim proven zero-day detection from an OOD experiment alone."</a:t>
            </a:r>
          </a:p>
          <a:p>
            <a:r>
              <a:t>- State that the OOD evaluation specifically measures how well normal-trained models detect novel attack vectors without label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Explains the mathematical and engineering details of alert aggregation and dynamic risk scoring.</a:t>
            </a:r>
          </a:p>
          <a:p/>
          <a:p>
            <a:r>
              <a:t>KEY TAKEAWAYS:</a:t>
            </a:r>
          </a:p>
          <a:p>
            <a:r>
              <a:t>- Explain that alert aggregation reduced alert database row insertions by over 98% during simulated DoS attacks, completely solving the alert fatigue problem.</a:t>
            </a:r>
          </a:p>
          <a:p>
            <a:r>
              <a:t>- Highlight the exponential risk decay mechanism: devices return to normal once anomalous traffic ceases.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Explains how Generative AI is integrated safely and pragmatically.</a:t>
            </a:r>
          </a:p>
          <a:p/>
          <a:p>
            <a:r>
              <a:t>CRITICAL SAFETY POINT:</a:t>
            </a:r>
          </a:p>
          <a:p>
            <a:r>
              <a:t>- Reiterate that the LLM does NOT classify packets! It only enriches and explains the classification. This eliminates hallucination risks in the intrusion detection core.</a:t>
            </a:r>
          </a:p>
          <a:p>
            <a:r>
              <a:t>- Emphasize the state machine transitions: PENDING -&gt; GENERATING -&gt; COMPLETED, which was thoroughly tested in `test_canonical_pipeline.py`.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Details the cyber-physical safety interlock mechanism, which represents one of the strongest clinical safety innovations of EdgeShield AI.</a:t>
            </a:r>
          </a:p>
          <a:p/>
          <a:p>
            <a:r>
              <a:t>KEY TAKEAWAY:</a:t>
            </a:r>
          </a:p>
          <a:p>
            <a:r>
              <a:t>- Reiterate: "Network quarantine must never turn off life support."</a:t>
            </a:r>
          </a:p>
          <a:p>
            <a:r>
              <a:t>- Explain the direct machine signal checks: lethal bolus overdoses, ventilator barotrauma pressures, replay counters, and physiological paradoxes.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Explains the enforcement adapters and addresses the prompt's safety requirement regarding firewall simulation.</a:t>
            </a:r>
          </a:p>
          <a:p/>
          <a:p>
            <a:r>
              <a:t>COMPLIANCE EVIDENCE:</a:t>
            </a:r>
          </a:p>
          <a:p>
            <a:r>
              <a:t>- Emphasize that the simulation mode is explicitly labelled as simulated in all UI components and API responses, satisfying the engineering rule: "Do not claim live firewall enforcement when running in simulation mode."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Presents the verified empirical benchmark comparison across all models on the real Edge-IIoTset test partition.</a:t>
            </a:r>
          </a:p>
          <a:p/>
          <a:p>
            <a:r>
              <a:t>KEY SCIENTIFIC TAKEAWAYS:</a:t>
            </a:r>
          </a:p>
          <a:p>
            <a:r>
              <a:t>- Point out the chart on the left: Random Forest, XGBoost, and Decision Tree all achieve ~70.5% accuracy and ~64% Macro F1 on Configuration B without leaking testbed IPs.</a:t>
            </a:r>
          </a:p>
          <a:p>
            <a:r>
              <a:t>- Highlight the Configuration A result (4.32% F1): This directly proves that when 8 of 9 features are missing from tabular captures, models collapse. Configuration B's 29 features are necessary and empirically validated.</a:t>
            </a:r>
          </a:p>
          <a:p>
            <a:r>
              <a:t>- Note the False Alarm Rate: Random Forest achieved 18.4% on normal traffic, significantly better than XGBoost (53.6%).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Examines per-class intrusion detection performance on the held-out test partition.</a:t>
            </a:r>
          </a:p>
          <a:p/>
          <a:p>
            <a:r>
              <a:t>KEY SCIENTIFIC OBSERVATIONS:</a:t>
            </a:r>
          </a:p>
          <a:p>
            <a:r>
              <a:t>- Flood DoS/DDoS achieved 99.42% precision: volumetric attacks have clear protocol flag fingerprints in TCP/UDP/ICMP.</a:t>
            </a:r>
          </a:p>
          <a:p>
            <a:r>
              <a:t>- Spoofing/MITM achieved 100% recall: ARP opcode and hardware size changes were caught every time.</a:t>
            </a:r>
          </a:p>
          <a:p>
            <a:r>
              <a:t>- Command injection and ransomware exhibited high precision (&gt;81%) but moderate recall (~40-45%), indicating that some low-volume stealthy injections mimic benign requests when IP addresses and payload text are excluded.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Discusses the unsupervised anomaly detection and out-of-distribution evaluation results.</a:t>
            </a:r>
          </a:p>
          <a:p/>
          <a:p>
            <a:r>
              <a:t>HONEST SCIENTIFIC REPORTING:</a:t>
            </a:r>
          </a:p>
          <a:p>
            <a:r>
              <a:t>- Note that in tabular features (without raw payload text), Password and Uploading attacks look very similar to normal TCP/HTTP traffic.</a:t>
            </a:r>
          </a:p>
          <a:p>
            <a:r>
              <a:t>- Transparently reporting this finding proves scientific rigor: we do not claim magic 100% detection of unseen threats. We explain the exact mathematical reasons why tabular protocol features require multi-stage defense.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Presents the clinical cohort derivation flowchart and explains the MIMIC-IV inclusion/exclusion audit.</a:t>
            </a:r>
          </a:p>
          <a:p/>
          <a:p>
            <a:r>
              <a:t>KEY METHODOLOGICAL DEFENSE:</a:t>
            </a:r>
          </a:p>
          <a:p>
            <a:r>
              <a:t>- Point out the flowchart on the left: exactly 140 stays audited, 4 exclusions, 136 eligible stays.</a:t>
            </a:r>
          </a:p>
          <a:p>
            <a:r>
              <a:t>- Emphasize patient-level splitting: Splitting by patient ID rather than ICU stay prevents the model from memorizing a patient who had two separate ICU admissions.</a:t>
            </a:r>
          </a:p>
          <a:p>
            <a:r>
              <a:t>- Address dataset expansion: Clearly state that full MIMIC-IV requires formal CITI certification and PhysioNet DUA, so the demo cohort was utilized for verified pipeline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Explains the prospective observation window and vital sign normalization.</a:t>
            </a:r>
          </a:p>
          <a:p/>
          <a:p>
            <a:r>
              <a:t>KEY RESEARCH TAKEAWAYS:</a:t>
            </a:r>
          </a:p>
          <a:p>
            <a:r>
              <a:t>- Explain that 50,432 post-24-hour vital records were audited and discarded to enforce a strict prediction boundary.</a:t>
            </a:r>
          </a:p>
          <a:p>
            <a:r>
              <a:t>- Mention temperature normalization: converting Fahrenheit to Celsius resolved an immediate 100% missingness artifact across itemids.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Presents the exact feature engineering formulation of the clinical monitoring model (63 vital features + 6 quality indicators = 69 total features).</a:t>
            </a:r>
          </a:p>
          <a:p/>
          <a:p>
            <a:r>
              <a:t>KEY CLINICAL REASONING:</a:t>
            </a:r>
          </a:p>
          <a:p>
            <a:r>
              <a:t>- Note that recording missingness and measurement frequency is standard in intensive care informatics: the frequency of nursing observations itself correlates with clinical acuity.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Presents the clinical baseline evaluation metrics with transparent uncertainty analysis.</a:t>
            </a:r>
          </a:p>
          <a:p/>
          <a:p>
            <a:r>
              <a:t>KEY SCIENTIFIC DEFENSE:</a:t>
            </a:r>
          </a:p>
          <a:p>
            <a:r>
              <a:t>- Highlight the contrast: Held-out test ROC-AUC is 0.7600, but 5-fold grouped CV out-of-fold ROC-AUC is 0.5325.</a:t>
            </a:r>
          </a:p>
          <a:p>
            <a:r>
              <a:t>- Explain why this gap exists: With only 5 positive deaths in the held-out partition, predicting 1 extra death shifts sensitivity by 20 percentage points!</a:t>
            </a:r>
          </a:p>
          <a:p>
            <a:r>
              <a:t>- Transparently documenting this uncertainty demonstrates adherence to medical ML integrity standards.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Covers clinical calibration (reliability diagram) and reinforces ethical and regulatory boundaries.</a:t>
            </a:r>
          </a:p>
          <a:p/>
          <a:p>
            <a:r>
              <a:t>VIVA DEFENSE STRATEGY:</a:t>
            </a:r>
          </a:p>
          <a:p>
            <a:r>
              <a:t>- Point out the calibration curve: Brier score of 0.1268 demonstrates that predicted risk probabilities align with empirical event rates.</a:t>
            </a:r>
          </a:p>
          <a:p>
            <a:r>
              <a:t>- Conclude the clinical section with absolute transparency: this pipeline demonstrates how a prospective 24-hour ICU model can be engineered cleanly without leakage, ready for future expansion once credentialed datasets are acquired.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Showcases the operational frontend views implemented in React 18 / TypeScript.</a:t>
            </a:r>
          </a:p>
          <a:p/>
          <a:p>
            <a:r>
              <a:t>KEY FEATURES:</a:t>
            </a:r>
          </a:p>
          <a:p>
            <a:r>
              <a:t>- Walk through the 4 key views: Alert Center, Device Manager, AI Copilot Drawer, and Patient Monitoring.</a:t>
            </a:r>
          </a:p>
          <a:p>
            <a:r>
              <a:t>- Mention that the UI is responsive, built with Tailwind CSS, and connects via WebSockets for real-time telemetry streaming.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Presents conclusive verification evidence demonstrating software quality and test coverage.</a:t>
            </a:r>
          </a:p>
          <a:p/>
          <a:p>
            <a:r>
              <a:t>KEY NUMERICAL FACTS:</a:t>
            </a:r>
          </a:p>
          <a:p>
            <a:r>
              <a:t>- 90 automated tests passed across 7 test files with 0 failures and 0 errors.</a:t>
            </a:r>
          </a:p>
          <a:p>
            <a:r>
              <a:t>- Test execution time: 2.51 seconds.</a:t>
            </a:r>
          </a:p>
          <a:p>
            <a:r>
              <a:t>- Frontend build: `tsc &amp;&amp; vite build` compiled cleanly in 1.25s.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Presents measured empirical latency and resource consumption benchmarks.</a:t>
            </a:r>
          </a:p>
          <a:p/>
          <a:p>
            <a:r>
              <a:t>KEY FINDINGS:</a:t>
            </a:r>
          </a:p>
          <a:p>
            <a:r>
              <a:t>- Single-packet latency is measured in microseconds for Decision Tree (31 μs) and XGBoost (147 μs), proving ultra-high throughput edge feasibility.</a:t>
            </a:r>
          </a:p>
          <a:p>
            <a:r>
              <a:t>- The overall pipeline executes in under 5ms, fully meeting real-time IoMT edge intrusion detection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Concludes the presentation with a powerful summary of contributions, research limitations, and practical answers for viva/review questions.</a:t>
            </a:r>
          </a:p>
          <a:p/>
          <a:p>
            <a:r>
              <a:t>CONCLUDING REMARKS:</a:t>
            </a:r>
          </a:p>
          <a:p>
            <a:r>
              <a:t>- Thank the committee/reviewers for their evaluation.</a:t>
            </a:r>
          </a:p>
          <a:p>
            <a:r>
              <a:t>- Emphasize that EdgeShield AI delivers a verified, truthful, and end-to-end engineered system that bridges edge cybersecurity, generative AI explanation, and clinical patient safety.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9728" cy="43891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241280" cy="4572000"/>
          </a:xfrm>
          <a:prstGeom prst="rect">
            <a:avLst/>
          </a:prstGeom>
          <a:noFill/>
        </p:spPr>
        <p:txBody>
          <a:bodyPr wrap="square" lIns="0" tIns="0" rIns="0" bIns="0">
            <a:spAutoFit/>
          </a:bodyPr>
          <a:lstStyle/>
          <a:p>
            <a:pPr>
              <a:spcAft>
                <a:spcPts val="1400"/>
              </a:spcAft>
              <a:defRPr sz="1200" b="1">
                <a:solidFill>
                  <a:srgbClr val="06B6D4"/>
                </a:solidFill>
                <a:latin typeface="Arial"/>
              </a:defRPr>
            </a:pPr>
            <a:r>
              <a:t>EDGESHIELD AI: END-TO-END PROJECT DELIVERY</a:t>
            </a:r>
          </a:p>
          <a:p>
            <a:pPr>
              <a:spcAft>
                <a:spcPts val="1800"/>
              </a:spcAft>
              <a:defRPr sz="3200" b="1">
                <a:solidFill>
                  <a:srgbClr val="F8FAFC"/>
                </a:solidFill>
                <a:latin typeface="Helvetica"/>
              </a:defRPr>
            </a:pPr>
            <a:r>
              <a:t>Edge-Based Intelligent Intrusion Detection System</a:t>
            </a:r>
            <a:br/>
            <a:r>
              <a:t>for Smart Healthcare IoT using Generative AI</a:t>
            </a:r>
          </a:p>
          <a:p>
            <a:pPr>
              <a:spcAft>
                <a:spcPts val="3600"/>
              </a:spcAft>
              <a:defRPr sz="1400">
                <a:solidFill>
                  <a:srgbClr val="CBD5E1"/>
                </a:solidFill>
                <a:latin typeface="Arial"/>
              </a:defRPr>
            </a:pPr>
            <a:r>
              <a:t>Comprehensive Dual-Pipeline Architecture | Empirical Edge-IIoTset Evaluation (157,800 Records)</a:t>
            </a:r>
            <a:br/>
            <a:r>
              <a:t>Prospective Clinical Monitoring Research (MIMIC-IV) | Cyber-Physical Safety Interlocks | Full-Stack Platform</a:t>
            </a:r>
          </a:p>
          <a:p>
            <a:pPr>
              <a:defRPr sz="1100">
                <a:solidFill>
                  <a:srgbClr val="94A3B8"/>
                </a:solidFill>
                <a:latin typeface="Arial"/>
              </a:defRPr>
            </a:pPr>
            <a:r>
              <a:t>Author: Govathoty Josh Kumar  |  Project Root: ~/Code Files/MP</a:t>
            </a:r>
            <a:br/>
            <a:r>
              <a:t>Repository: Joshkumar1/Edge-Based-Intelligent-Intrusion-Detection-System-for-Smart-Healthcare-IoT-using-Generative-AI</a:t>
            </a:r>
            <a:br/>
            <a:r>
              <a:t>Execution Status: Verified End-to-End  |  Automated Tests: 90 Passed / 0 Failed  |  Date: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A — INTRODUCTION  |  SLIDE 02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Executive Summary: Complete Project Scope &amp; Delivery Verdict</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74720" cy="5029200"/>
          </a:xfrm>
          <a:prstGeom prst="roundRect">
            <a:avLst/>
          </a:prstGeom>
          <a:solidFill>
            <a:srgbClr val="16223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3108960" cy="4663440"/>
          </a:xfrm>
          <a:prstGeom prst="rect">
            <a:avLst/>
          </a:prstGeom>
          <a:noFill/>
        </p:spPr>
        <p:txBody>
          <a:bodyPr wrap="square" lIns="0" tIns="0" rIns="0" bIns="0">
            <a:spAutoFit/>
          </a:bodyPr>
          <a:lstStyle/>
          <a:p>
            <a:pPr>
              <a:spcAft>
                <a:spcPts val="1200"/>
              </a:spcAft>
              <a:defRPr sz="1300" b="1">
                <a:solidFill>
                  <a:srgbClr val="EF4444"/>
                </a:solidFill>
                <a:latin typeface="Helvetica"/>
              </a:defRPr>
            </a:pPr>
            <a:r>
              <a:t>PROBLEM STATEMENT</a:t>
            </a:r>
          </a:p>
          <a:p>
            <a:pPr>
              <a:spcAft>
                <a:spcPts val="200"/>
              </a:spcAft>
              <a:defRPr sz="1050" b="1">
                <a:solidFill>
                  <a:srgbClr val="F8FAFC"/>
                </a:solidFill>
                <a:latin typeface="Arial"/>
              </a:defRPr>
            </a:pPr>
            <a:r>
              <a:t>• Cybersecurity Gap:</a:t>
            </a:r>
          </a:p>
          <a:p>
            <a:pPr>
              <a:spcAft>
                <a:spcPts val="1000"/>
              </a:spcAft>
              <a:defRPr sz="950">
                <a:solidFill>
                  <a:srgbClr val="CBD5E1"/>
                </a:solidFill>
                <a:latin typeface="Arial"/>
              </a:defRPr>
            </a:pPr>
            <a:r>
              <a:t>Smart hospitals connect thousands of IoMT devices vulnerable to ransomware, protocol floods, and unauthorized command injections.</a:t>
            </a:r>
          </a:p>
          <a:p>
            <a:pPr>
              <a:spcAft>
                <a:spcPts val="200"/>
              </a:spcAft>
              <a:defRPr sz="1050" b="1">
                <a:solidFill>
                  <a:srgbClr val="F8FAFC"/>
                </a:solidFill>
                <a:latin typeface="Arial"/>
              </a:defRPr>
            </a:pPr>
            <a:r>
              <a:t>• Alert Fatigue:</a:t>
            </a:r>
          </a:p>
          <a:p>
            <a:pPr>
              <a:spcAft>
                <a:spcPts val="1000"/>
              </a:spcAft>
              <a:defRPr sz="950">
                <a:solidFill>
                  <a:srgbClr val="CBD5E1"/>
                </a:solidFill>
                <a:latin typeface="Arial"/>
              </a:defRPr>
            </a:pPr>
            <a:r>
              <a:t>Legacy hospital IDS trigger overwhelming false alarms with cryptic network logs, blinding clinical and SOC operators.</a:t>
            </a:r>
          </a:p>
          <a:p>
            <a:pPr>
              <a:spcAft>
                <a:spcPts val="200"/>
              </a:spcAft>
              <a:defRPr sz="1050" b="1">
                <a:solidFill>
                  <a:srgbClr val="F8FAFC"/>
                </a:solidFill>
                <a:latin typeface="Arial"/>
              </a:defRPr>
            </a:pPr>
            <a:r>
              <a:t>• Clinical Disruption:</a:t>
            </a:r>
          </a:p>
          <a:p>
            <a:pPr>
              <a:spcAft>
                <a:spcPts val="1000"/>
              </a:spcAft>
              <a:defRPr sz="950">
                <a:solidFill>
                  <a:srgbClr val="CBD5E1"/>
                </a:solidFill>
                <a:latin typeface="Arial"/>
              </a:defRPr>
            </a:pPr>
            <a:r>
              <a:t>Uncontrolled automated firewall shutdowns on medical devices risk fatal patient harm during active care.</a:t>
            </a:r>
          </a:p>
        </p:txBody>
      </p:sp>
      <p:sp>
        <p:nvSpPr>
          <p:cNvPr id="8" name="Rounded Rectangle 7"/>
          <p:cNvSpPr/>
          <p:nvPr/>
        </p:nvSpPr>
        <p:spPr>
          <a:xfrm>
            <a:off x="4370832" y="1371600"/>
            <a:ext cx="347472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554480"/>
            <a:ext cx="3108960" cy="4663440"/>
          </a:xfrm>
          <a:prstGeom prst="rect">
            <a:avLst/>
          </a:prstGeom>
          <a:noFill/>
        </p:spPr>
        <p:txBody>
          <a:bodyPr wrap="square" lIns="0" tIns="0" rIns="0" bIns="0">
            <a:spAutoFit/>
          </a:bodyPr>
          <a:lstStyle/>
          <a:p>
            <a:pPr>
              <a:spcAft>
                <a:spcPts val="1200"/>
              </a:spcAft>
              <a:defRPr sz="1300" b="1">
                <a:solidFill>
                  <a:srgbClr val="06B6D4"/>
                </a:solidFill>
                <a:latin typeface="Helvetica"/>
              </a:defRPr>
            </a:pPr>
            <a:r>
              <a:t>ENGINEERED SOLUTION</a:t>
            </a:r>
          </a:p>
          <a:p>
            <a:pPr>
              <a:spcAft>
                <a:spcPts val="200"/>
              </a:spcAft>
              <a:defRPr sz="1050" b="1">
                <a:solidFill>
                  <a:srgbClr val="F8FAFC"/>
                </a:solidFill>
                <a:latin typeface="Arial"/>
              </a:defRPr>
            </a:pPr>
            <a:r>
              <a:t>• Dual-Pipeline Engine:</a:t>
            </a:r>
          </a:p>
          <a:p>
            <a:pPr>
              <a:spcAft>
                <a:spcPts val="1000"/>
              </a:spcAft>
              <a:defRPr sz="950">
                <a:solidFill>
                  <a:srgbClr val="CBD5E1"/>
                </a:solidFill>
                <a:latin typeface="Arial"/>
              </a:defRPr>
            </a:pPr>
            <a:r>
              <a:t>Pipeline A: Sub-5ms edge intrusion detection. Pipeline B: Decoupled clinical patient vital-sign monitoring.</a:t>
            </a:r>
          </a:p>
          <a:p>
            <a:pPr>
              <a:spcAft>
                <a:spcPts val="200"/>
              </a:spcAft>
              <a:defRPr sz="1050" b="1">
                <a:solidFill>
                  <a:srgbClr val="F8FAFC"/>
                </a:solidFill>
                <a:latin typeface="Arial"/>
              </a:defRPr>
            </a:pPr>
            <a:r>
              <a:t>• Explainable AI:</a:t>
            </a:r>
          </a:p>
          <a:p>
            <a:pPr>
              <a:spcAft>
                <a:spcPts val="1000"/>
              </a:spcAft>
              <a:defRPr sz="950">
                <a:solidFill>
                  <a:srgbClr val="CBD5E1"/>
                </a:solidFill>
                <a:latin typeface="Arial"/>
              </a:defRPr>
            </a:pPr>
            <a:r>
              <a:t>Asynchronous local LLM explanations grounded in medical device manuals via retrieval-augmented generation (RAG).</a:t>
            </a:r>
          </a:p>
          <a:p>
            <a:pPr>
              <a:spcAft>
                <a:spcPts val="200"/>
              </a:spcAft>
              <a:defRPr sz="1050" b="1">
                <a:solidFill>
                  <a:srgbClr val="F8FAFC"/>
                </a:solidFill>
                <a:latin typeface="Arial"/>
              </a:defRPr>
            </a:pPr>
            <a:r>
              <a:t>• Safety Interlocks:</a:t>
            </a:r>
          </a:p>
          <a:p>
            <a:pPr>
              <a:spcAft>
                <a:spcPts val="1000"/>
              </a:spcAft>
              <a:defRPr sz="950">
                <a:solidFill>
                  <a:srgbClr val="CBD5E1"/>
                </a:solidFill>
                <a:latin typeface="Arial"/>
              </a:defRPr>
            </a:pPr>
            <a:r>
              <a:t>State machine enforcing bedside clinician overrides; isolates networks without powering down life-critical pumps.</a:t>
            </a:r>
          </a:p>
        </p:txBody>
      </p:sp>
      <p:sp>
        <p:nvSpPr>
          <p:cNvPr id="10" name="Rounded Rectangle 9"/>
          <p:cNvSpPr/>
          <p:nvPr/>
        </p:nvSpPr>
        <p:spPr>
          <a:xfrm>
            <a:off x="8010144" y="1371600"/>
            <a:ext cx="3474720" cy="502920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3" y="1554480"/>
            <a:ext cx="3108960" cy="4663440"/>
          </a:xfrm>
          <a:prstGeom prst="rect">
            <a:avLst/>
          </a:prstGeom>
          <a:noFill/>
        </p:spPr>
        <p:txBody>
          <a:bodyPr wrap="square" lIns="0" tIns="0" rIns="0" bIns="0">
            <a:spAutoFit/>
          </a:bodyPr>
          <a:lstStyle/>
          <a:p>
            <a:pPr>
              <a:spcAft>
                <a:spcPts val="1200"/>
              </a:spcAft>
              <a:defRPr sz="1300" b="1">
                <a:solidFill>
                  <a:srgbClr val="14B8A6"/>
                </a:solidFill>
                <a:latin typeface="Helvetica"/>
              </a:defRPr>
            </a:pPr>
            <a:r>
              <a:t>EMPIRICAL EVIDENCE</a:t>
            </a:r>
          </a:p>
          <a:p>
            <a:pPr>
              <a:spcAft>
                <a:spcPts val="200"/>
              </a:spcAft>
              <a:defRPr sz="1050" b="1">
                <a:solidFill>
                  <a:srgbClr val="F8FAFC"/>
                </a:solidFill>
                <a:latin typeface="Arial"/>
              </a:defRPr>
            </a:pPr>
            <a:r>
              <a:t>• Edge-IIoTset Benchmark:</a:t>
            </a:r>
          </a:p>
          <a:p>
            <a:pPr>
              <a:spcAft>
                <a:spcPts val="1000"/>
              </a:spcAft>
              <a:defRPr sz="950">
                <a:solidFill>
                  <a:srgbClr val="CBD5E1"/>
                </a:solidFill>
                <a:latin typeface="Arial"/>
              </a:defRPr>
            </a:pPr>
            <a:r>
              <a:t>157,800 records audited; Random Forest achieves 70.26% test accuracy and 86.3% F1 on flood attacks with zero IP leakage.</a:t>
            </a:r>
          </a:p>
          <a:p>
            <a:pPr>
              <a:spcAft>
                <a:spcPts val="200"/>
              </a:spcAft>
              <a:defRPr sz="1050" b="1">
                <a:solidFill>
                  <a:srgbClr val="F8FAFC"/>
                </a:solidFill>
                <a:latin typeface="Arial"/>
              </a:defRPr>
            </a:pPr>
            <a:r>
              <a:t>• Clinical Transparency:</a:t>
            </a:r>
          </a:p>
          <a:p>
            <a:pPr>
              <a:spcAft>
                <a:spcPts val="1000"/>
              </a:spcAft>
              <a:defRPr sz="950">
                <a:solidFill>
                  <a:srgbClr val="CBD5E1"/>
                </a:solidFill>
                <a:latin typeface="Arial"/>
              </a:defRPr>
            </a:pPr>
            <a:r>
              <a:t>136 MIMIC-IV stays evaluated; honest small-sample reporting (0.7600 held-out vs 0.5325 grouped CV AUC).</a:t>
            </a:r>
          </a:p>
          <a:p>
            <a:pPr>
              <a:spcAft>
                <a:spcPts val="200"/>
              </a:spcAft>
              <a:defRPr sz="1050" b="1">
                <a:solidFill>
                  <a:srgbClr val="F8FAFC"/>
                </a:solidFill>
                <a:latin typeface="Arial"/>
              </a:defRPr>
            </a:pPr>
            <a:r>
              <a:t>• Verification Sign-Off:</a:t>
            </a:r>
          </a:p>
          <a:p>
            <a:pPr>
              <a:spcAft>
                <a:spcPts val="1000"/>
              </a:spcAft>
              <a:defRPr sz="950">
                <a:solidFill>
                  <a:srgbClr val="CBD5E1"/>
                </a:solidFill>
                <a:latin typeface="Arial"/>
              </a:defRPr>
            </a:pPr>
            <a:r>
              <a:t>90/90 automated tests passing; production TypeScript bundle compiled; 0 regressions across all phases.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A — INTRODUCTION  |  SLIDE 03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Background: The Smart Healthcare &amp; IoMT Vulnerability Landscape</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300" b="1">
                <a:solidFill>
                  <a:srgbClr val="06B6D4"/>
                </a:solidFill>
                <a:latin typeface="Helvetica"/>
              </a:defRPr>
            </a:pPr>
            <a:r>
              <a:t>THE PROLIFERATION OF CONNECTED MEDICAL CARE</a:t>
            </a:r>
          </a:p>
          <a:p>
            <a:pPr>
              <a:spcAft>
                <a:spcPts val="200"/>
              </a:spcAft>
              <a:defRPr sz="1050" b="1">
                <a:solidFill>
                  <a:srgbClr val="F8FAFC"/>
                </a:solidFill>
                <a:latin typeface="Arial"/>
              </a:defRPr>
            </a:pPr>
            <a:r>
              <a:t>• Internet of Medical Things (IoMT)</a:t>
            </a:r>
          </a:p>
          <a:p>
            <a:pPr>
              <a:spcAft>
                <a:spcPts val="800"/>
              </a:spcAft>
              <a:defRPr sz="950">
                <a:solidFill>
                  <a:srgbClr val="CBD5E1"/>
                </a:solidFill>
                <a:latin typeface="Arial"/>
              </a:defRPr>
            </a:pPr>
            <a:r>
              <a:t>Hospitals deploy an average of 10 to 15 connected medical devices per ICU bed, ranging from smart infusion pumps and mechanical ventilators to DICOM PACS imaging workstations.</a:t>
            </a:r>
          </a:p>
          <a:p>
            <a:pPr>
              <a:spcAft>
                <a:spcPts val="200"/>
              </a:spcAft>
              <a:defRPr sz="1050" b="1">
                <a:solidFill>
                  <a:srgbClr val="F8FAFC"/>
                </a:solidFill>
                <a:latin typeface="Arial"/>
              </a:defRPr>
            </a:pPr>
            <a:r>
              <a:t>• Legacy Protocol Insecurity</a:t>
            </a:r>
          </a:p>
          <a:p>
            <a:pPr>
              <a:spcAft>
                <a:spcPts val="800"/>
              </a:spcAft>
              <a:defRPr sz="950">
                <a:solidFill>
                  <a:srgbClr val="CBD5E1"/>
                </a:solidFill>
                <a:latin typeface="Arial"/>
              </a:defRPr>
            </a:pPr>
            <a:r>
              <a:t>Medical telemetry protocols (Modbus/TCP, MQTT, HL7, DICOM) were originally designed for isolated clinical networks and lack embedded cryptographic authentication or payload integrity verification.</a:t>
            </a:r>
          </a:p>
          <a:p>
            <a:pPr>
              <a:spcAft>
                <a:spcPts val="200"/>
              </a:spcAft>
              <a:defRPr sz="1050" b="1">
                <a:solidFill>
                  <a:srgbClr val="F8FAFC"/>
                </a:solidFill>
                <a:latin typeface="Arial"/>
              </a:defRPr>
            </a:pPr>
            <a:r>
              <a:t>• Direct Physical Consequences</a:t>
            </a:r>
          </a:p>
          <a:p>
            <a:pPr>
              <a:spcAft>
                <a:spcPts val="800"/>
              </a:spcAft>
              <a:defRPr sz="950">
                <a:solidFill>
                  <a:srgbClr val="CBD5E1"/>
                </a:solidFill>
                <a:latin typeface="Arial"/>
              </a:defRPr>
            </a:pPr>
            <a:r>
              <a:t>Unlike standard IT enterprise networks where intrusion results primarily in data loss, IoMT compromise directly threatens patient physiology: altered drug dosages, suppressed vital alarms, or corrupted ventilator pressure.</a:t>
            </a:r>
          </a:p>
          <a:p>
            <a:pPr>
              <a:spcAft>
                <a:spcPts val="200"/>
              </a:spcAft>
              <a:defRPr sz="1050" b="1">
                <a:solidFill>
                  <a:srgbClr val="F8FAFC"/>
                </a:solidFill>
                <a:latin typeface="Arial"/>
              </a:defRPr>
            </a:pPr>
            <a:r>
              <a:t>• Edge Computing Necessity</a:t>
            </a:r>
          </a:p>
          <a:p>
            <a:pPr>
              <a:spcAft>
                <a:spcPts val="800"/>
              </a:spcAft>
              <a:defRPr sz="950">
                <a:solidFill>
                  <a:srgbClr val="CBD5E1"/>
                </a:solidFill>
                <a:latin typeface="Arial"/>
              </a:defRPr>
            </a:pPr>
            <a:r>
              <a:t>Centralized cloud processing introduces prohibitive network latency (100–500ms) and privacy concerns under HIPAA/GDPR. Real-time protection demands edge-level intelligence (&lt;5ms latency).</a:t>
            </a:r>
          </a:p>
        </p:txBody>
      </p:sp>
      <p:sp>
        <p:nvSpPr>
          <p:cNvPr id="8" name="Rounded Rectangle 7"/>
          <p:cNvSpPr/>
          <p:nvPr/>
        </p:nvSpPr>
        <p:spPr>
          <a:xfrm>
            <a:off x="6217920" y="1371600"/>
            <a:ext cx="5212080" cy="502920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300" b="1">
                <a:solidFill>
                  <a:srgbClr val="EF4444"/>
                </a:solidFill>
                <a:latin typeface="Helvetica"/>
              </a:defRPr>
            </a:pPr>
            <a:r>
              <a:t>HIGH-IMPACT IoMT CYBER ATTACK TAXONOMY</a:t>
            </a:r>
          </a:p>
          <a:p>
            <a:pPr>
              <a:spcAft>
                <a:spcPts val="200"/>
              </a:spcAft>
              <a:defRPr sz="1050" b="1">
                <a:solidFill>
                  <a:srgbClr val="F8FAFC"/>
                </a:solidFill>
                <a:latin typeface="Arial"/>
              </a:defRPr>
            </a:pPr>
            <a:r>
              <a:t>• Ransomware &amp; PACS Encryption</a:t>
            </a:r>
          </a:p>
          <a:p>
            <a:pPr>
              <a:spcAft>
                <a:spcPts val="800"/>
              </a:spcAft>
              <a:defRPr sz="950">
                <a:solidFill>
                  <a:srgbClr val="CBD5E1"/>
                </a:solidFill>
                <a:latin typeface="Arial"/>
              </a:defRPr>
            </a:pPr>
            <a:r>
              <a:t>Attackers inject encrypted payloads into radiology imaging servers, locking CT/MRI scans and disrupting emergency surgeries.</a:t>
            </a:r>
          </a:p>
          <a:p>
            <a:pPr>
              <a:spcAft>
                <a:spcPts val="200"/>
              </a:spcAft>
              <a:defRPr sz="1050" b="1">
                <a:solidFill>
                  <a:srgbClr val="F8FAFC"/>
                </a:solidFill>
                <a:latin typeface="Arial"/>
              </a:defRPr>
            </a:pPr>
            <a:r>
              <a:t>• Telemetry Protocol Flooding (DoS)</a:t>
            </a:r>
          </a:p>
          <a:p>
            <a:pPr>
              <a:spcAft>
                <a:spcPts val="800"/>
              </a:spcAft>
              <a:defRPr sz="950">
                <a:solidFill>
                  <a:srgbClr val="CBD5E1"/>
                </a:solidFill>
                <a:latin typeface="Arial"/>
              </a:defRPr>
            </a:pPr>
            <a:r>
              <a:t>Volumetric packet bursts over MQTT or UDP saturate wireless gateway buffers, delaying vital sign updates and silencing cardiac arrest alarms.</a:t>
            </a:r>
          </a:p>
          <a:p>
            <a:pPr>
              <a:spcAft>
                <a:spcPts val="200"/>
              </a:spcAft>
              <a:defRPr sz="1050" b="1">
                <a:solidFill>
                  <a:srgbClr val="F8FAFC"/>
                </a:solidFill>
                <a:latin typeface="Arial"/>
              </a:defRPr>
            </a:pPr>
            <a:r>
              <a:t>• Unauthorized Command Injection</a:t>
            </a:r>
          </a:p>
          <a:p>
            <a:pPr>
              <a:spcAft>
                <a:spcPts val="800"/>
              </a:spcAft>
              <a:defRPr sz="950">
                <a:solidFill>
                  <a:srgbClr val="CBD5E1"/>
                </a:solidFill>
                <a:latin typeface="Arial"/>
              </a:defRPr>
            </a:pPr>
            <a:r>
              <a:t>Attackers forge Modbus function codes (05/06 write commands) to silently alter drug infusion rates or ventilator PEEP pressure settings.</a:t>
            </a:r>
          </a:p>
          <a:p>
            <a:pPr>
              <a:spcAft>
                <a:spcPts val="200"/>
              </a:spcAft>
              <a:defRPr sz="1050" b="1">
                <a:solidFill>
                  <a:srgbClr val="F8FAFC"/>
                </a:solidFill>
                <a:latin typeface="Arial"/>
              </a:defRPr>
            </a:pPr>
            <a:r>
              <a:t>• Man-in-the-Middle (MITM) &amp; Replay</a:t>
            </a:r>
          </a:p>
          <a:p>
            <a:pPr>
              <a:spcAft>
                <a:spcPts val="800"/>
              </a:spcAft>
              <a:defRPr sz="950">
                <a:solidFill>
                  <a:srgbClr val="CBD5E1"/>
                </a:solidFill>
                <a:latin typeface="Arial"/>
              </a:defRPr>
            </a:pPr>
            <a:r>
              <a:t>ARP spoofing allows adversaries to intercept physiological telemetry and replay benign vitals while a patient deteriorates.</a:t>
            </a:r>
          </a:p>
          <a:p>
            <a:pPr>
              <a:spcAft>
                <a:spcPts val="200"/>
              </a:spcAft>
              <a:defRPr sz="1050" b="1">
                <a:solidFill>
                  <a:srgbClr val="F8FAFC"/>
                </a:solidFill>
                <a:latin typeface="Arial"/>
              </a:defRPr>
            </a:pPr>
            <a:r>
              <a:t>• Vulnerability Scanning &amp; Reconnaissance</a:t>
            </a:r>
          </a:p>
          <a:p>
            <a:pPr>
              <a:spcAft>
                <a:spcPts val="800"/>
              </a:spcAft>
              <a:defRPr sz="950">
                <a:solidFill>
                  <a:srgbClr val="CBD5E1"/>
                </a:solidFill>
                <a:latin typeface="Arial"/>
              </a:defRPr>
            </a:pPr>
            <a:r>
              <a:t>Automated port sweeps probe legacy unpatched firmware versions to discover exploitable clinical endpoints.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A — INTRODUCTION  |  SLIDE 04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Problem Statement: The Operational &amp; Cyber-Physical Safety Triad</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74720" cy="502920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3108960" cy="4663440"/>
          </a:xfrm>
          <a:prstGeom prst="rect">
            <a:avLst/>
          </a:prstGeom>
          <a:noFill/>
        </p:spPr>
        <p:txBody>
          <a:bodyPr wrap="square" lIns="0" tIns="0" rIns="0" bIns="0">
            <a:spAutoFit/>
          </a:bodyPr>
          <a:lstStyle/>
          <a:p>
            <a:pPr>
              <a:spcAft>
                <a:spcPts val="1400"/>
              </a:spcAft>
              <a:defRPr sz="1150" b="1">
                <a:solidFill>
                  <a:srgbClr val="F59E0B"/>
                </a:solidFill>
                <a:latin typeface="Helvetica"/>
              </a:defRPr>
            </a:pPr>
            <a:r>
              <a:t>1. ALERT FATIGUE &amp; OBSCURE NETWORK TELEMETRY</a:t>
            </a:r>
          </a:p>
          <a:p>
            <a:pPr>
              <a:spcAft>
                <a:spcPts val="200"/>
              </a:spcAft>
              <a:defRPr sz="1000" b="1">
                <a:solidFill>
                  <a:srgbClr val="F8FAFC"/>
                </a:solidFill>
                <a:latin typeface="Arial"/>
              </a:defRPr>
            </a:pPr>
            <a:r>
              <a:t>• The Cognitive Overload Problem:</a:t>
            </a:r>
          </a:p>
          <a:p>
            <a:pPr>
              <a:spcAft>
                <a:spcPts val="1200"/>
              </a:spcAft>
              <a:defRPr sz="900">
                <a:solidFill>
                  <a:srgbClr val="CBD5E1"/>
                </a:solidFill>
                <a:latin typeface="Arial"/>
              </a:defRPr>
            </a:pPr>
            <a:r>
              <a:t>Traditional Rule-Based and Snort/Suricata IDS generate thousands of unprioritized alerts daily, with false-positive rates exceeding 95%.</a:t>
            </a:r>
          </a:p>
          <a:p>
            <a:pPr>
              <a:spcAft>
                <a:spcPts val="200"/>
              </a:spcAft>
              <a:defRPr sz="1000" b="1">
                <a:solidFill>
                  <a:srgbClr val="F8FAFC"/>
                </a:solidFill>
                <a:latin typeface="Arial"/>
              </a:defRPr>
            </a:pPr>
            <a:r>
              <a:t>• Lack of Clinical Translation:</a:t>
            </a:r>
          </a:p>
          <a:p>
            <a:pPr>
              <a:spcAft>
                <a:spcPts val="1200"/>
              </a:spcAft>
              <a:defRPr sz="900">
                <a:solidFill>
                  <a:srgbClr val="CBD5E1"/>
                </a:solidFill>
                <a:latin typeface="Arial"/>
              </a:defRPr>
            </a:pPr>
            <a:r>
              <a:t>Alerts output raw hexadecimal PCAP offsets or IP tuples that hospital clinical engineers and nursing staff cannot interpret during emergencies.</a:t>
            </a:r>
          </a:p>
          <a:p>
            <a:pPr>
              <a:spcAft>
                <a:spcPts val="200"/>
              </a:spcAft>
              <a:defRPr sz="1000" b="1">
                <a:solidFill>
                  <a:srgbClr val="F8FAFC"/>
                </a:solidFill>
                <a:latin typeface="Arial"/>
              </a:defRPr>
            </a:pPr>
            <a:r>
              <a:t>• Result:</a:t>
            </a:r>
          </a:p>
          <a:p>
            <a:pPr>
              <a:spcAft>
                <a:spcPts val="1200"/>
              </a:spcAft>
              <a:defRPr sz="900">
                <a:solidFill>
                  <a:srgbClr val="CBD5E1"/>
                </a:solidFill>
                <a:latin typeface="Arial"/>
              </a:defRPr>
            </a:pPr>
            <a:r>
              <a:t>Critical cyber events are ignored or dismissed as nuisance alarms, leaving hospitals exposed for an average of 200+ days before detection.</a:t>
            </a:r>
          </a:p>
        </p:txBody>
      </p:sp>
      <p:sp>
        <p:nvSpPr>
          <p:cNvPr id="8" name="Rounded Rectangle 7"/>
          <p:cNvSpPr/>
          <p:nvPr/>
        </p:nvSpPr>
        <p:spPr>
          <a:xfrm>
            <a:off x="4370832" y="1371600"/>
            <a:ext cx="3474720" cy="5029200"/>
          </a:xfrm>
          <a:prstGeom prst="roundRect">
            <a:avLst/>
          </a:prstGeom>
          <a:solidFill>
            <a:srgbClr val="16223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554480"/>
            <a:ext cx="3108960" cy="4663440"/>
          </a:xfrm>
          <a:prstGeom prst="rect">
            <a:avLst/>
          </a:prstGeom>
          <a:noFill/>
        </p:spPr>
        <p:txBody>
          <a:bodyPr wrap="square" lIns="0" tIns="0" rIns="0" bIns="0">
            <a:spAutoFit/>
          </a:bodyPr>
          <a:lstStyle/>
          <a:p>
            <a:pPr>
              <a:spcAft>
                <a:spcPts val="1400"/>
              </a:spcAft>
              <a:defRPr sz="1150" b="1">
                <a:solidFill>
                  <a:srgbClr val="EF4444"/>
                </a:solidFill>
                <a:latin typeface="Helvetica"/>
              </a:defRPr>
            </a:pPr>
            <a:r>
              <a:t>2. THE CYBER-PHYSICAL PATIENT SAFETY HAZARD</a:t>
            </a:r>
          </a:p>
          <a:p>
            <a:pPr>
              <a:spcAft>
                <a:spcPts val="200"/>
              </a:spcAft>
              <a:defRPr sz="1000" b="1">
                <a:solidFill>
                  <a:srgbClr val="F8FAFC"/>
                </a:solidFill>
                <a:latin typeface="Arial"/>
              </a:defRPr>
            </a:pPr>
            <a:r>
              <a:t>• Blind IT Isolation Policies:</a:t>
            </a:r>
          </a:p>
          <a:p>
            <a:pPr>
              <a:spcAft>
                <a:spcPts val="1200"/>
              </a:spcAft>
              <a:defRPr sz="900">
                <a:solidFill>
                  <a:srgbClr val="CBD5E1"/>
                </a:solidFill>
                <a:latin typeface="Arial"/>
              </a:defRPr>
            </a:pPr>
            <a:r>
              <a:t>Standard IT cybersecurity playbooks dictate immediate network port shutdown or host isolation upon detecting an anomaly.</a:t>
            </a:r>
          </a:p>
          <a:p>
            <a:pPr>
              <a:spcAft>
                <a:spcPts val="200"/>
              </a:spcAft>
              <a:defRPr sz="1000" b="1">
                <a:solidFill>
                  <a:srgbClr val="F8FAFC"/>
                </a:solidFill>
                <a:latin typeface="Arial"/>
              </a:defRPr>
            </a:pPr>
            <a:r>
              <a:t>• Lethal Medical Side-Effects:</a:t>
            </a:r>
          </a:p>
          <a:p>
            <a:pPr>
              <a:spcAft>
                <a:spcPts val="1200"/>
              </a:spcAft>
              <a:defRPr sz="900">
                <a:solidFill>
                  <a:srgbClr val="CBD5E1"/>
                </a:solidFill>
                <a:latin typeface="Arial"/>
              </a:defRPr>
            </a:pPr>
            <a:r>
              <a:t>If an autonomous firewall isolates a smart infusion pump delivering norepinephrine or a ventilator in mid-breath, the patient can suffer irreversible injury or death.</a:t>
            </a:r>
          </a:p>
          <a:p>
            <a:pPr>
              <a:spcAft>
                <a:spcPts val="200"/>
              </a:spcAft>
              <a:defRPr sz="1000" b="1">
                <a:solidFill>
                  <a:srgbClr val="F8FAFC"/>
                </a:solidFill>
                <a:latin typeface="Arial"/>
              </a:defRPr>
            </a:pPr>
            <a:r>
              <a:t>• Result:</a:t>
            </a:r>
          </a:p>
          <a:p>
            <a:pPr>
              <a:spcAft>
                <a:spcPts val="1200"/>
              </a:spcAft>
              <a:defRPr sz="900">
                <a:solidFill>
                  <a:srgbClr val="CBD5E1"/>
                </a:solidFill>
                <a:latin typeface="Arial"/>
              </a:defRPr>
            </a:pPr>
            <a:r>
              <a:t>Cybersecurity enforcement without medical context is as dangerous as the cyber attack itself.</a:t>
            </a:r>
          </a:p>
        </p:txBody>
      </p:sp>
      <p:sp>
        <p:nvSpPr>
          <p:cNvPr id="10" name="Rounded Rectangle 9"/>
          <p:cNvSpPr/>
          <p:nvPr/>
        </p:nvSpPr>
        <p:spPr>
          <a:xfrm>
            <a:off x="8010144" y="1371600"/>
            <a:ext cx="3474720" cy="5029200"/>
          </a:xfrm>
          <a:prstGeom prst="roundRect">
            <a:avLst/>
          </a:prstGeom>
          <a:solidFill>
            <a:srgbClr val="162238"/>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3" y="1554480"/>
            <a:ext cx="3108960" cy="4663440"/>
          </a:xfrm>
          <a:prstGeom prst="rect">
            <a:avLst/>
          </a:prstGeom>
          <a:noFill/>
        </p:spPr>
        <p:txBody>
          <a:bodyPr wrap="square" lIns="0" tIns="0" rIns="0" bIns="0">
            <a:spAutoFit/>
          </a:bodyPr>
          <a:lstStyle/>
          <a:p>
            <a:pPr>
              <a:spcAft>
                <a:spcPts val="1400"/>
              </a:spcAft>
              <a:defRPr sz="1150" b="1">
                <a:solidFill>
                  <a:srgbClr val="6366F1"/>
                </a:solidFill>
                <a:latin typeface="Helvetica"/>
              </a:defRPr>
            </a:pPr>
            <a:r>
              <a:t>3. CONFLATION OF CYBERSECURITY &amp; CLINICAL DATA</a:t>
            </a:r>
          </a:p>
          <a:p>
            <a:pPr>
              <a:spcAft>
                <a:spcPts val="200"/>
              </a:spcAft>
              <a:defRPr sz="1000" b="1">
                <a:solidFill>
                  <a:srgbClr val="F8FAFC"/>
                </a:solidFill>
                <a:latin typeface="Arial"/>
              </a:defRPr>
            </a:pPr>
            <a:r>
              <a:t>• Methodological Leakage Risks:</a:t>
            </a:r>
          </a:p>
          <a:p>
            <a:pPr>
              <a:spcAft>
                <a:spcPts val="1200"/>
              </a:spcAft>
              <a:defRPr sz="900">
                <a:solidFill>
                  <a:srgbClr val="CBD5E1"/>
                </a:solidFill>
                <a:latin typeface="Arial"/>
              </a:defRPr>
            </a:pPr>
            <a:r>
              <a:t>Many prior academic frameworks conflate network packet statistics with patient physiological vital signs in single black-box models.</a:t>
            </a:r>
          </a:p>
          <a:p>
            <a:pPr>
              <a:spcAft>
                <a:spcPts val="200"/>
              </a:spcAft>
              <a:defRPr sz="1000" b="1">
                <a:solidFill>
                  <a:srgbClr val="F8FAFC"/>
                </a:solidFill>
                <a:latin typeface="Arial"/>
              </a:defRPr>
            </a:pPr>
            <a:r>
              <a:t>• False Generalization:</a:t>
            </a:r>
          </a:p>
          <a:p>
            <a:pPr>
              <a:spcAft>
                <a:spcPts val="1200"/>
              </a:spcAft>
              <a:defRPr sz="900">
                <a:solidFill>
                  <a:srgbClr val="CBD5E1"/>
                </a:solidFill>
                <a:latin typeface="Arial"/>
              </a:defRPr>
            </a:pPr>
            <a:r>
              <a:t>Network telemetry fluctuates with network topology; clinical deterioration reflects human pathophysiology. Sharing extractors creates severe target leakage.</a:t>
            </a:r>
          </a:p>
          <a:p>
            <a:pPr>
              <a:spcAft>
                <a:spcPts val="200"/>
              </a:spcAft>
              <a:defRPr sz="1000" b="1">
                <a:solidFill>
                  <a:srgbClr val="F8FAFC"/>
                </a:solidFill>
                <a:latin typeface="Arial"/>
              </a:defRPr>
            </a:pPr>
            <a:r>
              <a:t>• Result:</a:t>
            </a:r>
          </a:p>
          <a:p>
            <a:pPr>
              <a:spcAft>
                <a:spcPts val="1200"/>
              </a:spcAft>
              <a:defRPr sz="900">
                <a:solidFill>
                  <a:srgbClr val="CBD5E1"/>
                </a:solidFill>
                <a:latin typeface="Arial"/>
              </a:defRPr>
            </a:pPr>
            <a:r>
              <a:t>Models appear to predict mortality based on network packet sizes, failing catastrophically in clinical practice.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A — INTRODUCTION  |  SLIDE 05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Objectives &amp; Engineering Scope: Boundaries of Delivery</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300" b="1">
                <a:solidFill>
                  <a:srgbClr val="06B6D4"/>
                </a:solidFill>
                <a:latin typeface="Helvetica"/>
              </a:defRPr>
            </a:pPr>
            <a:r>
              <a:t>CORE PROJECT OBJECTIVES</a:t>
            </a:r>
          </a:p>
          <a:p>
            <a:pPr>
              <a:spcAft>
                <a:spcPts val="200"/>
              </a:spcAft>
              <a:defRPr sz="1000" b="1">
                <a:solidFill>
                  <a:srgbClr val="F8FAFC"/>
                </a:solidFill>
                <a:latin typeface="Arial"/>
              </a:defRPr>
            </a:pPr>
            <a:r>
              <a:t>• 1. Sub-5ms Edge Intrusion Detection</a:t>
            </a:r>
          </a:p>
          <a:p>
            <a:pPr>
              <a:spcAft>
                <a:spcPts val="800"/>
              </a:spcAft>
              <a:defRPr sz="900">
                <a:solidFill>
                  <a:srgbClr val="CBD5E1"/>
                </a:solidFill>
                <a:latin typeface="Arial"/>
              </a:defRPr>
            </a:pPr>
            <a:r>
              <a:t>Engineer an empirical multi-class ML detection engine capable of analyzing network telemetry in real-time at the edge with low memory footprint.</a:t>
            </a:r>
          </a:p>
          <a:p>
            <a:pPr>
              <a:spcAft>
                <a:spcPts val="200"/>
              </a:spcAft>
              <a:defRPr sz="1000" b="1">
                <a:solidFill>
                  <a:srgbClr val="F8FAFC"/>
                </a:solidFill>
                <a:latin typeface="Arial"/>
              </a:defRPr>
            </a:pPr>
            <a:r>
              <a:t>• 2. Explainable AI via Local LLM &amp; RAG</a:t>
            </a:r>
          </a:p>
          <a:p>
            <a:pPr>
              <a:spcAft>
                <a:spcPts val="800"/>
              </a:spcAft>
              <a:defRPr sz="900">
                <a:solidFill>
                  <a:srgbClr val="CBD5E1"/>
                </a:solidFill>
                <a:latin typeface="Arial"/>
              </a:defRPr>
            </a:pPr>
            <a:r>
              <a:t>Decouple detection from explainability: generate natural-language clinical context and actionable mitigations asynchronously using local LLMs and PDF manuals.</a:t>
            </a:r>
          </a:p>
          <a:p>
            <a:pPr>
              <a:spcAft>
                <a:spcPts val="200"/>
              </a:spcAft>
              <a:defRPr sz="1000" b="1">
                <a:solidFill>
                  <a:srgbClr val="F8FAFC"/>
                </a:solidFill>
                <a:latin typeface="Arial"/>
              </a:defRPr>
            </a:pPr>
            <a:r>
              <a:t>• 3. Cyber-Physical Safety Interlock System</a:t>
            </a:r>
          </a:p>
          <a:p>
            <a:pPr>
              <a:spcAft>
                <a:spcPts val="800"/>
              </a:spcAft>
              <a:defRPr sz="900">
                <a:solidFill>
                  <a:srgbClr val="CBD5E1"/>
                </a:solidFill>
                <a:latin typeface="Arial"/>
              </a:defRPr>
            </a:pPr>
            <a:r>
              <a:t>Develop an automated state machine that prevents autonomous network isolation of life-critical equipment and requires bedside clinical confirmation.</a:t>
            </a:r>
          </a:p>
          <a:p>
            <a:pPr>
              <a:spcAft>
                <a:spcPts val="200"/>
              </a:spcAft>
              <a:defRPr sz="1000" b="1">
                <a:solidFill>
                  <a:srgbClr val="F8FAFC"/>
                </a:solidFill>
                <a:latin typeface="Arial"/>
              </a:defRPr>
            </a:pPr>
            <a:r>
              <a:t>• 4. Real Benchmark Validation (Edge-IIoTset)</a:t>
            </a:r>
          </a:p>
          <a:p>
            <a:pPr>
              <a:spcAft>
                <a:spcPts val="800"/>
              </a:spcAft>
              <a:defRPr sz="900">
                <a:solidFill>
                  <a:srgbClr val="CBD5E1"/>
                </a:solidFill>
                <a:latin typeface="Arial"/>
              </a:defRPr>
            </a:pPr>
            <a:r>
              <a:t>Validate detection models on 157,800 real network records with zero scenario leakage and held-out OOD threat evaluation.</a:t>
            </a:r>
          </a:p>
          <a:p>
            <a:pPr>
              <a:spcAft>
                <a:spcPts val="200"/>
              </a:spcAft>
              <a:defRPr sz="1000" b="1">
                <a:solidFill>
                  <a:srgbClr val="F8FAFC"/>
                </a:solidFill>
                <a:latin typeface="Arial"/>
              </a:defRPr>
            </a:pPr>
            <a:r>
              <a:t>• 5. Prospective Clinical Monitoring Baseline</a:t>
            </a:r>
          </a:p>
          <a:p>
            <a:pPr>
              <a:spcAft>
                <a:spcPts val="800"/>
              </a:spcAft>
              <a:defRPr sz="900">
                <a:solidFill>
                  <a:srgbClr val="CBD5E1"/>
                </a:solidFill>
                <a:latin typeface="Arial"/>
              </a:defRPr>
            </a:pPr>
            <a:r>
              <a:t>Establish an honest, leakage-free 24-hour vital sign mortality baseline on MIMIC-IV Demo with patient-level grouped splitting and transparent uncertainty reporting.</a:t>
            </a:r>
          </a:p>
        </p:txBody>
      </p:sp>
      <p:sp>
        <p:nvSpPr>
          <p:cNvPr id="8" name="Rounded Rectangle 7"/>
          <p:cNvSpPr/>
          <p:nvPr/>
        </p:nvSpPr>
        <p:spPr>
          <a:xfrm>
            <a:off x="6217920" y="1371600"/>
            <a:ext cx="5212080" cy="502920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300" b="1">
                <a:solidFill>
                  <a:srgbClr val="F59E0B"/>
                </a:solidFill>
                <a:latin typeface="Helvetica"/>
              </a:defRPr>
            </a:pPr>
            <a:r>
              <a:t>DELIVERY BOUNDARIES &amp; EXPLICIT LIMITATIONS</a:t>
            </a:r>
          </a:p>
          <a:p>
            <a:pPr>
              <a:spcAft>
                <a:spcPts val="200"/>
              </a:spcAft>
              <a:defRPr sz="1000" b="1">
                <a:solidFill>
                  <a:srgbClr val="F8FAFC"/>
                </a:solidFill>
                <a:latin typeface="Arial"/>
              </a:defRPr>
            </a:pPr>
            <a:r>
              <a:t>• In-Scope: Edge Anomaly &amp; Threat Classification</a:t>
            </a:r>
          </a:p>
          <a:p>
            <a:pPr>
              <a:spcAft>
                <a:spcPts val="800"/>
              </a:spcAft>
              <a:defRPr sz="900">
                <a:solidFill>
                  <a:srgbClr val="CBD5E1"/>
                </a:solidFill>
                <a:latin typeface="Arial"/>
              </a:defRPr>
            </a:pPr>
            <a:r>
              <a:t>Multi-class categorization into 6 canonical categories (Normal, Flood DoS, Ransomware, Command Injection, Reconnaissance, Spoofing) + Isolation Forest anomaly detection.</a:t>
            </a:r>
          </a:p>
          <a:p>
            <a:pPr>
              <a:spcAft>
                <a:spcPts val="200"/>
              </a:spcAft>
              <a:defRPr sz="1000" b="1">
                <a:solidFill>
                  <a:srgbClr val="F8FAFC"/>
                </a:solidFill>
                <a:latin typeface="Arial"/>
              </a:defRPr>
            </a:pPr>
            <a:r>
              <a:t>• In-Scope: Dual Enforcement Simulation &amp; Linux Iptables</a:t>
            </a:r>
          </a:p>
          <a:p>
            <a:pPr>
              <a:spcAft>
                <a:spcPts val="800"/>
              </a:spcAft>
              <a:defRPr sz="900">
                <a:solidFill>
                  <a:srgbClr val="CBD5E1"/>
                </a:solidFill>
                <a:latin typeface="Arial"/>
              </a:defRPr>
            </a:pPr>
            <a:r>
              <a:t>Fully verified simulation adapter with rollback + Linux host firewall adapter tested under controlled authorization.</a:t>
            </a:r>
          </a:p>
          <a:p>
            <a:pPr>
              <a:spcAft>
                <a:spcPts val="200"/>
              </a:spcAft>
              <a:defRPr sz="1000" b="1">
                <a:solidFill>
                  <a:srgbClr val="F8FAFC"/>
                </a:solidFill>
                <a:latin typeface="Arial"/>
              </a:defRPr>
            </a:pPr>
            <a:r>
              <a:t>• Out-of-Scope: Live Hospital Bedside Deployment</a:t>
            </a:r>
          </a:p>
          <a:p>
            <a:pPr>
              <a:spcAft>
                <a:spcPts val="800"/>
              </a:spcAft>
              <a:defRPr sz="900">
                <a:solidFill>
                  <a:srgbClr val="CBD5E1"/>
                </a:solidFill>
                <a:latin typeface="Arial"/>
              </a:defRPr>
            </a:pPr>
            <a:r>
              <a:t>EdgeShield AI is an academic research prototype. It is NOT FDA/CE-marked and must not be used for live unmonitored patient intervention.</a:t>
            </a:r>
          </a:p>
          <a:p>
            <a:pPr>
              <a:spcAft>
                <a:spcPts val="200"/>
              </a:spcAft>
              <a:defRPr sz="1000" b="1">
                <a:solidFill>
                  <a:srgbClr val="F8FAFC"/>
                </a:solidFill>
                <a:latin typeface="Arial"/>
              </a:defRPr>
            </a:pPr>
            <a:r>
              <a:t>• Out-of-Scope: Clinical Diagnostic Claims</a:t>
            </a:r>
          </a:p>
          <a:p>
            <a:pPr>
              <a:spcAft>
                <a:spcPts val="800"/>
              </a:spcAft>
              <a:defRPr sz="900">
                <a:solidFill>
                  <a:srgbClr val="CBD5E1"/>
                </a:solidFill>
                <a:latin typeface="Arial"/>
              </a:defRPr>
            </a:pPr>
            <a:r>
              <a:t>The MIMIC-IV mortality prediction model is strictly exploratory. With 18 deaths in 136 stays, statistical power is insufficient for clinical triage claims.</a:t>
            </a:r>
          </a:p>
          <a:p>
            <a:pPr>
              <a:spcAft>
                <a:spcPts val="200"/>
              </a:spcAft>
              <a:defRPr sz="1000" b="1">
                <a:solidFill>
                  <a:srgbClr val="F8FAFC"/>
                </a:solidFill>
                <a:latin typeface="Arial"/>
              </a:defRPr>
            </a:pPr>
            <a:r>
              <a:t>• Out-of-Scope: Zero-Day Guarantee</a:t>
            </a:r>
          </a:p>
          <a:p>
            <a:pPr>
              <a:spcAft>
                <a:spcPts val="800"/>
              </a:spcAft>
              <a:defRPr sz="900">
                <a:solidFill>
                  <a:srgbClr val="CBD5E1"/>
                </a:solidFill>
                <a:latin typeface="Arial"/>
              </a:defRPr>
            </a:pPr>
            <a:r>
              <a:t>Isolation Forest provides unsupervised novelty detection for held-out threats, but cannot guarantee 100% detection of arbitrary novel zero-day attacks.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B — ARCHITECTURE  |  SLIDE 06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Overall System Architecture: 4-Tier Edge-Native Design</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246888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2194560" cy="4663440"/>
          </a:xfrm>
          <a:prstGeom prst="rect">
            <a:avLst/>
          </a:prstGeom>
          <a:noFill/>
        </p:spPr>
        <p:txBody>
          <a:bodyPr wrap="square" lIns="0" tIns="0" rIns="0" bIns="0">
            <a:spAutoFit/>
          </a:bodyPr>
          <a:lstStyle/>
          <a:p>
            <a:pPr>
              <a:spcAft>
                <a:spcPts val="1200"/>
              </a:spcAft>
              <a:defRPr sz="1100" b="1">
                <a:solidFill>
                  <a:srgbClr val="06B6D4"/>
                </a:solidFill>
                <a:latin typeface="Helvetica"/>
              </a:defRPr>
            </a:pPr>
            <a:r>
              <a:t>TIER 1: EDGE TELEMETRY</a:t>
            </a:r>
            <a:br/>
            <a:r>
              <a:t>&amp; SENSING</a:t>
            </a:r>
          </a:p>
          <a:p>
            <a:pPr>
              <a:defRPr sz="950" b="1">
                <a:solidFill>
                  <a:srgbClr val="F8FAFC"/>
                </a:solidFill>
              </a:defRPr>
            </a:pPr>
            <a:r>
              <a:t>• IoMT Medical Devices:</a:t>
            </a:r>
          </a:p>
          <a:p>
            <a:pPr>
              <a:spcAft>
                <a:spcPts val="800"/>
              </a:spcAft>
              <a:defRPr sz="850">
                <a:solidFill>
                  <a:srgbClr val="CBD5E1"/>
                </a:solidFill>
              </a:defRPr>
            </a:pPr>
            <a:r>
              <a:t>Infusion pumps, ICU monitors, ventilators, PACS DICOM.</a:t>
            </a:r>
          </a:p>
          <a:p>
            <a:pPr>
              <a:defRPr sz="950" b="1">
                <a:solidFill>
                  <a:srgbClr val="F8FAFC"/>
                </a:solidFill>
              </a:defRPr>
            </a:pPr>
            <a:r>
              <a:t>• Protocol Handlers:</a:t>
            </a:r>
          </a:p>
          <a:p>
            <a:pPr>
              <a:spcAft>
                <a:spcPts val="800"/>
              </a:spcAft>
              <a:defRPr sz="850">
                <a:solidFill>
                  <a:srgbClr val="CBD5E1"/>
                </a:solidFill>
              </a:defRPr>
            </a:pPr>
            <a:r>
              <a:t>Modbus/TCP (502), MQTT (1883), DICOM (104), HL7 (2575).</a:t>
            </a:r>
          </a:p>
          <a:p>
            <a:pPr>
              <a:defRPr sz="950" b="1">
                <a:solidFill>
                  <a:srgbClr val="F8FAFC"/>
                </a:solidFill>
              </a:defRPr>
            </a:pPr>
            <a:r>
              <a:t>• Dual Ingestion Paths:</a:t>
            </a:r>
          </a:p>
          <a:p>
            <a:pPr>
              <a:spcAft>
                <a:spcPts val="800"/>
              </a:spcAft>
              <a:defRPr sz="850">
                <a:solidFill>
                  <a:srgbClr val="CBD5E1"/>
                </a:solidFill>
              </a:defRPr>
            </a:pPr>
            <a:r>
              <a:t>Live edge packet stream + Synthetic/OOD attack injector.</a:t>
            </a:r>
          </a:p>
          <a:p>
            <a:pPr>
              <a:defRPr sz="950" b="1">
                <a:solidFill>
                  <a:srgbClr val="F8FAFC"/>
                </a:solidFill>
              </a:defRPr>
            </a:pPr>
            <a:r>
              <a:t>• Provenance Tagging:</a:t>
            </a:r>
          </a:p>
          <a:p>
            <a:pPr>
              <a:spcAft>
                <a:spcPts val="800"/>
              </a:spcAft>
              <a:defRPr sz="850">
                <a:solidFill>
                  <a:srgbClr val="CBD5E1"/>
                </a:solidFill>
              </a:defRPr>
            </a:pPr>
            <a:r>
              <a:t>Explicit TrafficOrigin metadata: LIVE vs SIMULATOR.</a:t>
            </a:r>
          </a:p>
        </p:txBody>
      </p:sp>
      <p:sp>
        <p:nvSpPr>
          <p:cNvPr id="8" name="Rounded Rectangle 7"/>
          <p:cNvSpPr/>
          <p:nvPr/>
        </p:nvSpPr>
        <p:spPr>
          <a:xfrm>
            <a:off x="3474720" y="1371600"/>
            <a:ext cx="2468880" cy="5029200"/>
          </a:xfrm>
          <a:prstGeom prst="roundRect">
            <a:avLst/>
          </a:prstGeom>
          <a:solidFill>
            <a:srgbClr val="162238"/>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1554480"/>
            <a:ext cx="2194560" cy="4663440"/>
          </a:xfrm>
          <a:prstGeom prst="rect">
            <a:avLst/>
          </a:prstGeom>
          <a:noFill/>
        </p:spPr>
        <p:txBody>
          <a:bodyPr wrap="square" lIns="0" tIns="0" rIns="0" bIns="0">
            <a:spAutoFit/>
          </a:bodyPr>
          <a:lstStyle/>
          <a:p>
            <a:pPr>
              <a:spcAft>
                <a:spcPts val="1200"/>
              </a:spcAft>
              <a:defRPr sz="1100" b="1">
                <a:solidFill>
                  <a:srgbClr val="6366F1"/>
                </a:solidFill>
                <a:latin typeface="Helvetica"/>
              </a:defRPr>
            </a:pPr>
            <a:r>
              <a:t>TIER 2: CANONICAL</a:t>
            </a:r>
            <a:br/>
            <a:r>
              <a:t>DETECTION PIPELINE</a:t>
            </a:r>
          </a:p>
          <a:p>
            <a:pPr>
              <a:defRPr sz="950" b="1">
                <a:solidFill>
                  <a:srgbClr val="F8FAFC"/>
                </a:solidFill>
              </a:defRPr>
            </a:pPr>
            <a:r>
              <a:t>• Device Resolution:</a:t>
            </a:r>
          </a:p>
          <a:p>
            <a:pPr>
              <a:spcAft>
                <a:spcPts val="800"/>
              </a:spcAft>
              <a:defRPr sz="850">
                <a:solidFill>
                  <a:srgbClr val="CBD5E1"/>
                </a:solidFill>
              </a:defRPr>
            </a:pPr>
            <a:r>
              <a:t>IP/MAC mapping to Device Inventory (Matched, Unregistered, Ambiguous).</a:t>
            </a:r>
          </a:p>
          <a:p>
            <a:pPr>
              <a:defRPr sz="950" b="1">
                <a:solidFill>
                  <a:srgbClr val="F8FAFC"/>
                </a:solidFill>
              </a:defRPr>
            </a:pPr>
            <a:r>
              <a:t>• Dual-Stage ML Scoring:</a:t>
            </a:r>
          </a:p>
          <a:p>
            <a:pPr>
              <a:spcAft>
                <a:spcPts val="800"/>
              </a:spcAft>
              <a:defRPr sz="850">
                <a:solidFill>
                  <a:srgbClr val="CBD5E1"/>
                </a:solidFill>
              </a:defRPr>
            </a:pPr>
            <a:r>
              <a:t>Stage 1: Isolation Forest anomaly score. Stage 2: Supervised threat classifier.</a:t>
            </a:r>
          </a:p>
          <a:p>
            <a:pPr>
              <a:defRPr sz="950" b="1">
                <a:solidFill>
                  <a:srgbClr val="F8FAFC"/>
                </a:solidFill>
              </a:defRPr>
            </a:pPr>
            <a:r>
              <a:t>• Alert Aggregation:</a:t>
            </a:r>
          </a:p>
          <a:p>
            <a:pPr>
              <a:spcAft>
                <a:spcPts val="800"/>
              </a:spcAft>
              <a:defRPr sz="850">
                <a:solidFill>
                  <a:srgbClr val="CBD5E1"/>
                </a:solidFill>
              </a:defRPr>
            </a:pPr>
            <a:r>
              <a:t>60-second sliding flood window; deduplicates alert storms.</a:t>
            </a:r>
          </a:p>
          <a:p>
            <a:pPr>
              <a:defRPr sz="950" b="1">
                <a:solidFill>
                  <a:srgbClr val="F8FAFC"/>
                </a:solidFill>
              </a:defRPr>
            </a:pPr>
            <a:r>
              <a:t>• Rolling Risk Decay:</a:t>
            </a:r>
          </a:p>
          <a:p>
            <a:pPr>
              <a:spcAft>
                <a:spcPts val="800"/>
              </a:spcAft>
              <a:defRPr sz="850">
                <a:solidFill>
                  <a:srgbClr val="CBD5E1"/>
                </a:solidFill>
              </a:defRPr>
            </a:pPr>
            <a:r>
              <a:t>Exponential decay of risk scores over time without new anomalies.</a:t>
            </a:r>
          </a:p>
        </p:txBody>
      </p:sp>
      <p:sp>
        <p:nvSpPr>
          <p:cNvPr id="10" name="Rounded Rectangle 9"/>
          <p:cNvSpPr/>
          <p:nvPr/>
        </p:nvSpPr>
        <p:spPr>
          <a:xfrm>
            <a:off x="6217920" y="1371600"/>
            <a:ext cx="2468880" cy="502920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554480"/>
            <a:ext cx="2194560" cy="4663440"/>
          </a:xfrm>
          <a:prstGeom prst="rect">
            <a:avLst/>
          </a:prstGeom>
          <a:noFill/>
        </p:spPr>
        <p:txBody>
          <a:bodyPr wrap="square" lIns="0" tIns="0" rIns="0" bIns="0">
            <a:spAutoFit/>
          </a:bodyPr>
          <a:lstStyle/>
          <a:p>
            <a:pPr>
              <a:spcAft>
                <a:spcPts val="1200"/>
              </a:spcAft>
              <a:defRPr sz="1100" b="1">
                <a:solidFill>
                  <a:srgbClr val="14B8A6"/>
                </a:solidFill>
                <a:latin typeface="Helvetica"/>
              </a:defRPr>
            </a:pPr>
            <a:r>
              <a:t>TIER 3: LOCAL AI &amp;</a:t>
            </a:r>
            <a:br/>
            <a:r>
              <a:t>SAFETY INTERLOCKS</a:t>
            </a:r>
          </a:p>
          <a:p>
            <a:pPr>
              <a:defRPr sz="950" b="1">
                <a:solidFill>
                  <a:srgbClr val="F8FAFC"/>
                </a:solidFill>
              </a:defRPr>
            </a:pPr>
            <a:r>
              <a:t>• Async AI Enrichment:</a:t>
            </a:r>
          </a:p>
          <a:p>
            <a:pPr>
              <a:spcAft>
                <a:spcPts val="800"/>
              </a:spcAft>
              <a:defRPr sz="850">
                <a:solidFill>
                  <a:srgbClr val="CBD5E1"/>
                </a:solidFill>
              </a:defRPr>
            </a:pPr>
            <a:r>
              <a:t>Non-blocking dispatch; states: PENDING -&gt; GENERATING -&gt; COMPLETED.</a:t>
            </a:r>
          </a:p>
          <a:p>
            <a:pPr>
              <a:defRPr sz="950" b="1">
                <a:solidFill>
                  <a:srgbClr val="F8FAFC"/>
                </a:solidFill>
              </a:defRPr>
            </a:pPr>
            <a:r>
              <a:t>• Vector PDF RAG:</a:t>
            </a:r>
          </a:p>
          <a:p>
            <a:pPr>
              <a:spcAft>
                <a:spcPts val="800"/>
              </a:spcAft>
              <a:defRPr sz="850">
                <a:solidFill>
                  <a:srgbClr val="CBD5E1"/>
                </a:solidFill>
              </a:defRPr>
            </a:pPr>
            <a:r>
              <a:t>Retrieval-augmented generation over device service manuals.</a:t>
            </a:r>
          </a:p>
          <a:p>
            <a:pPr>
              <a:defRPr sz="950" b="1">
                <a:solidFill>
                  <a:srgbClr val="F8FAFC"/>
                </a:solidFill>
              </a:defRPr>
            </a:pPr>
            <a:r>
              <a:t>• Safety Interlocks:</a:t>
            </a:r>
          </a:p>
          <a:p>
            <a:pPr>
              <a:spcAft>
                <a:spcPts val="800"/>
              </a:spcAft>
              <a:defRPr sz="850">
                <a:solidFill>
                  <a:srgbClr val="CBD5E1"/>
                </a:solidFill>
              </a:defRPr>
            </a:pPr>
            <a:r>
              <a:t>ClinicalSafetyInterlock: overrides automated quarantine on life support.</a:t>
            </a:r>
          </a:p>
          <a:p>
            <a:pPr>
              <a:defRPr sz="950" b="1">
                <a:solidFill>
                  <a:srgbClr val="F8FAFC"/>
                </a:solidFill>
              </a:defRPr>
            </a:pPr>
            <a:r>
              <a:t>• Controlled Enforcement:</a:t>
            </a:r>
          </a:p>
          <a:p>
            <a:pPr>
              <a:spcAft>
                <a:spcPts val="800"/>
              </a:spcAft>
              <a:defRPr sz="850">
                <a:solidFill>
                  <a:srgbClr val="CBD5E1"/>
                </a:solidFill>
              </a:defRPr>
            </a:pPr>
            <a:r>
              <a:t>HostFirewallAdapter (iptables) + SimulationEnforcementAdapter.</a:t>
            </a:r>
          </a:p>
        </p:txBody>
      </p:sp>
      <p:sp>
        <p:nvSpPr>
          <p:cNvPr id="12" name="Rounded Rectangle 11"/>
          <p:cNvSpPr/>
          <p:nvPr/>
        </p:nvSpPr>
        <p:spPr>
          <a:xfrm>
            <a:off x="8961120" y="1371600"/>
            <a:ext cx="2468880" cy="502920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554480"/>
            <a:ext cx="2194560" cy="4663440"/>
          </a:xfrm>
          <a:prstGeom prst="rect">
            <a:avLst/>
          </a:prstGeom>
          <a:noFill/>
        </p:spPr>
        <p:txBody>
          <a:bodyPr wrap="square" lIns="0" tIns="0" rIns="0" bIns="0">
            <a:spAutoFit/>
          </a:bodyPr>
          <a:lstStyle/>
          <a:p>
            <a:pPr>
              <a:spcAft>
                <a:spcPts val="1200"/>
              </a:spcAft>
              <a:defRPr sz="1100" b="1">
                <a:solidFill>
                  <a:srgbClr val="F59E0B"/>
                </a:solidFill>
                <a:latin typeface="Helvetica"/>
              </a:defRPr>
            </a:pPr>
            <a:r>
              <a:t>TIER 4: REACT OPERATOR</a:t>
            </a:r>
            <a:br/>
            <a:r>
              <a:t>DASHBOARD</a:t>
            </a:r>
          </a:p>
          <a:p>
            <a:pPr>
              <a:defRPr sz="950" b="1">
                <a:solidFill>
                  <a:srgbClr val="F8FAFC"/>
                </a:solidFill>
              </a:defRPr>
            </a:pPr>
            <a:r>
              <a:t>• Real-Time Telemetry:</a:t>
            </a:r>
          </a:p>
          <a:p>
            <a:pPr>
              <a:spcAft>
                <a:spcPts val="800"/>
              </a:spcAft>
              <a:defRPr sz="850">
                <a:solidFill>
                  <a:srgbClr val="CBD5E1"/>
                </a:solidFill>
              </a:defRPr>
            </a:pPr>
            <a:r>
              <a:t>WebSocket stream manager for 2s live updates.</a:t>
            </a:r>
          </a:p>
          <a:p>
            <a:pPr>
              <a:defRPr sz="950" b="1">
                <a:solidFill>
                  <a:srgbClr val="F8FAFC"/>
                </a:solidFill>
              </a:defRPr>
            </a:pPr>
            <a:r>
              <a:t>• Alert Center:</a:t>
            </a:r>
          </a:p>
          <a:p>
            <a:pPr>
              <a:spcAft>
                <a:spcPts val="800"/>
              </a:spcAft>
              <a:defRPr sz="850">
                <a:solidFill>
                  <a:srgbClr val="CBD5E1"/>
                </a:solidFill>
              </a:defRPr>
            </a:pPr>
            <a:r>
              <a:t>Filtering, severity badges, modal explainers, mitigation buttons.</a:t>
            </a:r>
          </a:p>
          <a:p>
            <a:pPr>
              <a:defRPr sz="950" b="1">
                <a:solidFill>
                  <a:srgbClr val="F8FAFC"/>
                </a:solidFill>
              </a:defRPr>
            </a:pPr>
            <a:r>
              <a:t>• Device Manager:</a:t>
            </a:r>
          </a:p>
          <a:p>
            <a:pPr>
              <a:spcAft>
                <a:spcPts val="800"/>
              </a:spcAft>
              <a:defRPr sz="850">
                <a:solidFill>
                  <a:srgbClr val="CBD5E1"/>
                </a:solidFill>
              </a:defRPr>
            </a:pPr>
            <a:r>
              <a:t>Inventory grid, risk gauges, quarantine controls.</a:t>
            </a:r>
          </a:p>
          <a:p>
            <a:pPr>
              <a:defRPr sz="950" b="1">
                <a:solidFill>
                  <a:srgbClr val="F8FAFC"/>
                </a:solidFill>
              </a:defRPr>
            </a:pPr>
            <a:r>
              <a:t>• Clinical Monitor:</a:t>
            </a:r>
          </a:p>
          <a:p>
            <a:pPr>
              <a:spcAft>
                <a:spcPts val="800"/>
              </a:spcAft>
              <a:defRPr sz="850">
                <a:solidFill>
                  <a:srgbClr val="CBD5E1"/>
                </a:solidFill>
              </a:defRPr>
            </a:pPr>
            <a:r>
              <a:t>Prospective patient vital monitoring &amp; risk research 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B — ARCHITECTURE  |  SLIDE 07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Dual-Pipeline Design: Strict Methodological Decoupling</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300" b="1">
                <a:solidFill>
                  <a:srgbClr val="06B6D4"/>
                </a:solidFill>
                <a:latin typeface="Helvetica"/>
              </a:defRPr>
            </a:pPr>
            <a:r>
              <a:t>PIPELINE A: IoMT CYBERSECURITY IDS</a:t>
            </a:r>
          </a:p>
          <a:p>
            <a:pPr>
              <a:defRPr sz="1000" b="1">
                <a:solidFill>
                  <a:srgbClr val="F8FAFC"/>
                </a:solidFill>
              </a:defRPr>
            </a:pPr>
            <a:r>
              <a:t>• Domain &amp; Input:</a:t>
            </a:r>
          </a:p>
          <a:p>
            <a:pPr>
              <a:spcAft>
                <a:spcPts val="600"/>
              </a:spcAft>
              <a:defRPr sz="900">
                <a:solidFill>
                  <a:srgbClr val="CBD5E1"/>
                </a:solidFill>
              </a:defRPr>
            </a:pPr>
            <a:r>
              <a:t>Network L2–L7 packet headers, protocol flags, byte/packet rates, checksums, transport connection states.</a:t>
            </a:r>
          </a:p>
          <a:p>
            <a:pPr>
              <a:defRPr sz="1000" b="1">
                <a:solidFill>
                  <a:srgbClr val="F8FAFC"/>
                </a:solidFill>
              </a:defRPr>
            </a:pPr>
            <a:r>
              <a:t>• Target Task:</a:t>
            </a:r>
          </a:p>
          <a:p>
            <a:pPr>
              <a:spcAft>
                <a:spcPts val="600"/>
              </a:spcAft>
              <a:defRPr sz="900">
                <a:solidFill>
                  <a:srgbClr val="CBD5E1"/>
                </a:solidFill>
              </a:defRPr>
            </a:pPr>
            <a:r>
              <a:t>Multi-class cyber attack classification (Flood DoS, Ransomware, Injection, Reconnaissance, Spoofing) + Anomaly scoring.</a:t>
            </a:r>
          </a:p>
          <a:p>
            <a:pPr>
              <a:defRPr sz="1000" b="1">
                <a:solidFill>
                  <a:srgbClr val="F8FAFC"/>
                </a:solidFill>
              </a:defRPr>
            </a:pPr>
            <a:r>
              <a:t>• Latency Constraint:</a:t>
            </a:r>
          </a:p>
          <a:p>
            <a:pPr>
              <a:spcAft>
                <a:spcPts val="600"/>
              </a:spcAft>
              <a:defRPr sz="900">
                <a:solidFill>
                  <a:srgbClr val="CBD5E1"/>
                </a:solidFill>
              </a:defRPr>
            </a:pPr>
            <a:r>
              <a:t>Sub-5ms per-packet execution at the edge gateway.</a:t>
            </a:r>
          </a:p>
          <a:p>
            <a:pPr>
              <a:defRPr sz="1000" b="1">
                <a:solidFill>
                  <a:srgbClr val="F8FAFC"/>
                </a:solidFill>
              </a:defRPr>
            </a:pPr>
            <a:r>
              <a:t>• Feature Space:</a:t>
            </a:r>
          </a:p>
          <a:p>
            <a:pPr>
              <a:spcAft>
                <a:spcPts val="600"/>
              </a:spcAft>
              <a:defRPr sz="900">
                <a:solidFill>
                  <a:srgbClr val="CBD5E1"/>
                </a:solidFill>
              </a:defRPr>
            </a:pPr>
            <a:r>
              <a:t>29 Clean protocol features (Configuration B) / 9 Canonical edge features (Configuration A).</a:t>
            </a:r>
          </a:p>
          <a:p>
            <a:pPr>
              <a:defRPr sz="1000" b="1">
                <a:solidFill>
                  <a:srgbClr val="F8FAFC"/>
                </a:solidFill>
              </a:defRPr>
            </a:pPr>
            <a:r>
              <a:t>• Dataset &amp; Ground Truth:</a:t>
            </a:r>
          </a:p>
          <a:p>
            <a:pPr>
              <a:spcAft>
                <a:spcPts val="600"/>
              </a:spcAft>
              <a:defRPr sz="900">
                <a:solidFill>
                  <a:srgbClr val="CBD5E1"/>
                </a:solidFill>
              </a:defRPr>
            </a:pPr>
            <a:r>
              <a:t>Edge-IIoTset benchmark (157,800 records); labeled via PCAP network capture tools.</a:t>
            </a:r>
          </a:p>
          <a:p>
            <a:pPr>
              <a:defRPr sz="1000" b="1">
                <a:solidFill>
                  <a:srgbClr val="F8FAFC"/>
                </a:solidFill>
              </a:defRPr>
            </a:pPr>
            <a:r>
              <a:t>• Operational Action:</a:t>
            </a:r>
          </a:p>
          <a:p>
            <a:pPr>
              <a:spcAft>
                <a:spcPts val="600"/>
              </a:spcAft>
              <a:defRPr sz="900">
                <a:solidFill>
                  <a:srgbClr val="CBD5E1"/>
                </a:solidFill>
              </a:defRPr>
            </a:pPr>
            <a:r>
              <a:t>VLAN traffic isolation, IP rate-limiting, alert generation, local LLM mitigation dispatch.</a:t>
            </a:r>
          </a:p>
        </p:txBody>
      </p:sp>
      <p:sp>
        <p:nvSpPr>
          <p:cNvPr id="8" name="Rounded Rectangle 7"/>
          <p:cNvSpPr/>
          <p:nvPr/>
        </p:nvSpPr>
        <p:spPr>
          <a:xfrm>
            <a:off x="6217920" y="1371600"/>
            <a:ext cx="5212080" cy="502920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300" b="1">
                <a:solidFill>
                  <a:srgbClr val="14B8A6"/>
                </a:solidFill>
                <a:latin typeface="Helvetica"/>
              </a:defRPr>
            </a:pPr>
            <a:r>
              <a:t>PIPELINE B: CLINICAL MONITORING RESEARCH</a:t>
            </a:r>
          </a:p>
          <a:p>
            <a:pPr>
              <a:defRPr sz="1000" b="1">
                <a:solidFill>
                  <a:srgbClr val="F8FAFC"/>
                </a:solidFill>
              </a:defRPr>
            </a:pPr>
            <a:r>
              <a:t>• Domain &amp; Input:</a:t>
            </a:r>
          </a:p>
          <a:p>
            <a:pPr>
              <a:spcAft>
                <a:spcPts val="600"/>
              </a:spcAft>
              <a:defRPr sz="900">
                <a:solidFill>
                  <a:srgbClr val="CBD5E1"/>
                </a:solidFill>
              </a:defRPr>
            </a:pPr>
            <a:r>
              <a:t>Human physiological vital signs: Heart Rate, Resp Rate, SpO2, Temp (°C), Blood Pressures (SBP, DBP, MAP).</a:t>
            </a:r>
          </a:p>
          <a:p>
            <a:pPr>
              <a:defRPr sz="1000" b="1">
                <a:solidFill>
                  <a:srgbClr val="F8FAFC"/>
                </a:solidFill>
              </a:defRPr>
            </a:pPr>
            <a:r>
              <a:t>• Target Task:</a:t>
            </a:r>
          </a:p>
          <a:p>
            <a:pPr>
              <a:spcAft>
                <a:spcPts val="600"/>
              </a:spcAft>
              <a:defRPr sz="900">
                <a:solidFill>
                  <a:srgbClr val="CBD5E1"/>
                </a:solidFill>
              </a:defRPr>
            </a:pPr>
            <a:r>
              <a:t>Exploratory prospective 24-hour hospital mortality risk (`hospital_expire_flag`).</a:t>
            </a:r>
          </a:p>
          <a:p>
            <a:pPr>
              <a:defRPr sz="1000" b="1">
                <a:solidFill>
                  <a:srgbClr val="F8FAFC"/>
                </a:solidFill>
              </a:defRPr>
            </a:pPr>
            <a:r>
              <a:t>• Latency Constraint:</a:t>
            </a:r>
          </a:p>
          <a:p>
            <a:pPr>
              <a:spcAft>
                <a:spcPts val="600"/>
              </a:spcAft>
              <a:defRPr sz="900">
                <a:solidFill>
                  <a:srgbClr val="CBD5E1"/>
                </a:solidFill>
              </a:defRPr>
            </a:pPr>
            <a:r>
              <a:t>Near-real-time hourly batch evaluation (seconds/minutes).</a:t>
            </a:r>
          </a:p>
          <a:p>
            <a:pPr>
              <a:defRPr sz="1000" b="1">
                <a:solidFill>
                  <a:srgbClr val="F8FAFC"/>
                </a:solidFill>
              </a:defRPr>
            </a:pPr>
            <a:r>
              <a:t>• Feature Space:</a:t>
            </a:r>
          </a:p>
          <a:p>
            <a:pPr>
              <a:spcAft>
                <a:spcPts val="600"/>
              </a:spcAft>
              <a:defRPr sz="900">
                <a:solidFill>
                  <a:srgbClr val="CBD5E1"/>
                </a:solidFill>
              </a:defRPr>
            </a:pPr>
            <a:r>
              <a:t>69 Statistical &amp; temporal indicators (min, max, mean, std, trend, volatility, missingness).</a:t>
            </a:r>
          </a:p>
          <a:p>
            <a:pPr>
              <a:defRPr sz="1000" b="1">
                <a:solidFill>
                  <a:srgbClr val="F8FAFC"/>
                </a:solidFill>
              </a:defRPr>
            </a:pPr>
            <a:r>
              <a:t>• Dataset &amp; Ground Truth:</a:t>
            </a:r>
          </a:p>
          <a:p>
            <a:pPr>
              <a:spcAft>
                <a:spcPts val="600"/>
              </a:spcAft>
              <a:defRPr sz="900">
                <a:solidFill>
                  <a:srgbClr val="CBD5E1"/>
                </a:solidFill>
              </a:defRPr>
            </a:pPr>
            <a:r>
              <a:t>MIMIC-IV Demo v2.2 (136 eligible stays, 98 patients); labeled from hospital EHR discharge records.</a:t>
            </a:r>
          </a:p>
          <a:p>
            <a:pPr>
              <a:defRPr sz="1000" b="1">
                <a:solidFill>
                  <a:srgbClr val="F8FAFC"/>
                </a:solidFill>
              </a:defRPr>
            </a:pPr>
            <a:r>
              <a:t>• Operational Action:</a:t>
            </a:r>
          </a:p>
          <a:p>
            <a:pPr>
              <a:spcAft>
                <a:spcPts val="600"/>
              </a:spcAft>
              <a:defRPr sz="900">
                <a:solidFill>
                  <a:srgbClr val="CBD5E1"/>
                </a:solidFill>
              </a:defRPr>
            </a:pPr>
            <a:r>
              <a:t>Descriptive clinical dashboard display; STRICTLY NON-DIAGNOSTIC, research-only disclaimers.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B — ARCHITECTURE  |  SLIDE 08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Technology Stack: Robust, Secure &amp; Edge-Optimized</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256032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2286000" cy="4663440"/>
          </a:xfrm>
          <a:prstGeom prst="rect">
            <a:avLst/>
          </a:prstGeom>
          <a:noFill/>
        </p:spPr>
        <p:txBody>
          <a:bodyPr wrap="square" lIns="0" tIns="0" rIns="0" bIns="0">
            <a:spAutoFit/>
          </a:bodyPr>
          <a:lstStyle/>
          <a:p>
            <a:pPr>
              <a:spcAft>
                <a:spcPts val="1200"/>
              </a:spcAft>
              <a:defRPr sz="1100" b="1">
                <a:solidFill>
                  <a:srgbClr val="06B6D4"/>
                </a:solidFill>
                <a:latin typeface="Helvetica"/>
              </a:defRPr>
            </a:pPr>
            <a:r>
              <a:t>BACKEND SERVICES</a:t>
            </a:r>
          </a:p>
          <a:p>
            <a:pPr>
              <a:defRPr sz="950" b="1">
                <a:solidFill>
                  <a:srgbClr val="F8FAFC"/>
                </a:solidFill>
              </a:defRPr>
            </a:pPr>
            <a:r>
              <a:t>• FastAPI (0.143+):</a:t>
            </a:r>
          </a:p>
          <a:p>
            <a:pPr>
              <a:spcAft>
                <a:spcPts val="1000"/>
              </a:spcAft>
              <a:defRPr sz="850">
                <a:solidFill>
                  <a:srgbClr val="CBD5E1"/>
                </a:solidFill>
              </a:defRPr>
            </a:pPr>
            <a:r>
              <a:t>High-concurrency ASGI framework with native asynchronous coroutines and automatic OpenAPI schema generation.</a:t>
            </a:r>
          </a:p>
          <a:p>
            <a:pPr>
              <a:defRPr sz="950" b="1">
                <a:solidFill>
                  <a:srgbClr val="F8FAFC"/>
                </a:solidFill>
              </a:defRPr>
            </a:pPr>
            <a:r>
              <a:t>• Python 3.14 + Pydantic v2:</a:t>
            </a:r>
          </a:p>
          <a:p>
            <a:pPr>
              <a:spcAft>
                <a:spcPts val="1000"/>
              </a:spcAft>
              <a:defRPr sz="850">
                <a:solidFill>
                  <a:srgbClr val="CBD5E1"/>
                </a:solidFill>
              </a:defRPr>
            </a:pPr>
            <a:r>
              <a:t>Strict runtime data validation and schema enforcement for all incoming network telemetry and vital sign payloads.</a:t>
            </a:r>
          </a:p>
          <a:p>
            <a:pPr>
              <a:defRPr sz="950" b="1">
                <a:solidFill>
                  <a:srgbClr val="F8FAFC"/>
                </a:solidFill>
              </a:defRPr>
            </a:pPr>
            <a:r>
              <a:t>• SQLAlchemy + SQLite WAL:</a:t>
            </a:r>
          </a:p>
          <a:p>
            <a:pPr>
              <a:spcAft>
                <a:spcPts val="1000"/>
              </a:spcAft>
              <a:defRPr sz="850">
                <a:solidFill>
                  <a:srgbClr val="CBD5E1"/>
                </a:solidFill>
              </a:defRPr>
            </a:pPr>
            <a:r>
              <a:t>Zero-dependency embedded SQL persistence with Write-Ahead Logging (WAL) ensuring non-blocking reads during rapid telemetry writes.</a:t>
            </a:r>
          </a:p>
        </p:txBody>
      </p:sp>
      <p:sp>
        <p:nvSpPr>
          <p:cNvPr id="8" name="Rounded Rectangle 7"/>
          <p:cNvSpPr/>
          <p:nvPr/>
        </p:nvSpPr>
        <p:spPr>
          <a:xfrm>
            <a:off x="3456432" y="1371600"/>
            <a:ext cx="2560320" cy="5029200"/>
          </a:xfrm>
          <a:prstGeom prst="roundRect">
            <a:avLst/>
          </a:prstGeom>
          <a:solidFill>
            <a:srgbClr val="162238"/>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554480"/>
            <a:ext cx="2286000" cy="4663440"/>
          </a:xfrm>
          <a:prstGeom prst="rect">
            <a:avLst/>
          </a:prstGeom>
          <a:noFill/>
        </p:spPr>
        <p:txBody>
          <a:bodyPr wrap="square" lIns="0" tIns="0" rIns="0" bIns="0">
            <a:spAutoFit/>
          </a:bodyPr>
          <a:lstStyle/>
          <a:p>
            <a:pPr>
              <a:spcAft>
                <a:spcPts val="1200"/>
              </a:spcAft>
              <a:defRPr sz="1100" b="1">
                <a:solidFill>
                  <a:srgbClr val="A855F7"/>
                </a:solidFill>
                <a:latin typeface="Helvetica"/>
              </a:defRPr>
            </a:pPr>
            <a:r>
              <a:t>MACHINE LEARNING</a:t>
            </a:r>
          </a:p>
          <a:p>
            <a:pPr>
              <a:defRPr sz="950" b="1">
                <a:solidFill>
                  <a:srgbClr val="F8FAFC"/>
                </a:solidFill>
              </a:defRPr>
            </a:pPr>
            <a:r>
              <a:t>• Scikit-Learn (1.9+):</a:t>
            </a:r>
          </a:p>
          <a:p>
            <a:pPr>
              <a:spcAft>
                <a:spcPts val="1000"/>
              </a:spcAft>
              <a:defRPr sz="850">
                <a:solidFill>
                  <a:srgbClr val="CBD5E1"/>
                </a:solidFill>
              </a:defRPr>
            </a:pPr>
            <a:r>
              <a:t>Robust implementation of Random Forest, Logistic Regression, Decision Trees, and Isolation Forest anomaly scoring.</a:t>
            </a:r>
          </a:p>
          <a:p>
            <a:pPr>
              <a:defRPr sz="950" b="1">
                <a:solidFill>
                  <a:srgbClr val="F8FAFC"/>
                </a:solidFill>
              </a:defRPr>
            </a:pPr>
            <a:r>
              <a:t>• XGBoost (3.4+):</a:t>
            </a:r>
          </a:p>
          <a:p>
            <a:pPr>
              <a:spcAft>
                <a:spcPts val="1000"/>
              </a:spcAft>
              <a:defRPr sz="850">
                <a:solidFill>
                  <a:srgbClr val="CBD5E1"/>
                </a:solidFill>
              </a:defRPr>
            </a:pPr>
            <a:r>
              <a:t>High-performance gradient boosting decision trees for empirical multi-class network threat classification.</a:t>
            </a:r>
          </a:p>
          <a:p>
            <a:pPr>
              <a:defRPr sz="950" b="1">
                <a:solidFill>
                  <a:srgbClr val="F8FAFC"/>
                </a:solidFill>
              </a:defRPr>
            </a:pPr>
            <a:r>
              <a:t>• Joblib Model Persistence:</a:t>
            </a:r>
          </a:p>
          <a:p>
            <a:pPr>
              <a:spcAft>
                <a:spcPts val="1000"/>
              </a:spcAft>
              <a:defRPr sz="850">
                <a:solidFill>
                  <a:srgbClr val="CBD5E1"/>
                </a:solidFill>
              </a:defRPr>
            </a:pPr>
            <a:r>
              <a:t>Lightweight compressed model serialization allowing sub-10ms warm loading on resource-constrained edge gateways.</a:t>
            </a:r>
          </a:p>
        </p:txBody>
      </p:sp>
      <p:sp>
        <p:nvSpPr>
          <p:cNvPr id="10" name="Rounded Rectangle 9"/>
          <p:cNvSpPr/>
          <p:nvPr/>
        </p:nvSpPr>
        <p:spPr>
          <a:xfrm>
            <a:off x="6181344" y="1371600"/>
            <a:ext cx="2560320" cy="502920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554480"/>
            <a:ext cx="2286000" cy="4663440"/>
          </a:xfrm>
          <a:prstGeom prst="rect">
            <a:avLst/>
          </a:prstGeom>
          <a:noFill/>
        </p:spPr>
        <p:txBody>
          <a:bodyPr wrap="square" lIns="0" tIns="0" rIns="0" bIns="0">
            <a:spAutoFit/>
          </a:bodyPr>
          <a:lstStyle/>
          <a:p>
            <a:pPr>
              <a:spcAft>
                <a:spcPts val="1200"/>
              </a:spcAft>
              <a:defRPr sz="1100" b="1">
                <a:solidFill>
                  <a:srgbClr val="F59E0B"/>
                </a:solidFill>
                <a:latin typeface="Helvetica"/>
              </a:defRPr>
            </a:pPr>
            <a:r>
              <a:t>FRONTEND &amp; PRESENTATION</a:t>
            </a:r>
          </a:p>
          <a:p>
            <a:pPr>
              <a:defRPr sz="950" b="1">
                <a:solidFill>
                  <a:srgbClr val="F8FAFC"/>
                </a:solidFill>
              </a:defRPr>
            </a:pPr>
            <a:r>
              <a:t>• React 18 + TypeScript:</a:t>
            </a:r>
          </a:p>
          <a:p>
            <a:pPr>
              <a:spcAft>
                <a:spcPts val="1000"/>
              </a:spcAft>
              <a:defRPr sz="850">
                <a:solidFill>
                  <a:srgbClr val="CBD5E1"/>
                </a:solidFill>
              </a:defRPr>
            </a:pPr>
            <a:r>
              <a:t>Type-safe, component-driven user interface eliminating runtime undefined errors in high-stakes clinical dashboards.</a:t>
            </a:r>
          </a:p>
          <a:p>
            <a:pPr>
              <a:defRPr sz="950" b="1">
                <a:solidFill>
                  <a:srgbClr val="F8FAFC"/>
                </a:solidFill>
              </a:defRPr>
            </a:pPr>
            <a:r>
              <a:t>• Tailwind CSS:</a:t>
            </a:r>
          </a:p>
          <a:p>
            <a:pPr>
              <a:spcAft>
                <a:spcPts val="1000"/>
              </a:spcAft>
              <a:defRPr sz="850">
                <a:solidFill>
                  <a:srgbClr val="CBD5E1"/>
                </a:solidFill>
              </a:defRPr>
            </a:pPr>
            <a:r>
              <a:t>Utility-first design system with Dark Navy enterprise aesthetic and clinical telemetry badges.</a:t>
            </a:r>
          </a:p>
          <a:p>
            <a:pPr>
              <a:defRPr sz="950" b="1">
                <a:solidFill>
                  <a:srgbClr val="F8FAFC"/>
                </a:solidFill>
              </a:defRPr>
            </a:pPr>
            <a:r>
              <a:t>• Native WebSockets:</a:t>
            </a:r>
          </a:p>
          <a:p>
            <a:pPr>
              <a:spcAft>
                <a:spcPts val="1000"/>
              </a:spcAft>
              <a:defRPr sz="850">
                <a:solidFill>
                  <a:srgbClr val="CBD5E1"/>
                </a:solidFill>
              </a:defRPr>
            </a:pPr>
            <a:r>
              <a:t>Bi-directional real-time communication streaming live IoMT telemetry without continuous HTTP polling.</a:t>
            </a:r>
          </a:p>
        </p:txBody>
      </p:sp>
      <p:sp>
        <p:nvSpPr>
          <p:cNvPr id="12" name="Rounded Rectangle 11"/>
          <p:cNvSpPr/>
          <p:nvPr/>
        </p:nvSpPr>
        <p:spPr>
          <a:xfrm>
            <a:off x="8906256" y="1371600"/>
            <a:ext cx="2560320" cy="502920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554480"/>
            <a:ext cx="2286000" cy="4663440"/>
          </a:xfrm>
          <a:prstGeom prst="rect">
            <a:avLst/>
          </a:prstGeom>
          <a:noFill/>
        </p:spPr>
        <p:txBody>
          <a:bodyPr wrap="square" lIns="0" tIns="0" rIns="0" bIns="0">
            <a:spAutoFit/>
          </a:bodyPr>
          <a:lstStyle/>
          <a:p>
            <a:pPr>
              <a:spcAft>
                <a:spcPts val="1200"/>
              </a:spcAft>
              <a:defRPr sz="1100" b="1">
                <a:solidFill>
                  <a:srgbClr val="14B8A6"/>
                </a:solidFill>
                <a:latin typeface="Helvetica"/>
              </a:defRPr>
            </a:pPr>
            <a:r>
              <a:t>AI &amp; SECURITY</a:t>
            </a:r>
          </a:p>
          <a:p>
            <a:pPr>
              <a:defRPr sz="950" b="1">
                <a:solidFill>
                  <a:srgbClr val="F8FAFC"/>
                </a:solidFill>
              </a:defRPr>
            </a:pPr>
            <a:r>
              <a:t>• PyMuPDF + Vector RAG:</a:t>
            </a:r>
          </a:p>
          <a:p>
            <a:pPr>
              <a:spcAft>
                <a:spcPts val="1000"/>
              </a:spcAft>
              <a:defRPr sz="850">
                <a:solidFill>
                  <a:srgbClr val="CBD5E1"/>
                </a:solidFill>
              </a:defRPr>
            </a:pPr>
            <a:r>
              <a:t>Local document parsing and cosine similarity retrieval over medical device service manuals.</a:t>
            </a:r>
          </a:p>
          <a:p>
            <a:pPr>
              <a:defRPr sz="950" b="1">
                <a:solidFill>
                  <a:srgbClr val="F8FAFC"/>
                </a:solidFill>
              </a:defRPr>
            </a:pPr>
            <a:r>
              <a:t>• Async LLM Worker:</a:t>
            </a:r>
          </a:p>
          <a:p>
            <a:pPr>
              <a:spcAft>
                <a:spcPts val="1000"/>
              </a:spcAft>
              <a:defRPr sz="850">
                <a:solidFill>
                  <a:srgbClr val="CBD5E1"/>
                </a:solidFill>
              </a:defRPr>
            </a:pPr>
            <a:r>
              <a:t>Decoupled background queue preventing LLM generation latency from choking real-time network packet analysis.</a:t>
            </a:r>
          </a:p>
          <a:p>
            <a:pPr>
              <a:defRPr sz="950" b="1">
                <a:solidFill>
                  <a:srgbClr val="F8FAFC"/>
                </a:solidFill>
              </a:defRPr>
            </a:pPr>
            <a:r>
              <a:t>• Linux iptables Adapter:</a:t>
            </a:r>
          </a:p>
          <a:p>
            <a:pPr>
              <a:spcAft>
                <a:spcPts val="1000"/>
              </a:spcAft>
              <a:defRPr sz="850">
                <a:solidFill>
                  <a:srgbClr val="CBD5E1"/>
                </a:solidFill>
              </a:defRPr>
            </a:pPr>
            <a:r>
              <a:t>Hardware firewall enforcement with complete rollback commands and audit logging.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B — ARCHITECTURE  |  SLIDE 09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Data Flow &amp; System Interfaces: Telemetry to Operator</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728655" cy="713232"/>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81328"/>
            <a:ext cx="10241280" cy="502920"/>
          </a:xfrm>
          <a:prstGeom prst="rect">
            <a:avLst/>
          </a:prstGeom>
          <a:noFill/>
        </p:spPr>
        <p:txBody>
          <a:bodyPr wrap="square" lIns="0" tIns="0" rIns="0" bIns="0">
            <a:spAutoFit/>
          </a:bodyPr>
          <a:lstStyle/>
          <a:p>
            <a:pPr>
              <a:spcAft>
                <a:spcPts val="200"/>
              </a:spcAft>
              <a:defRPr sz="1100" b="1">
                <a:solidFill>
                  <a:srgbClr val="06B6D4"/>
                </a:solidFill>
                <a:latin typeface="Helvetica"/>
              </a:defRPr>
            </a:pPr>
            <a:r>
              <a:t>1. Step 1: Edge Telemetry Ingestion</a:t>
            </a:r>
          </a:p>
          <a:p>
            <a:pPr>
              <a:defRPr sz="950">
                <a:solidFill>
                  <a:srgbClr val="CBD5E1"/>
                </a:solidFill>
                <a:latin typeface="Arial"/>
              </a:defRPr>
            </a:pPr>
            <a:r>
              <a:t>Packets arrive via `/api/v1/detection/analyze` or `/simulate`. Pydantic validates fields. Origin tagged as `LIVE` or `SIMULATOR`.</a:t>
            </a:r>
          </a:p>
        </p:txBody>
      </p:sp>
      <p:sp>
        <p:nvSpPr>
          <p:cNvPr id="8" name="Rounded Rectangle 7"/>
          <p:cNvSpPr/>
          <p:nvPr/>
        </p:nvSpPr>
        <p:spPr>
          <a:xfrm>
            <a:off x="731520" y="2194560"/>
            <a:ext cx="10728655" cy="713232"/>
          </a:xfrm>
          <a:prstGeom prst="roundRect">
            <a:avLst/>
          </a:prstGeom>
          <a:solidFill>
            <a:srgbClr val="162238"/>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04288"/>
            <a:ext cx="10241280" cy="502920"/>
          </a:xfrm>
          <a:prstGeom prst="rect">
            <a:avLst/>
          </a:prstGeom>
          <a:noFill/>
        </p:spPr>
        <p:txBody>
          <a:bodyPr wrap="square" lIns="0" tIns="0" rIns="0" bIns="0">
            <a:spAutoFit/>
          </a:bodyPr>
          <a:lstStyle/>
          <a:p>
            <a:pPr>
              <a:spcAft>
                <a:spcPts val="200"/>
              </a:spcAft>
              <a:defRPr sz="1100" b="1">
                <a:solidFill>
                  <a:srgbClr val="6366F1"/>
                </a:solidFill>
                <a:latin typeface="Helvetica"/>
              </a:defRPr>
            </a:pPr>
            <a:r>
              <a:t>2. Step 2: Device Resolution &amp; Tracking</a:t>
            </a:r>
          </a:p>
          <a:p>
            <a:pPr>
              <a:defRPr sz="950">
                <a:solidFill>
                  <a:srgbClr val="CBD5E1"/>
                </a:solidFill>
                <a:latin typeface="Arial"/>
              </a:defRPr>
            </a:pPr>
            <a:r>
              <a:t>Packet IP/MAC resolved against SQLite Device Inventory. Status categorized as `MATCHED`, `UNREGISTERED`, or `AMBIGUOUS`.</a:t>
            </a:r>
          </a:p>
        </p:txBody>
      </p:sp>
      <p:sp>
        <p:nvSpPr>
          <p:cNvPr id="10" name="Rounded Rectangle 9"/>
          <p:cNvSpPr/>
          <p:nvPr/>
        </p:nvSpPr>
        <p:spPr>
          <a:xfrm>
            <a:off x="731520" y="3017520"/>
            <a:ext cx="10728655" cy="713232"/>
          </a:xfrm>
          <a:prstGeom prst="roundRect">
            <a:avLst/>
          </a:prstGeom>
          <a:solidFill>
            <a:srgbClr val="162238"/>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127248"/>
            <a:ext cx="10241280" cy="502920"/>
          </a:xfrm>
          <a:prstGeom prst="rect">
            <a:avLst/>
          </a:prstGeom>
          <a:noFill/>
        </p:spPr>
        <p:txBody>
          <a:bodyPr wrap="square" lIns="0" tIns="0" rIns="0" bIns="0">
            <a:spAutoFit/>
          </a:bodyPr>
          <a:lstStyle/>
          <a:p>
            <a:pPr>
              <a:spcAft>
                <a:spcPts val="200"/>
              </a:spcAft>
              <a:defRPr sz="1100" b="1">
                <a:solidFill>
                  <a:srgbClr val="A855F7"/>
                </a:solidFill>
                <a:latin typeface="Helvetica"/>
              </a:defRPr>
            </a:pPr>
            <a:r>
              <a:t>3. Step 3: Dual-Stage ML Scoring</a:t>
            </a:r>
          </a:p>
          <a:p>
            <a:pPr>
              <a:defRPr sz="950">
                <a:solidFill>
                  <a:srgbClr val="CBD5E1"/>
                </a:solidFill>
                <a:latin typeface="Arial"/>
              </a:defRPr>
            </a:pPr>
            <a:r>
              <a:t>Isolation Forest computes anomaly score; Multi-Class Classifier predicts threat type &amp; confidence in &lt;5ms.</a:t>
            </a:r>
          </a:p>
        </p:txBody>
      </p:sp>
      <p:sp>
        <p:nvSpPr>
          <p:cNvPr id="12" name="Rounded Rectangle 11"/>
          <p:cNvSpPr/>
          <p:nvPr/>
        </p:nvSpPr>
        <p:spPr>
          <a:xfrm>
            <a:off x="731520" y="3840480"/>
            <a:ext cx="10728655" cy="713232"/>
          </a:xfrm>
          <a:prstGeom prst="roundRect">
            <a:avLst/>
          </a:prstGeom>
          <a:solidFill>
            <a:srgbClr val="16223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950208"/>
            <a:ext cx="10241280" cy="502920"/>
          </a:xfrm>
          <a:prstGeom prst="rect">
            <a:avLst/>
          </a:prstGeom>
          <a:noFill/>
        </p:spPr>
        <p:txBody>
          <a:bodyPr wrap="square" lIns="0" tIns="0" rIns="0" bIns="0">
            <a:spAutoFit/>
          </a:bodyPr>
          <a:lstStyle/>
          <a:p>
            <a:pPr>
              <a:spcAft>
                <a:spcPts val="200"/>
              </a:spcAft>
              <a:defRPr sz="1100" b="1">
                <a:solidFill>
                  <a:srgbClr val="EF4444"/>
                </a:solidFill>
                <a:latin typeface="Helvetica"/>
              </a:defRPr>
            </a:pPr>
            <a:r>
              <a:t>4. Step 4: Alert Aggregation &amp; Risk Scoring</a:t>
            </a:r>
          </a:p>
          <a:p>
            <a:pPr>
              <a:defRPr sz="950">
                <a:solidFill>
                  <a:srgbClr val="CBD5E1"/>
                </a:solidFill>
                <a:latin typeface="Arial"/>
              </a:defRPr>
            </a:pPr>
            <a:r>
              <a:t>60-second flood window aggregates repeat alerts; device risk score decays exponentially if benign.</a:t>
            </a:r>
          </a:p>
        </p:txBody>
      </p:sp>
      <p:sp>
        <p:nvSpPr>
          <p:cNvPr id="14" name="Rounded Rectangle 13"/>
          <p:cNvSpPr/>
          <p:nvPr/>
        </p:nvSpPr>
        <p:spPr>
          <a:xfrm>
            <a:off x="731520" y="4663440"/>
            <a:ext cx="10728655" cy="713232"/>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773168"/>
            <a:ext cx="10241280" cy="502920"/>
          </a:xfrm>
          <a:prstGeom prst="rect">
            <a:avLst/>
          </a:prstGeom>
          <a:noFill/>
        </p:spPr>
        <p:txBody>
          <a:bodyPr wrap="square" lIns="0" tIns="0" rIns="0" bIns="0">
            <a:spAutoFit/>
          </a:bodyPr>
          <a:lstStyle/>
          <a:p>
            <a:pPr>
              <a:spcAft>
                <a:spcPts val="200"/>
              </a:spcAft>
              <a:defRPr sz="1100" b="1">
                <a:solidFill>
                  <a:srgbClr val="14B8A6"/>
                </a:solidFill>
                <a:latin typeface="Helvetica"/>
              </a:defRPr>
            </a:pPr>
            <a:r>
              <a:t>5. Step 5: Async AI Enrichment Queue</a:t>
            </a:r>
          </a:p>
          <a:p>
            <a:pPr>
              <a:defRPr sz="950">
                <a:solidFill>
                  <a:srgbClr val="CBD5E1"/>
                </a:solidFill>
                <a:latin typeface="Arial"/>
              </a:defRPr>
            </a:pPr>
            <a:r>
              <a:t>If anomaly is critical, task dispatched to background worker. LLM queries PDF RAG for device manual context.</a:t>
            </a:r>
          </a:p>
        </p:txBody>
      </p:sp>
      <p:sp>
        <p:nvSpPr>
          <p:cNvPr id="16" name="Rounded Rectangle 15"/>
          <p:cNvSpPr/>
          <p:nvPr/>
        </p:nvSpPr>
        <p:spPr>
          <a:xfrm>
            <a:off x="731520" y="5486400"/>
            <a:ext cx="10728655" cy="713232"/>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596128"/>
            <a:ext cx="10241280" cy="502920"/>
          </a:xfrm>
          <a:prstGeom prst="rect">
            <a:avLst/>
          </a:prstGeom>
          <a:noFill/>
        </p:spPr>
        <p:txBody>
          <a:bodyPr wrap="square" lIns="0" tIns="0" rIns="0" bIns="0">
            <a:spAutoFit/>
          </a:bodyPr>
          <a:lstStyle/>
          <a:p>
            <a:pPr>
              <a:spcAft>
                <a:spcPts val="200"/>
              </a:spcAft>
              <a:defRPr sz="1100" b="1">
                <a:solidFill>
                  <a:srgbClr val="F59E0B"/>
                </a:solidFill>
                <a:latin typeface="Helvetica"/>
              </a:defRPr>
            </a:pPr>
            <a:r>
              <a:t>6. Step 6: WebSocket Broadcast &amp; UI Action</a:t>
            </a:r>
          </a:p>
          <a:p>
            <a:pPr>
              <a:defRPr sz="950">
                <a:solidFill>
                  <a:srgbClr val="CBD5E1"/>
                </a:solidFill>
                <a:latin typeface="Arial"/>
              </a:defRPr>
            </a:pPr>
            <a:r>
              <a:t>Event broadcast to connected React clients via `/ws/telemetry`. Operator views alert, mitigates or confirms.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10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IoMT Device Inventory &amp; Multi-Protocol Telemetry</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6217920" cy="502920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5852160" cy="4663440"/>
          </a:xfrm>
          <a:prstGeom prst="rect">
            <a:avLst/>
          </a:prstGeom>
          <a:noFill/>
        </p:spPr>
        <p:txBody>
          <a:bodyPr wrap="square" lIns="0" tIns="0" rIns="0" bIns="0">
            <a:spAutoFit/>
          </a:bodyPr>
          <a:lstStyle/>
          <a:p>
            <a:pPr>
              <a:spcAft>
                <a:spcPts val="800"/>
              </a:spcAft>
              <a:defRPr sz="1200" b="1">
                <a:solidFill>
                  <a:srgbClr val="06B6D4"/>
                </a:solidFill>
                <a:latin typeface="Helvetica"/>
              </a:defRPr>
            </a:pPr>
            <a:r>
              <a:t>REGISTERED HOSPITAL DEVICE INVENTORY (SQLITE)</a:t>
            </a:r>
          </a:p>
          <a:p>
            <a:pPr>
              <a:defRPr sz="1000" b="1">
                <a:solidFill>
                  <a:srgbClr val="F8FAFC"/>
                </a:solidFill>
              </a:defRPr>
            </a:pPr>
            <a:r>
              <a:t>• DEV-ICU-101: ICU Telemetry Station A</a:t>
            </a:r>
          </a:p>
          <a:p>
            <a:pPr>
              <a:spcAft>
                <a:spcPts val="800"/>
              </a:spcAft>
              <a:defRPr sz="900">
                <a:solidFill>
                  <a:srgbClr val="CBD5E1"/>
                </a:solidFill>
              </a:defRPr>
            </a:pPr>
            <a:r>
              <a:t>Location: ICU Wing B (Room 301) | Protocol: Modbus/TCP | IP: 192.168.10.101 | Risk: 12.0 (Active)</a:t>
            </a:r>
          </a:p>
          <a:p>
            <a:pPr>
              <a:defRPr sz="1000" b="1">
                <a:solidFill>
                  <a:srgbClr val="F8FAFC"/>
                </a:solidFill>
              </a:defRPr>
            </a:pPr>
            <a:r>
              <a:t>• DEV-PUMP-204: Alaris Smart Infusion Pump #4</a:t>
            </a:r>
          </a:p>
          <a:p>
            <a:pPr>
              <a:spcAft>
                <a:spcPts val="800"/>
              </a:spcAft>
              <a:defRPr sz="900">
                <a:solidFill>
                  <a:srgbClr val="CBD5E1"/>
                </a:solidFill>
              </a:defRPr>
            </a:pPr>
            <a:r>
              <a:t>Location: Pediatrics (Room 104) | Protocol: MQTT | IP: 192.168.10.102 | Risk: 68.5 (Warning - Flood Attack)</a:t>
            </a:r>
          </a:p>
          <a:p>
            <a:pPr>
              <a:defRPr sz="1000" b="1">
                <a:solidFill>
                  <a:srgbClr val="F8FAFC"/>
                </a:solidFill>
              </a:defRPr>
            </a:pPr>
            <a:r>
              <a:t>• DEV-VENT-301: Puritan Bennett Ventilator</a:t>
            </a:r>
          </a:p>
          <a:p>
            <a:pPr>
              <a:spcAft>
                <a:spcPts val="800"/>
              </a:spcAft>
              <a:defRPr sz="900">
                <a:solidFill>
                  <a:srgbClr val="CBD5E1"/>
                </a:solidFill>
              </a:defRPr>
            </a:pPr>
            <a:r>
              <a:t>Location: ICU Wing A (Room 102) | Protocol: Modbus | IP: 192.168.10.103 | Risk: 5.0 (Active - Life-Critical)</a:t>
            </a:r>
          </a:p>
          <a:p>
            <a:pPr>
              <a:defRPr sz="1000" b="1">
                <a:solidFill>
                  <a:srgbClr val="F8FAFC"/>
                </a:solidFill>
              </a:defRPr>
            </a:pPr>
            <a:r>
              <a:t>• DEV-RAD-405: Siemens DICOM Radiology Station</a:t>
            </a:r>
          </a:p>
          <a:p>
            <a:pPr>
              <a:spcAft>
                <a:spcPts val="800"/>
              </a:spcAft>
              <a:defRPr sz="900">
                <a:solidFill>
                  <a:srgbClr val="CBD5E1"/>
                </a:solidFill>
              </a:defRPr>
            </a:pPr>
            <a:r>
              <a:t>Location: Radiology Imaging Bay 2 | Protocol: DICOM | IP: 192.168.10.104 | Risk: 94.0 (Critical - Ransomware)</a:t>
            </a:r>
          </a:p>
          <a:p>
            <a:pPr>
              <a:defRPr sz="1000" b="1">
                <a:solidFill>
                  <a:srgbClr val="F8FAFC"/>
                </a:solidFill>
              </a:defRPr>
            </a:pPr>
            <a:r>
              <a:t>• DEV-SYRINGE-12: Baxter Smart Syringe Driver</a:t>
            </a:r>
          </a:p>
          <a:p>
            <a:pPr>
              <a:spcAft>
                <a:spcPts val="800"/>
              </a:spcAft>
              <a:defRPr sz="900">
                <a:solidFill>
                  <a:srgbClr val="CBD5E1"/>
                </a:solidFill>
              </a:defRPr>
            </a:pPr>
            <a:r>
              <a:t>Location: Oncology Ward (Room 208) | Protocol: MQTT | IP: 192.168.10.105 | Risk: 18.0 (Active)</a:t>
            </a:r>
          </a:p>
        </p:txBody>
      </p:sp>
      <p:sp>
        <p:nvSpPr>
          <p:cNvPr id="8" name="Rounded Rectangle 7"/>
          <p:cNvSpPr/>
          <p:nvPr/>
        </p:nvSpPr>
        <p:spPr>
          <a:xfrm>
            <a:off x="7132320" y="1371600"/>
            <a:ext cx="4297680" cy="502920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1554480"/>
            <a:ext cx="3931920" cy="4663440"/>
          </a:xfrm>
          <a:prstGeom prst="rect">
            <a:avLst/>
          </a:prstGeom>
          <a:noFill/>
        </p:spPr>
        <p:txBody>
          <a:bodyPr wrap="square" lIns="0" tIns="0" rIns="0" bIns="0">
            <a:spAutoFit/>
          </a:bodyPr>
          <a:lstStyle/>
          <a:p>
            <a:pPr>
              <a:spcAft>
                <a:spcPts val="800"/>
              </a:spcAft>
              <a:defRPr sz="1200" b="1">
                <a:solidFill>
                  <a:srgbClr val="14B8A6"/>
                </a:solidFill>
                <a:latin typeface="Helvetica"/>
              </a:defRPr>
            </a:pPr>
            <a:r>
              <a:t>MULTI-PROTOCOL TELEMETRY PARSING</a:t>
            </a:r>
          </a:p>
          <a:p>
            <a:pPr>
              <a:defRPr sz="1000" b="1">
                <a:solidFill>
                  <a:srgbClr val="F8FAFC"/>
                </a:solidFill>
              </a:defRPr>
            </a:pPr>
            <a:r>
              <a:t>• Modbus/TCP Protocol</a:t>
            </a:r>
          </a:p>
          <a:p>
            <a:pPr>
              <a:spcAft>
                <a:spcPts val="800"/>
              </a:spcAft>
              <a:defRPr sz="850">
                <a:solidFill>
                  <a:srgbClr val="CBD5E1"/>
                </a:solidFill>
              </a:defRPr>
            </a:pPr>
            <a:r>
              <a:t>Decodes discrete register reads vs unauthorized write functions (05/06/15/16). Unregistered write operations trigger immediate interlock warnings.</a:t>
            </a:r>
          </a:p>
          <a:p>
            <a:pPr>
              <a:defRPr sz="1000" b="1">
                <a:solidFill>
                  <a:srgbClr val="F8FAFC"/>
                </a:solidFill>
              </a:defRPr>
            </a:pPr>
            <a:r>
              <a:t>• MQTT Telemetry</a:t>
            </a:r>
          </a:p>
          <a:p>
            <a:pPr>
              <a:spcAft>
                <a:spcPts val="800"/>
              </a:spcAft>
              <a:defRPr sz="850">
                <a:solidFill>
                  <a:srgbClr val="CBD5E1"/>
                </a:solidFill>
              </a:defRPr>
            </a:pPr>
            <a:r>
              <a:t>Monitors publish message frequency (`mqtt.msgtype`), topic length, and connection flags. Detects flooding targeting smart pumps.</a:t>
            </a:r>
          </a:p>
          <a:p>
            <a:pPr>
              <a:defRPr sz="1000" b="1">
                <a:solidFill>
                  <a:srgbClr val="F8FAFC"/>
                </a:solidFill>
              </a:defRPr>
            </a:pPr>
            <a:r>
              <a:t>• DICOM Image Stream</a:t>
            </a:r>
          </a:p>
          <a:p>
            <a:pPr>
              <a:spcAft>
                <a:spcPts val="800"/>
              </a:spcAft>
              <a:defRPr sz="850">
                <a:solidFill>
                  <a:srgbClr val="CBD5E1"/>
                </a:solidFill>
              </a:defRPr>
            </a:pPr>
            <a:r>
              <a:t>Tracks transmission rate and byte entropy. Abrupt surges in byte entropy (&gt;7.5/8.0) indicate encrypted ransomware payloads targeting PACS.</a:t>
            </a:r>
          </a:p>
          <a:p>
            <a:pPr>
              <a:defRPr sz="1000" b="1">
                <a:solidFill>
                  <a:srgbClr val="F8FAFC"/>
                </a:solidFill>
              </a:defRPr>
            </a:pPr>
            <a:r>
              <a:t>• Device Risk Score Decay</a:t>
            </a:r>
          </a:p>
          <a:p>
            <a:pPr>
              <a:spcAft>
                <a:spcPts val="800"/>
              </a:spcAft>
              <a:defRPr sz="850">
                <a:solidFill>
                  <a:srgbClr val="CBD5E1"/>
                </a:solidFill>
              </a:defRPr>
            </a:pPr>
            <a:r>
              <a:t>Risk scores increase with detected anomalies and decay exponentially over time without threats: R(t) = R_0 * exp(-lambda * 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11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Dataset Provenance: Forensic Audit of Edge-IIoTset</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06B6D4"/>
                </a:solidFill>
                <a:latin typeface="Helvetica"/>
              </a:defRPr>
            </a:pPr>
            <a:r>
              <a:t>DATASET PROVENANCE &amp; CRYPTOGRAPHIC VERIFICATION</a:t>
            </a:r>
          </a:p>
          <a:p>
            <a:pPr>
              <a:defRPr sz="1000" b="1">
                <a:solidFill>
                  <a:srgbClr val="F8FAFC"/>
                </a:solidFill>
              </a:defRPr>
            </a:pPr>
            <a:r>
              <a:t>• Official Dataset:</a:t>
            </a:r>
          </a:p>
          <a:p>
            <a:pPr>
              <a:spcAft>
                <a:spcPts val="800"/>
              </a:spcAft>
              <a:defRPr sz="900">
                <a:solidFill>
                  <a:srgbClr val="CBD5E1"/>
                </a:solidFill>
              </a:defRPr>
            </a:pPr>
            <a:r>
              <a:t>Edge-IIoTset: A New Comprehensive Realistic Cyber Security Dataset of IoT and IIoT Applications for Machine Learning (IEEE Access 2022).</a:t>
            </a:r>
          </a:p>
          <a:p>
            <a:pPr>
              <a:defRPr sz="1000" b="1">
                <a:solidFill>
                  <a:srgbClr val="F8FAFC"/>
                </a:solidFill>
              </a:defRPr>
            </a:pPr>
            <a:r>
              <a:t>• Source Authors:</a:t>
            </a:r>
          </a:p>
          <a:p>
            <a:pPr>
              <a:spcAft>
                <a:spcPts val="800"/>
              </a:spcAft>
              <a:defRPr sz="900">
                <a:solidFill>
                  <a:srgbClr val="CBD5E1"/>
                </a:solidFill>
              </a:defRPr>
            </a:pPr>
            <a:r>
              <a:t>M. A. Ferrag et al. (Technology Innovation Institute &amp; De Montfort University).</a:t>
            </a:r>
          </a:p>
          <a:p>
            <a:pPr>
              <a:defRPr sz="1000" b="1">
                <a:solidFill>
                  <a:srgbClr val="F8FAFC"/>
                </a:solidFill>
              </a:defRPr>
            </a:pPr>
            <a:r>
              <a:t>• Target File &amp; Size:</a:t>
            </a:r>
          </a:p>
          <a:p>
            <a:pPr>
              <a:spcAft>
                <a:spcPts val="800"/>
              </a:spcAft>
              <a:defRPr sz="900">
                <a:solidFill>
                  <a:srgbClr val="CBD5E1"/>
                </a:solidFill>
              </a:defRPr>
            </a:pPr>
            <a:r>
              <a:t>`datasets/edge_iiotset/selected_ml/ML-EdgeIIoT-dataset.csv` (82,184,390 bytes, 157,800 records, 63 columns).</a:t>
            </a:r>
          </a:p>
          <a:p>
            <a:pPr>
              <a:defRPr sz="1000" b="1">
                <a:solidFill>
                  <a:srgbClr val="F8FAFC"/>
                </a:solidFill>
              </a:defRPr>
            </a:pPr>
            <a:r>
              <a:t>• Cryptographic SHA-256:</a:t>
            </a:r>
          </a:p>
          <a:p>
            <a:pPr>
              <a:spcAft>
                <a:spcPts val="800"/>
              </a:spcAft>
              <a:defRPr sz="900">
                <a:solidFill>
                  <a:srgbClr val="CBD5E1"/>
                </a:solidFill>
              </a:defRPr>
            </a:pPr>
            <a:r>
              <a:t>`53101fad091af20bee815860962a5016b802ee45d456a141042f6183094c3c1a` (Verified via automated test).</a:t>
            </a:r>
          </a:p>
          <a:p>
            <a:pPr>
              <a:defRPr sz="1000" b="1">
                <a:solidFill>
                  <a:srgbClr val="F8FAFC"/>
                </a:solidFill>
              </a:defRPr>
            </a:pPr>
            <a:r>
              <a:t>• Ground-Truth Distribution:</a:t>
            </a:r>
          </a:p>
          <a:p>
            <a:pPr>
              <a:spcAft>
                <a:spcPts val="800"/>
              </a:spcAft>
              <a:defRPr sz="900">
                <a:solidFill>
                  <a:srgbClr val="CBD5E1"/>
                </a:solidFill>
              </a:defRPr>
            </a:pPr>
            <a:r>
              <a:t>Normal traffic: 24,301 (15.4%); Attack traffic: 133,499 (84.6%) across 14 distinct attack types.</a:t>
            </a:r>
          </a:p>
        </p:txBody>
      </p:sp>
      <p:sp>
        <p:nvSpPr>
          <p:cNvPr id="8" name="Rounded Rectangle 7"/>
          <p:cNvSpPr/>
          <p:nvPr/>
        </p:nvSpPr>
        <p:spPr>
          <a:xfrm>
            <a:off x="6217920" y="1371600"/>
            <a:ext cx="5212080" cy="5029200"/>
          </a:xfrm>
          <a:prstGeom prst="roundRect">
            <a:avLst/>
          </a:prstGeom>
          <a:solidFill>
            <a:srgbClr val="16223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EF4444"/>
                </a:solidFill>
                <a:latin typeface="Helvetica"/>
              </a:defRPr>
            </a:pPr>
            <a:r>
              <a:t>CRITICAL DATA QUALITY &amp; ANOMALY DISCOVERIES</a:t>
            </a:r>
          </a:p>
          <a:p>
            <a:pPr>
              <a:defRPr sz="1000" b="1">
                <a:solidFill>
                  <a:srgbClr val="F8FAFC"/>
                </a:solidFill>
              </a:defRPr>
            </a:pPr>
            <a:r>
              <a:t>• 8 Constant (Zero-Variance) Columns:</a:t>
            </a:r>
          </a:p>
          <a:p>
            <a:pPr>
              <a:spcAft>
                <a:spcPts val="800"/>
              </a:spcAft>
              <a:defRPr sz="900">
                <a:solidFill>
                  <a:srgbClr val="CBD5E1"/>
                </a:solidFill>
              </a:defRPr>
            </a:pPr>
            <a:r>
              <a:t>Columns `icmp.unused`, `http.tls_port`, `dns.qry.type`, `dns.retransmit_request_in`, `mqtt.msg_decoded_as`, `mbtcp.len`, `mbtcp.trans_id`, `mbtcp.unit_id` are 100% constant zero. Excluded from models.</a:t>
            </a:r>
          </a:p>
          <a:p>
            <a:pPr>
              <a:defRPr sz="1000" b="1">
                <a:solidFill>
                  <a:srgbClr val="F8FAFC"/>
                </a:solidFill>
              </a:defRPr>
            </a:pPr>
            <a:r>
              <a:t>• Modbus Function Code Absence:</a:t>
            </a:r>
          </a:p>
          <a:p>
            <a:pPr>
              <a:spcAft>
                <a:spcPts val="800"/>
              </a:spcAft>
              <a:defRPr sz="900">
                <a:solidFill>
                  <a:srgbClr val="CBD5E1"/>
                </a:solidFill>
              </a:defRPr>
            </a:pPr>
            <a:r>
              <a:t>All Modbus TCP columns in the CSV are constant zero. No Modbus traffic variations exist in this CSV subset; encoded honestly as protocol-absent (0).</a:t>
            </a:r>
          </a:p>
          <a:p>
            <a:pPr>
              <a:defRPr sz="1000" b="1">
                <a:solidFill>
                  <a:srgbClr val="F8FAFC"/>
                </a:solidFill>
              </a:defRPr>
            </a:pPr>
            <a:r>
              <a:t>• 15,712 Corrupted Timestamp Cells:</a:t>
            </a:r>
          </a:p>
          <a:p>
            <a:pPr>
              <a:spcAft>
                <a:spcPts val="800"/>
              </a:spcAft>
              <a:defRPr sz="900">
                <a:solidFill>
                  <a:srgbClr val="CBD5E1"/>
                </a:solidFill>
              </a:defRPr>
            </a:pPr>
            <a:r>
              <a:t>Column `frame.time` suffers an off-by-one shifting error for `DDoS_UDP` and `MITM` records (containing IP strings or '6.0'). Global chronological sorting using this column is invalid!</a:t>
            </a:r>
          </a:p>
          <a:p>
            <a:pPr>
              <a:defRPr sz="1000" b="1">
                <a:solidFill>
                  <a:srgbClr val="F8FAFC"/>
                </a:solidFill>
              </a:defRPr>
            </a:pPr>
            <a:r>
              <a:t>• Zero Missing Cells Policy:</a:t>
            </a:r>
          </a:p>
          <a:p>
            <a:pPr>
              <a:spcAft>
                <a:spcPts val="800"/>
              </a:spcAft>
              <a:defRPr sz="900">
                <a:solidFill>
                  <a:srgbClr val="CBD5E1"/>
                </a:solidFill>
              </a:defRPr>
            </a:pPr>
            <a:r>
              <a:t>The dataset authors replaced all raw missing values with 0.0 or strings, creating hidden missingness that requires domain-aware feature engineering.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12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Feature Engineering: Leakage Prevention &amp; Dual Configurations</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74720" cy="5029200"/>
          </a:xfrm>
          <a:prstGeom prst="roundRect">
            <a:avLst/>
          </a:prstGeom>
          <a:solidFill>
            <a:srgbClr val="16223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3200400" cy="4663440"/>
          </a:xfrm>
          <a:prstGeom prst="rect">
            <a:avLst/>
          </a:prstGeom>
          <a:noFill/>
        </p:spPr>
        <p:txBody>
          <a:bodyPr wrap="square" lIns="0" tIns="0" rIns="0" bIns="0">
            <a:spAutoFit/>
          </a:bodyPr>
          <a:lstStyle/>
          <a:p>
            <a:pPr>
              <a:spcAft>
                <a:spcPts val="1200"/>
              </a:spcAft>
              <a:defRPr sz="1100" b="1">
                <a:solidFill>
                  <a:srgbClr val="EF4444"/>
                </a:solidFill>
                <a:latin typeface="Helvetica"/>
              </a:defRPr>
            </a:pPr>
            <a:r>
              <a:t>LEAKAGE SAFEGUARDS</a:t>
            </a:r>
            <a:br/>
            <a:r>
              <a:t>&amp; BLACKLISTING</a:t>
            </a:r>
          </a:p>
          <a:p>
            <a:pPr>
              <a:defRPr sz="950" b="1">
                <a:solidFill>
                  <a:srgbClr val="F8FAFC"/>
                </a:solidFill>
              </a:defRPr>
            </a:pPr>
            <a:r>
              <a:t>• IP &amp; MAC Addresses Excluded:</a:t>
            </a:r>
          </a:p>
          <a:p>
            <a:pPr>
              <a:spcAft>
                <a:spcPts val="1000"/>
              </a:spcAft>
              <a:defRPr sz="850">
                <a:solidFill>
                  <a:srgbClr val="CBD5E1"/>
                </a:solidFill>
              </a:defRPr>
            </a:pPr>
            <a:r>
              <a:t>`ip.src_host` and `ip.dst_host` contain testbed IPs (e.g. 192.168.0.128). Models memorize IPs and claim &gt;99% accuracy while failing on any new network. Excluded!</a:t>
            </a:r>
          </a:p>
          <a:p>
            <a:pPr>
              <a:defRPr sz="950" b="1">
                <a:solidFill>
                  <a:srgbClr val="F8FAFC"/>
                </a:solidFill>
              </a:defRPr>
            </a:pPr>
            <a:r>
              <a:t>• Source Ports Excluded:</a:t>
            </a:r>
          </a:p>
          <a:p>
            <a:pPr>
              <a:spcAft>
                <a:spcPts val="1000"/>
              </a:spcAft>
              <a:defRPr sz="850">
                <a:solidFill>
                  <a:srgbClr val="CBD5E1"/>
                </a:solidFill>
              </a:defRPr>
            </a:pPr>
            <a:r>
              <a:t>`tcp.srcport` memorizes attack tool port ranges (Nmap/Metasploit). Excluded!</a:t>
            </a:r>
          </a:p>
          <a:p>
            <a:pPr>
              <a:defRPr sz="950" b="1">
                <a:solidFill>
                  <a:srgbClr val="F8FAFC"/>
                </a:solidFill>
              </a:defRPr>
            </a:pPr>
            <a:r>
              <a:t>• Shifted Timestamps Excluded:</a:t>
            </a:r>
          </a:p>
          <a:p>
            <a:pPr>
              <a:spcAft>
                <a:spcPts val="1000"/>
              </a:spcAft>
              <a:defRPr sz="850">
                <a:solidFill>
                  <a:srgbClr val="CBD5E1"/>
                </a:solidFill>
              </a:defRPr>
            </a:pPr>
            <a:r>
              <a:t>`frame.time` row-shifting leaks attack class labels. Excluded!</a:t>
            </a:r>
          </a:p>
          <a:p>
            <a:pPr>
              <a:defRPr sz="950" b="1">
                <a:solidFill>
                  <a:srgbClr val="F8FAFC"/>
                </a:solidFill>
              </a:defRPr>
            </a:pPr>
            <a:r>
              <a:t>• Target Label Isolation:</a:t>
            </a:r>
          </a:p>
          <a:p>
            <a:pPr>
              <a:spcAft>
                <a:spcPts val="1000"/>
              </a:spcAft>
              <a:defRPr sz="850">
                <a:solidFill>
                  <a:srgbClr val="CBD5E1"/>
                </a:solidFill>
              </a:defRPr>
            </a:pPr>
            <a:r>
              <a:t>`Attack_label` &amp; `Attack_type` strictly segregated into ground-truth target vector y.</a:t>
            </a:r>
          </a:p>
        </p:txBody>
      </p:sp>
      <p:sp>
        <p:nvSpPr>
          <p:cNvPr id="8" name="Rounded Rectangle 7"/>
          <p:cNvSpPr/>
          <p:nvPr/>
        </p:nvSpPr>
        <p:spPr>
          <a:xfrm>
            <a:off x="4389120" y="1371600"/>
            <a:ext cx="3474720" cy="502920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554480"/>
            <a:ext cx="3200400" cy="4663440"/>
          </a:xfrm>
          <a:prstGeom prst="rect">
            <a:avLst/>
          </a:prstGeom>
          <a:noFill/>
        </p:spPr>
        <p:txBody>
          <a:bodyPr wrap="square" lIns="0" tIns="0" rIns="0" bIns="0">
            <a:spAutoFit/>
          </a:bodyPr>
          <a:lstStyle/>
          <a:p>
            <a:pPr>
              <a:spcAft>
                <a:spcPts val="1200"/>
              </a:spcAft>
              <a:defRPr sz="1100" b="1">
                <a:solidFill>
                  <a:srgbClr val="F59E0B"/>
                </a:solidFill>
                <a:latin typeface="Helvetica"/>
              </a:defRPr>
            </a:pPr>
            <a:r>
              <a:t>CONFIGURATION A:</a:t>
            </a:r>
            <a:br/>
            <a:r>
              <a:t>CANONICAL EDGE INTERFACE</a:t>
            </a:r>
          </a:p>
          <a:p>
            <a:pPr>
              <a:defRPr sz="950" b="1">
                <a:solidFill>
                  <a:srgbClr val="F8FAFC"/>
                </a:solidFill>
              </a:defRPr>
            </a:pPr>
            <a:r>
              <a:t>• Design Goal:</a:t>
            </a:r>
          </a:p>
          <a:p>
            <a:pPr>
              <a:spcAft>
                <a:spcPts val="1000"/>
              </a:spcAft>
              <a:defRPr sz="850">
                <a:solidFill>
                  <a:srgbClr val="CBD5E1"/>
                </a:solidFill>
              </a:defRPr>
            </a:pPr>
            <a:r>
              <a:t>Maintains interface compatibility with EdgeShield AI's 9-feature sensor schema.</a:t>
            </a:r>
          </a:p>
          <a:p>
            <a:pPr>
              <a:defRPr sz="950" b="1">
                <a:solidFill>
                  <a:srgbClr val="F8FAFC"/>
                </a:solidFill>
              </a:defRPr>
            </a:pPr>
            <a:r>
              <a:t>• 10 Scaled Features:</a:t>
            </a:r>
          </a:p>
          <a:p>
            <a:pPr>
              <a:spcAft>
                <a:spcPts val="1000"/>
              </a:spcAft>
              <a:defRPr sz="850">
                <a:solidFill>
                  <a:srgbClr val="CBD5E1"/>
                </a:solidFill>
              </a:defRPr>
            </a:pPr>
            <a:r>
              <a:t>`packet_length`, `flow_duration`, `header_length`, `byte_rate`, `packet_rate`, `tcp_syn_flag`, `mqtt_msg_rate`, `modbus_fn_code`, `entropy`, + `entropy_is_missing`.</a:t>
            </a:r>
          </a:p>
          <a:p>
            <a:pPr>
              <a:defRPr sz="950" b="1">
                <a:solidFill>
                  <a:srgbClr val="F8FAFC"/>
                </a:solidFill>
              </a:defRPr>
            </a:pPr>
            <a:r>
              <a:t>• Honest Missingness Handling:</a:t>
            </a:r>
          </a:p>
          <a:p>
            <a:pPr>
              <a:spcAft>
                <a:spcPts val="1000"/>
              </a:spcAft>
              <a:defRPr sz="850">
                <a:solidFill>
                  <a:srgbClr val="CBD5E1"/>
                </a:solidFill>
              </a:defRPr>
            </a:pPr>
            <a:r>
              <a:t>8 of 9 features are omitted from the source CSV. Imputed strictly on training split via `SimpleImputer(strategy='median')`.</a:t>
            </a:r>
          </a:p>
          <a:p>
            <a:pPr>
              <a:defRPr sz="950" b="1">
                <a:solidFill>
                  <a:srgbClr val="F8FAFC"/>
                </a:solidFill>
              </a:defRPr>
            </a:pPr>
            <a:r>
              <a:t>• Scientific Consequence:</a:t>
            </a:r>
          </a:p>
          <a:p>
            <a:pPr>
              <a:spcAft>
                <a:spcPts val="1000"/>
              </a:spcAft>
              <a:defRPr sz="850">
                <a:solidFill>
                  <a:srgbClr val="CBD5E1"/>
                </a:solidFill>
              </a:defRPr>
            </a:pPr>
            <a:r>
              <a:t>Demonstrates the severe performance penalty when low-level telemetry is missing.</a:t>
            </a:r>
          </a:p>
        </p:txBody>
      </p:sp>
      <p:sp>
        <p:nvSpPr>
          <p:cNvPr id="10" name="Rounded Rectangle 9"/>
          <p:cNvSpPr/>
          <p:nvPr/>
        </p:nvSpPr>
        <p:spPr>
          <a:xfrm>
            <a:off x="8046720" y="1371600"/>
            <a:ext cx="347472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554480"/>
            <a:ext cx="3200400" cy="4663440"/>
          </a:xfrm>
          <a:prstGeom prst="rect">
            <a:avLst/>
          </a:prstGeom>
          <a:noFill/>
        </p:spPr>
        <p:txBody>
          <a:bodyPr wrap="square" lIns="0" tIns="0" rIns="0" bIns="0">
            <a:spAutoFit/>
          </a:bodyPr>
          <a:lstStyle/>
          <a:p>
            <a:pPr>
              <a:spcAft>
                <a:spcPts val="1200"/>
              </a:spcAft>
              <a:defRPr sz="1100" b="1">
                <a:solidFill>
                  <a:srgbClr val="06B6D4"/>
                </a:solidFill>
                <a:latin typeface="Helvetica"/>
              </a:defRPr>
            </a:pPr>
            <a:r>
              <a:t>CONFIGURATION B:</a:t>
            </a:r>
            <a:br/>
            <a:r>
              <a:t>EXPANDED BENCHMARK</a:t>
            </a:r>
          </a:p>
          <a:p>
            <a:pPr>
              <a:defRPr sz="950" b="1">
                <a:solidFill>
                  <a:srgbClr val="F8FAFC"/>
                </a:solidFill>
              </a:defRPr>
            </a:pPr>
            <a:r>
              <a:t>• Design Goal:</a:t>
            </a:r>
          </a:p>
          <a:p>
            <a:pPr>
              <a:spcAft>
                <a:spcPts val="1000"/>
              </a:spcAft>
              <a:defRPr sz="850">
                <a:solidFill>
                  <a:srgbClr val="CBD5E1"/>
                </a:solidFill>
              </a:defRPr>
            </a:pPr>
            <a:r>
              <a:t>Extracts real, high-variance protocol features present in Edge-IIoTset with 100% data completeness.</a:t>
            </a:r>
          </a:p>
          <a:p>
            <a:pPr>
              <a:defRPr sz="950" b="1">
                <a:solidFill>
                  <a:srgbClr val="F8FAFC"/>
                </a:solidFill>
              </a:defRPr>
            </a:pPr>
            <a:r>
              <a:t>• 29 Clean Protocol Features:</a:t>
            </a:r>
          </a:p>
          <a:p>
            <a:pPr>
              <a:spcAft>
                <a:spcPts val="1000"/>
              </a:spcAft>
              <a:defRPr sz="850">
                <a:solidFill>
                  <a:srgbClr val="CBD5E1"/>
                </a:solidFill>
              </a:defRPr>
            </a:pPr>
            <a:r>
              <a:t>Spans ARP, ICMP, HTTP, TCP, UDP, DNS, MQTT layers: flags, checksums, lengths, connection states, response codes.</a:t>
            </a:r>
          </a:p>
          <a:p>
            <a:pPr>
              <a:defRPr sz="950" b="1">
                <a:solidFill>
                  <a:srgbClr val="F8FAFC"/>
                </a:solidFill>
              </a:defRPr>
            </a:pPr>
            <a:r>
              <a:t>• Strict Preprocessing Isolation:</a:t>
            </a:r>
          </a:p>
          <a:p>
            <a:pPr>
              <a:spcAft>
                <a:spcPts val="1000"/>
              </a:spcAft>
              <a:defRPr sz="850">
                <a:solidFill>
                  <a:srgbClr val="CBD5E1"/>
                </a:solidFill>
              </a:defRPr>
            </a:pPr>
            <a:r>
              <a:t>`StandardScaler` fitted strictly on training partition (89,142 rows); applied to val, test, and OOD sets.</a:t>
            </a:r>
          </a:p>
          <a:p>
            <a:pPr>
              <a:defRPr sz="950" b="1">
                <a:solidFill>
                  <a:srgbClr val="F8FAFC"/>
                </a:solidFill>
              </a:defRPr>
            </a:pPr>
            <a:r>
              <a:t>• Scientific Consequence:</a:t>
            </a:r>
          </a:p>
          <a:p>
            <a:pPr>
              <a:spcAft>
                <a:spcPts val="1000"/>
              </a:spcAft>
              <a:defRPr sz="850">
                <a:solidFill>
                  <a:srgbClr val="CBD5E1"/>
                </a:solidFill>
              </a:defRPr>
            </a:pPr>
            <a:r>
              <a:t>Enables models to achieve strong multi-class discrimination without testbed identity leakage.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13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Supervised Threat Classification: Multi-Class Models</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A855F7"/>
                </a:solidFill>
                <a:latin typeface="Helvetica"/>
              </a:defRPr>
            </a:pPr>
            <a:r>
              <a:t>CANONICAL 6-THREAT TAXONOMY MAPPING</a:t>
            </a:r>
          </a:p>
          <a:p>
            <a:pPr>
              <a:defRPr sz="1000" b="1">
                <a:solidFill>
                  <a:srgbClr val="F8FAFC"/>
                </a:solidFill>
              </a:defRPr>
            </a:pPr>
            <a:r>
              <a:t>• 1. Normal Baseline Traffic:</a:t>
            </a:r>
          </a:p>
          <a:p>
            <a:pPr>
              <a:spcAft>
                <a:spcPts val="600"/>
              </a:spcAft>
              <a:defRPr sz="850">
                <a:solidFill>
                  <a:srgbClr val="CBD5E1"/>
                </a:solidFill>
              </a:defRPr>
            </a:pPr>
            <a:r>
              <a:t>24,301 records (15.4%): Benign IoMT and sensor traffic.</a:t>
            </a:r>
          </a:p>
          <a:p>
            <a:pPr>
              <a:defRPr sz="1000" b="1">
                <a:solidFill>
                  <a:srgbClr val="F8FAFC"/>
                </a:solidFill>
              </a:defRPr>
            </a:pPr>
            <a:r>
              <a:t>• 2. Flood DoS / DDoS:</a:t>
            </a:r>
          </a:p>
          <a:p>
            <a:pPr>
              <a:spcAft>
                <a:spcPts val="600"/>
              </a:spcAft>
              <a:defRPr sz="850">
                <a:solidFill>
                  <a:srgbClr val="CBD5E1"/>
                </a:solidFill>
              </a:defRPr>
            </a:pPr>
            <a:r>
              <a:t>49,404 records (31.3%): Aggregates `DDoS_UDP`, `DDoS_ICMP`, `DDoS_HTTP`, and `DDoS_TCP`.</a:t>
            </a:r>
          </a:p>
          <a:p>
            <a:pPr>
              <a:defRPr sz="1000" b="1">
                <a:solidFill>
                  <a:srgbClr val="F8FAFC"/>
                </a:solidFill>
              </a:defRPr>
            </a:pPr>
            <a:r>
              <a:t>• 3. Ransomware:</a:t>
            </a:r>
          </a:p>
          <a:p>
            <a:pPr>
              <a:spcAft>
                <a:spcPts val="600"/>
              </a:spcAft>
              <a:defRPr sz="850">
                <a:solidFill>
                  <a:srgbClr val="CBD5E1"/>
                </a:solidFill>
              </a:defRPr>
            </a:pPr>
            <a:r>
              <a:t>10,925 records (6.9%): Malicious encryption bursts targeting hospital storage.</a:t>
            </a:r>
          </a:p>
          <a:p>
            <a:pPr>
              <a:defRPr sz="1000" b="1">
                <a:solidFill>
                  <a:srgbClr val="F8FAFC"/>
                </a:solidFill>
              </a:defRPr>
            </a:pPr>
            <a:r>
              <a:t>• 4. Command Injection:</a:t>
            </a:r>
          </a:p>
          <a:p>
            <a:pPr>
              <a:spcAft>
                <a:spcPts val="600"/>
              </a:spcAft>
              <a:defRPr sz="850">
                <a:solidFill>
                  <a:srgbClr val="CBD5E1"/>
                </a:solidFill>
              </a:defRPr>
            </a:pPr>
            <a:r>
              <a:t>20,363 records (12.9%): Aggregates `SQL_injection` and `XSS` attacks.</a:t>
            </a:r>
          </a:p>
          <a:p>
            <a:pPr>
              <a:defRPr sz="1000" b="1">
                <a:solidFill>
                  <a:srgbClr val="F8FAFC"/>
                </a:solidFill>
              </a:defRPr>
            </a:pPr>
            <a:r>
              <a:t>• 5. Reconnaissance:</a:t>
            </a:r>
          </a:p>
          <a:p>
            <a:pPr>
              <a:spcAft>
                <a:spcPts val="600"/>
              </a:spcAft>
              <a:defRPr sz="850">
                <a:solidFill>
                  <a:srgbClr val="CBD5E1"/>
                </a:solidFill>
              </a:defRPr>
            </a:pPr>
            <a:r>
              <a:t>21,148 records (13.4%): Aggregates `Port_Scanning`, `Vulnerability_scanner`, `Fingerprinting`.</a:t>
            </a:r>
          </a:p>
          <a:p>
            <a:pPr>
              <a:defRPr sz="1000" b="1">
                <a:solidFill>
                  <a:srgbClr val="F8FAFC"/>
                </a:solidFill>
              </a:defRPr>
            </a:pPr>
            <a:r>
              <a:t>• 6. Spoofing / MITM:</a:t>
            </a:r>
          </a:p>
          <a:p>
            <a:pPr>
              <a:spcAft>
                <a:spcPts val="600"/>
              </a:spcAft>
              <a:defRPr sz="850">
                <a:solidFill>
                  <a:srgbClr val="CBD5E1"/>
                </a:solidFill>
              </a:defRPr>
            </a:pPr>
            <a:r>
              <a:t>1,214 records (0.8%): ARP spoofing and session tampering attacks.</a:t>
            </a:r>
          </a:p>
        </p:txBody>
      </p:sp>
      <p:sp>
        <p:nvSpPr>
          <p:cNvPr id="8" name="Rounded Rectangle 7"/>
          <p:cNvSpPr/>
          <p:nvPr/>
        </p:nvSpPr>
        <p:spPr>
          <a:xfrm>
            <a:off x="6217920" y="1371600"/>
            <a:ext cx="521208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06B6D4"/>
                </a:solidFill>
                <a:latin typeface="Helvetica"/>
              </a:defRPr>
            </a:pPr>
            <a:r>
              <a:t>EVALUATED MODEL ARCHITECTURES</a:t>
            </a:r>
          </a:p>
          <a:p>
            <a:pPr>
              <a:defRPr sz="1000" b="1">
                <a:solidFill>
                  <a:srgbClr val="F8FAFC"/>
                </a:solidFill>
              </a:defRPr>
            </a:pPr>
            <a:r>
              <a:t>• Random Forest (Core Ensemble):</a:t>
            </a:r>
          </a:p>
          <a:p>
            <a:pPr>
              <a:spcAft>
                <a:spcPts val="600"/>
              </a:spcAft>
              <a:defRPr sz="850">
                <a:solidFill>
                  <a:srgbClr val="CBD5E1"/>
                </a:solidFill>
              </a:defRPr>
            </a:pPr>
            <a:r>
              <a:t>100 Trees, max_depth=18, min_samples_split=4, class_weight='balanced'. Handles non-linear feature interactions and protocol thresholds robustly.</a:t>
            </a:r>
          </a:p>
          <a:p>
            <a:pPr>
              <a:defRPr sz="1000" b="1">
                <a:solidFill>
                  <a:srgbClr val="F8FAFC"/>
                </a:solidFill>
              </a:defRPr>
            </a:pPr>
            <a:r>
              <a:t>• XGBoost (Gradient Boosted Trees):</a:t>
            </a:r>
          </a:p>
          <a:p>
            <a:pPr>
              <a:spcAft>
                <a:spcPts val="600"/>
              </a:spcAft>
              <a:defRPr sz="850">
                <a:solidFill>
                  <a:srgbClr val="CBD5E1"/>
                </a:solidFill>
              </a:defRPr>
            </a:pPr>
            <a:r>
              <a:t>100 Estimators, max_depth=8, learning_rate=0.1, subsample=0.85, colsample_bytree=0.85. Evaluates sequential residual tree fitting.</a:t>
            </a:r>
          </a:p>
          <a:p>
            <a:pPr>
              <a:defRPr sz="1000" b="1">
                <a:solidFill>
                  <a:srgbClr val="F8FAFC"/>
                </a:solidFill>
              </a:defRPr>
            </a:pPr>
            <a:r>
              <a:t>• Decision Tree (Single-Tree Baseline):</a:t>
            </a:r>
          </a:p>
          <a:p>
            <a:pPr>
              <a:spcAft>
                <a:spcPts val="600"/>
              </a:spcAft>
              <a:defRPr sz="850">
                <a:solidFill>
                  <a:srgbClr val="CBD5E1"/>
                </a:solidFill>
              </a:defRPr>
            </a:pPr>
            <a:r>
              <a:t>max_depth=12. Provides an interpretable, low-latency tree baseline for latency vs accuracy tradeoff comparison.</a:t>
            </a:r>
          </a:p>
          <a:p>
            <a:pPr>
              <a:defRPr sz="1000" b="1">
                <a:solidFill>
                  <a:srgbClr val="F8FAFC"/>
                </a:solidFill>
              </a:defRPr>
            </a:pPr>
            <a:r>
              <a:t>• Logistic Regression (Linear Baseline):</a:t>
            </a:r>
          </a:p>
          <a:p>
            <a:pPr>
              <a:spcAft>
                <a:spcPts val="600"/>
              </a:spcAft>
              <a:defRPr sz="850">
                <a:solidFill>
                  <a:srgbClr val="CBD5E1"/>
                </a:solidFill>
              </a:defRPr>
            </a:pPr>
            <a:r>
              <a:t>L2 regularization, C=1.0, multinomial lbfgs solver. Establishes the lower bound of linear separability in the feature space.</a:t>
            </a:r>
          </a:p>
          <a:p>
            <a:pPr>
              <a:defRPr sz="1000" b="1">
                <a:solidFill>
                  <a:srgbClr val="F8FAFC"/>
                </a:solidFill>
              </a:defRPr>
            </a:pPr>
            <a:r>
              <a:t>• Controlled Partitioning:</a:t>
            </a:r>
          </a:p>
          <a:p>
            <a:pPr>
              <a:spcAft>
                <a:spcPts val="600"/>
              </a:spcAft>
              <a:defRPr sz="850">
                <a:solidFill>
                  <a:srgbClr val="CBD5E1"/>
                </a:solidFill>
              </a:defRPr>
            </a:pPr>
            <a:r>
              <a:t>70% Train (89,142), 15% Val (19,102), 15% Test (19,103). Stratified across all 6 classes.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14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Unsupervised Anomaly Detection &amp; Out-Of-Distribution Threats</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14B8A6"/>
                </a:solidFill>
                <a:latin typeface="Helvetica"/>
              </a:defRPr>
            </a:pPr>
            <a:r>
              <a:t>ISOLATION FOREST ANOMALY SCORING</a:t>
            </a:r>
          </a:p>
          <a:p>
            <a:pPr>
              <a:defRPr sz="1000" b="1">
                <a:solidFill>
                  <a:srgbClr val="F8FAFC"/>
                </a:solidFill>
              </a:defRPr>
            </a:pPr>
            <a:r>
              <a:t>• Training Methodology:</a:t>
            </a:r>
          </a:p>
          <a:p>
            <a:pPr>
              <a:spcAft>
                <a:spcPts val="800"/>
              </a:spcAft>
              <a:defRPr sz="850">
                <a:solidFill>
                  <a:srgbClr val="CBD5E1"/>
                </a:solidFill>
              </a:defRPr>
            </a:pPr>
            <a:r>
              <a:t>Trained exclusively on benign Normal baseline traffic (N=17,011 records in training partition). The model has zero exposure to any attack labels during training.</a:t>
            </a:r>
          </a:p>
          <a:p>
            <a:pPr>
              <a:defRPr sz="1000" b="1">
                <a:solidFill>
                  <a:srgbClr val="F8FAFC"/>
                </a:solidFill>
              </a:defRPr>
            </a:pPr>
            <a:r>
              <a:t>• Hyperparameters:</a:t>
            </a:r>
          </a:p>
          <a:p>
            <a:pPr>
              <a:spcAft>
                <a:spcPts val="800"/>
              </a:spcAft>
              <a:defRPr sz="850">
                <a:solidFill>
                  <a:srgbClr val="CBD5E1"/>
                </a:solidFill>
              </a:defRPr>
            </a:pPr>
            <a:r>
              <a:t>n_estimators=100, contamination=0.05, random_state=42. Subsamples feature space into isolation trees.</a:t>
            </a:r>
          </a:p>
          <a:p>
            <a:pPr>
              <a:defRPr sz="1000" b="1">
                <a:solidFill>
                  <a:srgbClr val="F8FAFC"/>
                </a:solidFill>
              </a:defRPr>
            </a:pPr>
            <a:r>
              <a:t>• Score Calibration:</a:t>
            </a:r>
          </a:p>
          <a:p>
            <a:pPr>
              <a:spcAft>
                <a:spcPts val="800"/>
              </a:spcAft>
              <a:defRPr sz="850">
                <a:solidFill>
                  <a:srgbClr val="CBD5E1"/>
                </a:solidFill>
              </a:defRPr>
            </a:pPr>
            <a:r>
              <a:t>Normalizes tree depth into a bounded anomaly score: AnomalyScore = max(0.0, min(1.0, 0.5 - decision_function(X))).</a:t>
            </a:r>
          </a:p>
          <a:p>
            <a:pPr>
              <a:defRPr sz="1000" b="1">
                <a:solidFill>
                  <a:srgbClr val="F8FAFC"/>
                </a:solidFill>
              </a:defRPr>
            </a:pPr>
            <a:r>
              <a:t>• Dual-Stage Synergy:</a:t>
            </a:r>
          </a:p>
          <a:p>
            <a:pPr>
              <a:spcAft>
                <a:spcPts val="800"/>
              </a:spcAft>
              <a:defRPr sz="850">
                <a:solidFill>
                  <a:srgbClr val="CBD5E1"/>
                </a:solidFill>
              </a:defRPr>
            </a:pPr>
            <a:r>
              <a:t>Acts as the first line of defense: flags deviations from normal protocol baselines before the supervised classifier assigns a specific category.</a:t>
            </a:r>
          </a:p>
        </p:txBody>
      </p:sp>
      <p:sp>
        <p:nvSpPr>
          <p:cNvPr id="8" name="Rounded Rectangle 7"/>
          <p:cNvSpPr/>
          <p:nvPr/>
        </p:nvSpPr>
        <p:spPr>
          <a:xfrm>
            <a:off x="6217920" y="1371600"/>
            <a:ext cx="5212080" cy="502920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F59E0B"/>
                </a:solidFill>
                <a:latin typeface="Helvetica"/>
              </a:defRPr>
            </a:pPr>
            <a:r>
              <a:t>HELD-OUT OUT-OF-DISTRIBUTION (OOD) THREAT PARTITION</a:t>
            </a:r>
          </a:p>
          <a:p>
            <a:pPr>
              <a:defRPr sz="1000" b="1">
                <a:solidFill>
                  <a:srgbClr val="F8FAFC"/>
                </a:solidFill>
              </a:defRPr>
            </a:pPr>
            <a:r>
              <a:t>• Isolated Threat Classes:</a:t>
            </a:r>
          </a:p>
          <a:p>
            <a:pPr>
              <a:spcAft>
                <a:spcPts val="800"/>
              </a:spcAft>
              <a:defRPr sz="850">
                <a:solidFill>
                  <a:srgbClr val="CBD5E1"/>
                </a:solidFill>
              </a:defRPr>
            </a:pPr>
            <a:r>
              <a:t>Three entire attack classes were completely excluded from the supervised training set: `Password` (9,989), `Uploading` (10,269), `Backdoor` (10,195) = 30,453 records total (19.3% of Edge-IIoTset).</a:t>
            </a:r>
          </a:p>
          <a:p>
            <a:pPr>
              <a:defRPr sz="1000" b="1">
                <a:solidFill>
                  <a:srgbClr val="F8FAFC"/>
                </a:solidFill>
              </a:defRPr>
            </a:pPr>
            <a:r>
              <a:t>• Realistic Evaluation Scenario:</a:t>
            </a:r>
          </a:p>
          <a:p>
            <a:pPr>
              <a:spcAft>
                <a:spcPts val="800"/>
              </a:spcAft>
              <a:defRPr sz="850">
                <a:solidFill>
                  <a:srgbClr val="CBD5E1"/>
                </a:solidFill>
              </a:defRPr>
            </a:pPr>
            <a:r>
              <a:t>In production networks, attackers continuously develop novel attack vectors never seen during model training.</a:t>
            </a:r>
          </a:p>
          <a:p>
            <a:pPr>
              <a:defRPr sz="1000" b="1">
                <a:solidFill>
                  <a:srgbClr val="F8FAFC"/>
                </a:solidFill>
              </a:defRPr>
            </a:pPr>
            <a:r>
              <a:t>• Zero-Day Claim Policy:</a:t>
            </a:r>
          </a:p>
          <a:p>
            <a:pPr>
              <a:spcAft>
                <a:spcPts val="800"/>
              </a:spcAft>
              <a:defRPr sz="850">
                <a:solidFill>
                  <a:srgbClr val="CBD5E1"/>
                </a:solidFill>
              </a:defRPr>
            </a:pPr>
            <a:r>
              <a:t>We do not claim 'proven zero-day detection'. We rigorously evaluate whether an unsupervised model trained on normal traffic can flag unseen attack classes.</a:t>
            </a:r>
          </a:p>
          <a:p>
            <a:pPr>
              <a:defRPr sz="1000" b="1">
                <a:solidFill>
                  <a:srgbClr val="F8FAFC"/>
                </a:solidFill>
              </a:defRPr>
            </a:pPr>
            <a:r>
              <a:t>• Empirical Finding:</a:t>
            </a:r>
          </a:p>
          <a:p>
            <a:pPr>
              <a:spcAft>
                <a:spcPts val="800"/>
              </a:spcAft>
              <a:defRPr sz="850">
                <a:solidFill>
                  <a:srgbClr val="CBD5E1"/>
                </a:solidFill>
              </a:defRPr>
            </a:pPr>
            <a:r>
              <a:t>The Isolation Forest flagged held-out normal test traffic with 4.99% false alarm rate (matching the 5% contamination threshold).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15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Alert Flood Aggregation &amp; Dynamic Risk Scoring</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EF4444"/>
                </a:solidFill>
                <a:latin typeface="Helvetica"/>
              </a:defRPr>
            </a:pPr>
            <a:r>
              <a:t>60-SECOND SLIDING WINDOW ALERT AGGREGATION</a:t>
            </a:r>
          </a:p>
          <a:p>
            <a:pPr>
              <a:defRPr sz="1000" b="1">
                <a:solidFill>
                  <a:srgbClr val="F8FAFC"/>
                </a:solidFill>
              </a:defRPr>
            </a:pPr>
            <a:r>
              <a:t>• The Flood Problem:</a:t>
            </a:r>
          </a:p>
          <a:p>
            <a:pPr>
              <a:spcAft>
                <a:spcPts val="800"/>
              </a:spcAft>
              <a:defRPr sz="850">
                <a:solidFill>
                  <a:srgbClr val="CBD5E1"/>
                </a:solidFill>
              </a:defRPr>
            </a:pPr>
            <a:r>
              <a:t>Volumetric DDoS attacks generate 10,000+ packets/sec. Creating an individual database row and alert notification for each packet crashes the database and paralyzes operators.</a:t>
            </a:r>
          </a:p>
          <a:p>
            <a:pPr>
              <a:defRPr sz="1000" b="1">
                <a:solidFill>
                  <a:srgbClr val="F8FAFC"/>
                </a:solidFill>
              </a:defRPr>
            </a:pPr>
            <a:r>
              <a:t>• Sliding Window Correlation:</a:t>
            </a:r>
          </a:p>
          <a:p>
            <a:pPr>
              <a:spcAft>
                <a:spcPts val="800"/>
              </a:spcAft>
              <a:defRPr sz="850">
                <a:solidFill>
                  <a:srgbClr val="CBD5E1"/>
                </a:solidFill>
              </a:defRPr>
            </a:pPr>
            <a:r>
              <a:t>Alerts are grouped by (target_device_id, threat_type). If an active alert exists within a 60-second window, the pipeline aggregates the event instead of spawning a new alert.</a:t>
            </a:r>
          </a:p>
          <a:p>
            <a:pPr>
              <a:defRPr sz="1000" b="1">
                <a:solidFill>
                  <a:srgbClr val="F8FAFC"/>
                </a:solidFill>
              </a:defRPr>
            </a:pPr>
            <a:r>
              <a:t>• Packet Counter &amp; Key Feature Update:</a:t>
            </a:r>
          </a:p>
          <a:p>
            <a:pPr>
              <a:spcAft>
                <a:spcPts val="800"/>
              </a:spcAft>
              <a:defRPr sz="850">
                <a:solidFill>
                  <a:srgbClr val="CBD5E1"/>
                </a:solidFill>
              </a:defRPr>
            </a:pPr>
            <a:r>
              <a:t>The existing alert increments `packet_count`, updates max anomaly score, and refreshes the timestamp, keeping SOC queues compact.</a:t>
            </a:r>
          </a:p>
          <a:p>
            <a:pPr>
              <a:defRPr sz="1000" b="1">
                <a:solidFill>
                  <a:srgbClr val="F8FAFC"/>
                </a:solidFill>
              </a:defRPr>
            </a:pPr>
            <a:r>
              <a:t>• Bounded In-Memory Retention:</a:t>
            </a:r>
          </a:p>
          <a:p>
            <a:pPr>
              <a:spcAft>
                <a:spcPts val="800"/>
              </a:spcAft>
              <a:defRPr sz="850">
                <a:solidFill>
                  <a:srgbClr val="CBD5E1"/>
                </a:solidFill>
              </a:defRPr>
            </a:pPr>
            <a:r>
              <a:t>Packet logs are bounded to a maximum buffer of 1,000 recent items per device to prevent SQLite disk exhaustion.</a:t>
            </a:r>
          </a:p>
        </p:txBody>
      </p:sp>
      <p:sp>
        <p:nvSpPr>
          <p:cNvPr id="8" name="Rounded Rectangle 7"/>
          <p:cNvSpPr/>
          <p:nvPr/>
        </p:nvSpPr>
        <p:spPr>
          <a:xfrm>
            <a:off x="6217920" y="1371600"/>
            <a:ext cx="521208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06B6D4"/>
                </a:solidFill>
                <a:latin typeface="Helvetica"/>
              </a:defRPr>
            </a:pPr>
            <a:r>
              <a:t>DYNAMIC DEVICE RISK SCORE &amp; EXPONENTIAL DECAY</a:t>
            </a:r>
          </a:p>
          <a:p>
            <a:pPr>
              <a:defRPr sz="1000" b="1">
                <a:solidFill>
                  <a:srgbClr val="F8FAFC"/>
                </a:solidFill>
              </a:defRPr>
            </a:pPr>
            <a:r>
              <a:t>• Dynamic Scoring Formula:</a:t>
            </a:r>
          </a:p>
          <a:p>
            <a:pPr>
              <a:spcAft>
                <a:spcPts val="800"/>
              </a:spcAft>
              <a:defRPr sz="850">
                <a:solidFill>
                  <a:srgbClr val="CBD5E1"/>
                </a:solidFill>
              </a:defRPr>
            </a:pPr>
            <a:r>
              <a:t>Risk score increases upon detecting anomalies: R_new = min(100.0, R_old + AnomalyScore * SeverityWeight). Critical threats increment by 35 points.</a:t>
            </a:r>
          </a:p>
          <a:p>
            <a:pPr>
              <a:defRPr sz="1000" b="1">
                <a:solidFill>
                  <a:srgbClr val="F8FAFC"/>
                </a:solidFill>
              </a:defRPr>
            </a:pPr>
            <a:r>
              <a:t>• Exponential Risk Decay:</a:t>
            </a:r>
          </a:p>
          <a:p>
            <a:pPr>
              <a:spcAft>
                <a:spcPts val="800"/>
              </a:spcAft>
              <a:defRPr sz="850">
                <a:solidFill>
                  <a:srgbClr val="CBD5E1"/>
                </a:solidFill>
              </a:defRPr>
            </a:pPr>
            <a:r>
              <a:t>To prevent healthy devices from being permanently flagged as compromised: R(t) = R_0 * exp(-lambda * delta_t), where lambda is calibrated to decay over 15 minutes.</a:t>
            </a:r>
          </a:p>
          <a:p>
            <a:pPr>
              <a:defRPr sz="1000" b="1">
                <a:solidFill>
                  <a:srgbClr val="F8FAFC"/>
                </a:solidFill>
              </a:defRPr>
            </a:pPr>
            <a:r>
              <a:t>• Device State Machine Transitions:</a:t>
            </a:r>
          </a:p>
          <a:p>
            <a:pPr>
              <a:spcAft>
                <a:spcPts val="800"/>
              </a:spcAft>
              <a:defRPr sz="850">
                <a:solidFill>
                  <a:srgbClr val="CBD5E1"/>
                </a:solidFill>
              </a:defRPr>
            </a:pPr>
            <a:r>
              <a:t>0–25: ACTIVE (Healthy green) | 26–70: WARNING (Orange caution) | 71–100: CRITICAL (Red alert).</a:t>
            </a:r>
          </a:p>
          <a:p>
            <a:pPr>
              <a:defRPr sz="1000" b="1">
                <a:solidFill>
                  <a:srgbClr val="F8FAFC"/>
                </a:solidFill>
              </a:defRPr>
            </a:pPr>
            <a:r>
              <a:t>• Non-Volatile Audit Trail:</a:t>
            </a:r>
          </a:p>
          <a:p>
            <a:pPr>
              <a:spcAft>
                <a:spcPts val="800"/>
              </a:spcAft>
              <a:defRPr sz="850">
                <a:solidFill>
                  <a:srgbClr val="CBD5E1"/>
                </a:solidFill>
              </a:defRPr>
            </a:pPr>
            <a:r>
              <a:t>All risk level changes are recorded in the append-only `AuditLog` table for HIPAA/SOC2 compliance.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16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Asynchronous Explainable AI: Local LLM + PDF RAG</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14B8A6"/>
                </a:solidFill>
                <a:latin typeface="Helvetica"/>
              </a:defRPr>
            </a:pPr>
            <a:r>
              <a:t>NON-BLOCKING ASYNC AI ENRICHMENT ARCHITECTURE</a:t>
            </a:r>
          </a:p>
          <a:p>
            <a:pPr>
              <a:defRPr sz="1000" b="1">
                <a:solidFill>
                  <a:srgbClr val="F8FAFC"/>
                </a:solidFill>
              </a:defRPr>
            </a:pPr>
            <a:r>
              <a:t>• The Latency Decoupling Dilemma:</a:t>
            </a:r>
          </a:p>
          <a:p>
            <a:pPr>
              <a:spcAft>
                <a:spcPts val="800"/>
              </a:spcAft>
              <a:defRPr sz="850">
                <a:solidFill>
                  <a:srgbClr val="CBD5E1"/>
                </a:solidFill>
              </a:defRPr>
            </a:pPr>
            <a:r>
              <a:t>ML inference runs in sub-5ms; LLM generation requires 500–2,000ms. Running the LLM synchronously inside the detection loop would cripple network throughput.</a:t>
            </a:r>
          </a:p>
          <a:p>
            <a:pPr>
              <a:defRPr sz="1000" b="1">
                <a:solidFill>
                  <a:srgbClr val="F8FAFC"/>
                </a:solidFill>
              </a:defRPr>
            </a:pPr>
            <a:r>
              <a:t>• State Machine Lifecycle:</a:t>
            </a:r>
          </a:p>
          <a:p>
            <a:pPr>
              <a:spcAft>
                <a:spcPts val="800"/>
              </a:spcAft>
              <a:defRPr sz="850">
                <a:solidFill>
                  <a:srgbClr val="CBD5E1"/>
                </a:solidFill>
              </a:defRPr>
            </a:pPr>
            <a:r>
              <a:t>Alerts are immediately created with status `PENDING`. An asynchronous background worker picks up the job (`GENERATING`), constructs context, and updates the alert to `COMPLETED`.</a:t>
            </a:r>
          </a:p>
          <a:p>
            <a:pPr>
              <a:defRPr sz="1000" b="1">
                <a:solidFill>
                  <a:srgbClr val="F8FAFC"/>
                </a:solidFill>
              </a:defRPr>
            </a:pPr>
            <a:r>
              <a:t>• Graceful Degradation:</a:t>
            </a:r>
          </a:p>
          <a:p>
            <a:pPr>
              <a:spcAft>
                <a:spcPts val="800"/>
              </a:spcAft>
              <a:defRPr sz="850">
                <a:solidFill>
                  <a:srgbClr val="CBD5E1"/>
                </a:solidFill>
              </a:defRPr>
            </a:pPr>
            <a:r>
              <a:t>If the local LLM server is unavailable, the state transitions to `UNAVAILABLE` or `FAILED`, falling back immediately to verified heuristic clinical explanations without crashing.</a:t>
            </a:r>
          </a:p>
          <a:p>
            <a:pPr>
              <a:defRPr sz="1000" b="1">
                <a:solidFill>
                  <a:srgbClr val="F8FAFC"/>
                </a:solidFill>
              </a:defRPr>
            </a:pPr>
            <a:r>
              <a:t>• Strict Separation of Powers:</a:t>
            </a:r>
          </a:p>
          <a:p>
            <a:pPr>
              <a:spcAft>
                <a:spcPts val="800"/>
              </a:spcAft>
              <a:defRPr sz="850">
                <a:solidFill>
                  <a:srgbClr val="CBD5E1"/>
                </a:solidFill>
              </a:defRPr>
            </a:pPr>
            <a:r>
              <a:t>The LLM NEVER decides whether a packet is an attack! It only interprets and explains decisions already made by the deterministic ML classifier.</a:t>
            </a:r>
          </a:p>
        </p:txBody>
      </p:sp>
      <p:sp>
        <p:nvSpPr>
          <p:cNvPr id="8" name="Rounded Rectangle 7"/>
          <p:cNvSpPr/>
          <p:nvPr/>
        </p:nvSpPr>
        <p:spPr>
          <a:xfrm>
            <a:off x="6217920" y="1371600"/>
            <a:ext cx="5212080" cy="5029200"/>
          </a:xfrm>
          <a:prstGeom prst="roundRect">
            <a:avLst/>
          </a:prstGeom>
          <a:solidFill>
            <a:srgbClr val="162238"/>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6366F1"/>
                </a:solidFill>
                <a:latin typeface="Helvetica"/>
              </a:defRPr>
            </a:pPr>
            <a:r>
              <a:t>RETRIEVAL-AUGMENTED GENERATION (RAG) OVER PDF MANUALS</a:t>
            </a:r>
          </a:p>
          <a:p>
            <a:pPr>
              <a:defRPr sz="1000" b="1">
                <a:solidFill>
                  <a:srgbClr val="F8FAFC"/>
                </a:solidFill>
              </a:defRPr>
            </a:pPr>
            <a:r>
              <a:t>• Clinical Document Ingestion:</a:t>
            </a:r>
          </a:p>
          <a:p>
            <a:pPr>
              <a:spcAft>
                <a:spcPts val="800"/>
              </a:spcAft>
              <a:defRPr sz="850">
                <a:solidFill>
                  <a:srgbClr val="CBD5E1"/>
                </a:solidFill>
              </a:defRPr>
            </a:pPr>
            <a:r>
              <a:t>PyMuPDF parses hospital medical device user manuals (e.g. Alaris pump service guides, DICOM conformance statements) into semantic chunks.</a:t>
            </a:r>
          </a:p>
          <a:p>
            <a:pPr>
              <a:defRPr sz="1000" b="1">
                <a:solidFill>
                  <a:srgbClr val="F8FAFC"/>
                </a:solidFill>
              </a:defRPr>
            </a:pPr>
            <a:r>
              <a:t>• Vector Search Retrieval:</a:t>
            </a:r>
          </a:p>
          <a:p>
            <a:pPr>
              <a:spcAft>
                <a:spcPts val="800"/>
              </a:spcAft>
              <a:defRPr sz="850">
                <a:solidFill>
                  <a:srgbClr val="CBD5E1"/>
                </a:solidFill>
              </a:defRPr>
            </a:pPr>
            <a:r>
              <a:t>When an alert fires, the system embeds threat metadata and retrieves the top-3 most relevant paragraphs from the specific device manual.</a:t>
            </a:r>
          </a:p>
          <a:p>
            <a:pPr>
              <a:defRPr sz="1000" b="1">
                <a:solidFill>
                  <a:srgbClr val="F8FAFC"/>
                </a:solidFill>
              </a:defRPr>
            </a:pPr>
            <a:r>
              <a:t>• Structured Copilot Prompting:</a:t>
            </a:r>
          </a:p>
          <a:p>
            <a:pPr>
              <a:spcAft>
                <a:spcPts val="800"/>
              </a:spcAft>
              <a:defRPr sz="850">
                <a:solidFill>
                  <a:srgbClr val="CBD5E1"/>
                </a:solidFill>
              </a:defRPr>
            </a:pPr>
            <a:r>
              <a:t>The LLM synthesizes: (1) Clinical Context (what patient therapy is affected), (2) Clinical Impact (risk of under-infusion or telemetry loss), and (3) Actionable Mitigation Steps.</a:t>
            </a:r>
          </a:p>
          <a:p>
            <a:pPr>
              <a:defRPr sz="1000" b="1">
                <a:solidFill>
                  <a:srgbClr val="F8FAFC"/>
                </a:solidFill>
              </a:defRPr>
            </a:pPr>
            <a:r>
              <a:t>• Interactive Copilot Drawer:</a:t>
            </a:r>
          </a:p>
          <a:p>
            <a:pPr>
              <a:spcAft>
                <a:spcPts val="800"/>
              </a:spcAft>
              <a:defRPr sz="850">
                <a:solidFill>
                  <a:srgbClr val="CBD5E1"/>
                </a:solidFill>
              </a:defRPr>
            </a:pPr>
            <a:r>
              <a:t>Security operators can chat with the local Copilot via an interactive drawer in the React dashboard, querying device troubleshooting protocols.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17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Cyber-Physical Safety Interlocks &amp; Machine Signal Protection</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EF4444"/>
                </a:solidFill>
                <a:latin typeface="Helvetica"/>
              </a:defRPr>
            </a:pPr>
            <a:r>
              <a:t>CLINICAL SAFETY INTERLOCK STATE MACHINE</a:t>
            </a:r>
          </a:p>
          <a:p>
            <a:pPr>
              <a:defRPr sz="1000" b="1">
                <a:solidFill>
                  <a:srgbClr val="F8FAFC"/>
                </a:solidFill>
              </a:defRPr>
            </a:pPr>
            <a:r>
              <a:t>• The Life-Critical Equipment Hazard:</a:t>
            </a:r>
          </a:p>
          <a:p>
            <a:pPr>
              <a:spcAft>
                <a:spcPts val="800"/>
              </a:spcAft>
              <a:defRPr sz="850">
                <a:solidFill>
                  <a:srgbClr val="CBD5E1"/>
                </a:solidFill>
              </a:defRPr>
            </a:pPr>
            <a:r>
              <a:t>Mechanical ventilators and smart infusion pumps cannot be safely shut down over the network during patient use.</a:t>
            </a:r>
          </a:p>
          <a:p>
            <a:pPr>
              <a:defRPr sz="1000" b="1">
                <a:solidFill>
                  <a:srgbClr val="F8FAFC"/>
                </a:solidFill>
              </a:defRPr>
            </a:pPr>
            <a:r>
              <a:t>• Safety Interlock Logic (`ClinicalSafetyInterlock`):</a:t>
            </a:r>
          </a:p>
          <a:p>
            <a:pPr>
              <a:spcAft>
                <a:spcPts val="800"/>
              </a:spcAft>
              <a:defRPr sz="850">
                <a:solidFill>
                  <a:srgbClr val="CBD5E1"/>
                </a:solidFill>
              </a:defRPr>
            </a:pPr>
            <a:r>
              <a:t>If an autonomous firewall trigger targets a life-critical asset, the system activates `LOCAL_BEDSIDE_OVERRIDE_LOCKED`.</a:t>
            </a:r>
          </a:p>
          <a:p>
            <a:pPr>
              <a:defRPr sz="1000" b="1">
                <a:solidFill>
                  <a:srgbClr val="F8FAFC"/>
                </a:solidFill>
              </a:defRPr>
            </a:pPr>
            <a:r>
              <a:t>• Network Isolation vs Physical Delivery:</a:t>
            </a:r>
          </a:p>
          <a:p>
            <a:pPr>
              <a:spcAft>
                <a:spcPts val="800"/>
              </a:spcAft>
              <a:defRPr sz="850">
                <a:solidFill>
                  <a:srgbClr val="CBD5E1"/>
                </a:solidFill>
              </a:defRPr>
            </a:pPr>
            <a:r>
              <a:t>The interlock drops external network packets at the switch VLAN boundary, but leaves the physical bedside device pumping/ventilating according to its local parameters.</a:t>
            </a:r>
          </a:p>
          <a:p>
            <a:pPr>
              <a:defRPr sz="1000" b="1">
                <a:solidFill>
                  <a:srgbClr val="F8FAFC"/>
                </a:solidFill>
              </a:defRPr>
            </a:pPr>
            <a:r>
              <a:t>• Dual-Clinician Authorization:</a:t>
            </a:r>
          </a:p>
          <a:p>
            <a:pPr>
              <a:spcAft>
                <a:spcPts val="800"/>
              </a:spcAft>
              <a:defRPr sz="850">
                <a:solidFill>
                  <a:srgbClr val="CBD5E1"/>
                </a:solidFill>
              </a:defRPr>
            </a:pPr>
            <a:r>
              <a:t>Resolving an interlock requires an authenticated physical bedside confirmation or authorized clinician PIN, preventing remote attacker tampering.</a:t>
            </a:r>
          </a:p>
        </p:txBody>
      </p:sp>
      <p:sp>
        <p:nvSpPr>
          <p:cNvPr id="8" name="Rounded Rectangle 7"/>
          <p:cNvSpPr/>
          <p:nvPr/>
        </p:nvSpPr>
        <p:spPr>
          <a:xfrm>
            <a:off x="6217920" y="1371600"/>
            <a:ext cx="521208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06B6D4"/>
                </a:solidFill>
                <a:latin typeface="Helvetica"/>
              </a:defRPr>
            </a:pPr>
            <a:r>
              <a:t>DIRECT MACHINE SIGNAL ATTACK DETECTION</a:t>
            </a:r>
          </a:p>
          <a:p>
            <a:pPr>
              <a:defRPr sz="1000" b="1">
                <a:solidFill>
                  <a:srgbClr val="F8FAFC"/>
                </a:solidFill>
              </a:defRPr>
            </a:pPr>
            <a:r>
              <a:t>• Lethal Bolus Overdose Hijack:</a:t>
            </a:r>
          </a:p>
          <a:p>
            <a:pPr>
              <a:spcAft>
                <a:spcPts val="800"/>
              </a:spcAft>
              <a:defRPr sz="850">
                <a:solidFill>
                  <a:srgbClr val="CBD5E1"/>
                </a:solidFill>
              </a:defRPr>
            </a:pPr>
            <a:r>
              <a:t>Detects malicious commands attempting to deliver dangerous bolus volumes (&gt;50mL/hr) on infusion pumps, triggering instant interlock freeze.</a:t>
            </a:r>
          </a:p>
          <a:p>
            <a:pPr>
              <a:defRPr sz="1000" b="1">
                <a:solidFill>
                  <a:srgbClr val="F8FAFC"/>
                </a:solidFill>
              </a:defRPr>
            </a:pPr>
            <a:r>
              <a:t>• Ventilator Barotrauma Hijack:</a:t>
            </a:r>
          </a:p>
          <a:p>
            <a:pPr>
              <a:spcAft>
                <a:spcPts val="800"/>
              </a:spcAft>
              <a:defRPr sz="850">
                <a:solidFill>
                  <a:srgbClr val="CBD5E1"/>
                </a:solidFill>
              </a:defRPr>
            </a:pPr>
            <a:r>
              <a:t>Monitors peak inspiratory pressure (PIP). Commands exceeding 40 cmH2O risk tearing lung tissue and are blocked immediately.</a:t>
            </a:r>
          </a:p>
          <a:p>
            <a:pPr>
              <a:defRPr sz="1000" b="1">
                <a:solidFill>
                  <a:srgbClr val="F8FAFC"/>
                </a:solidFill>
              </a:defRPr>
            </a:pPr>
            <a:r>
              <a:t>• Anti-Replay Attack Detection:</a:t>
            </a:r>
          </a:p>
          <a:p>
            <a:pPr>
              <a:spcAft>
                <a:spcPts val="800"/>
              </a:spcAft>
              <a:defRPr sz="850">
                <a:solidFill>
                  <a:srgbClr val="CBD5E1"/>
                </a:solidFill>
              </a:defRPr>
            </a:pPr>
            <a:r>
              <a:t>Validates monotonically increasing sequence counters and timestamp deltas on telemetry frames, blocking replay of benign vitals.</a:t>
            </a:r>
          </a:p>
          <a:p>
            <a:pPr>
              <a:defRPr sz="1000" b="1">
                <a:solidFill>
                  <a:srgbClr val="F8FAFC"/>
                </a:solidFill>
              </a:defRPr>
            </a:pPr>
            <a:r>
              <a:t>• Physiological Paradox Screening:</a:t>
            </a:r>
          </a:p>
          <a:p>
            <a:pPr>
              <a:spcAft>
                <a:spcPts val="800"/>
              </a:spcAft>
              <a:defRPr sz="850">
                <a:solidFill>
                  <a:srgbClr val="CBD5E1"/>
                </a:solidFill>
              </a:defRPr>
            </a:pPr>
            <a:r>
              <a:t>Identifies mathematically impossible telemetry combinations (e.g. SpO2 99% alongside zero heart rate and pulse pressure).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18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Controlled Enforcement: Simulation vs Host Firewall</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F59E0B"/>
                </a:solidFill>
                <a:latin typeface="Helvetica"/>
              </a:defRPr>
            </a:pPr>
            <a:r>
              <a:t>SIMULATION ENFORCEMENT ADAPTER (DEFAULT)</a:t>
            </a:r>
          </a:p>
          <a:p>
            <a:pPr>
              <a:defRPr sz="1000" b="1">
                <a:solidFill>
                  <a:srgbClr val="F8FAFC"/>
                </a:solidFill>
              </a:defRPr>
            </a:pPr>
            <a:r>
              <a:t>• Design Purpose:</a:t>
            </a:r>
          </a:p>
          <a:p>
            <a:pPr>
              <a:spcAft>
                <a:spcPts val="800"/>
              </a:spcAft>
              <a:defRPr sz="850">
                <a:solidFill>
                  <a:srgbClr val="CBD5E1"/>
                </a:solidFill>
              </a:defRPr>
            </a:pPr>
            <a:r>
              <a:t>Enables safe, non-destructive testing and demonstration on developer workstations (macOS/Windows/Linux) without requiring root iptables privileges.</a:t>
            </a:r>
          </a:p>
          <a:p>
            <a:pPr>
              <a:defRPr sz="1000" b="1">
                <a:solidFill>
                  <a:srgbClr val="F8FAFC"/>
                </a:solidFill>
              </a:defRPr>
            </a:pPr>
            <a:r>
              <a:t>• Full State Emulation:</a:t>
            </a:r>
          </a:p>
          <a:p>
            <a:pPr>
              <a:spcAft>
                <a:spcPts val="800"/>
              </a:spcAft>
              <a:defRPr sz="850">
                <a:solidFill>
                  <a:srgbClr val="CBD5E1"/>
                </a:solidFill>
              </a:defRPr>
            </a:pPr>
            <a:r>
              <a:t>Simulates isolation state, rule synthesis, verification probes, and rollback commands in memory and database.</a:t>
            </a:r>
          </a:p>
          <a:p>
            <a:pPr>
              <a:defRPr sz="1000" b="1">
                <a:solidFill>
                  <a:srgbClr val="F8FAFC"/>
                </a:solidFill>
              </a:defRPr>
            </a:pPr>
            <a:r>
              <a:t>• Idempotency Guarantee:</a:t>
            </a:r>
          </a:p>
          <a:p>
            <a:pPr>
              <a:spcAft>
                <a:spcPts val="800"/>
              </a:spcAft>
              <a:defRPr sz="850">
                <a:solidFill>
                  <a:srgbClr val="CBD5E1"/>
                </a:solidFill>
              </a:defRPr>
            </a:pPr>
            <a:r>
              <a:t>Issuing repeated isolation or unisolation commands on the same device returns idempotent success without corrupting state.</a:t>
            </a:r>
          </a:p>
          <a:p>
            <a:pPr>
              <a:defRPr sz="1000" b="1">
                <a:solidFill>
                  <a:srgbClr val="F8FAFC"/>
                </a:solidFill>
              </a:defRPr>
            </a:pPr>
            <a:r>
              <a:t>• Audit Logging:</a:t>
            </a:r>
          </a:p>
          <a:p>
            <a:pPr>
              <a:spcAft>
                <a:spcPts val="800"/>
              </a:spcAft>
              <a:defRPr sz="850">
                <a:solidFill>
                  <a:srgbClr val="CBD5E1"/>
                </a:solidFill>
              </a:defRPr>
            </a:pPr>
            <a:r>
              <a:t>Every simulated action generates complete RBAC audit logs with actor ID, timestamp, target device IP, and rationale.</a:t>
            </a:r>
          </a:p>
        </p:txBody>
      </p:sp>
      <p:sp>
        <p:nvSpPr>
          <p:cNvPr id="8" name="Rounded Rectangle 7"/>
          <p:cNvSpPr/>
          <p:nvPr/>
        </p:nvSpPr>
        <p:spPr>
          <a:xfrm>
            <a:off x="6217920" y="1371600"/>
            <a:ext cx="5212080" cy="5029200"/>
          </a:xfrm>
          <a:prstGeom prst="roundRect">
            <a:avLst/>
          </a:prstGeom>
          <a:solidFill>
            <a:srgbClr val="16223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10B981"/>
                </a:solidFill>
                <a:latin typeface="Helvetica"/>
              </a:defRPr>
            </a:pPr>
            <a:r>
              <a:t>HOST FIREWALL ADAPTER (LINUX IPTABLES)</a:t>
            </a:r>
          </a:p>
          <a:p>
            <a:pPr>
              <a:defRPr sz="1000" b="1">
                <a:solidFill>
                  <a:srgbClr val="F8FAFC"/>
                </a:solidFill>
              </a:defRPr>
            </a:pPr>
            <a:r>
              <a:t>• Production Edge Deployment:</a:t>
            </a:r>
          </a:p>
          <a:p>
            <a:pPr>
              <a:spcAft>
                <a:spcPts val="800"/>
              </a:spcAft>
              <a:defRPr sz="850">
                <a:solidFill>
                  <a:srgbClr val="CBD5E1"/>
                </a:solidFill>
              </a:defRPr>
            </a:pPr>
            <a:r>
              <a:t>Targets Linux-based edge hospital security gateways (e.g., Ubuntu Core, Debian Gateway).</a:t>
            </a:r>
          </a:p>
          <a:p>
            <a:pPr>
              <a:defRPr sz="1000" b="1">
                <a:solidFill>
                  <a:srgbClr val="F8FAFC"/>
                </a:solidFill>
              </a:defRPr>
            </a:pPr>
            <a:r>
              <a:t>• Iptables Rule Generation:</a:t>
            </a:r>
          </a:p>
          <a:p>
            <a:pPr>
              <a:spcAft>
                <a:spcPts val="800"/>
              </a:spcAft>
              <a:defRPr sz="850">
                <a:solidFill>
                  <a:srgbClr val="CBD5E1"/>
                </a:solidFill>
              </a:defRPr>
            </a:pPr>
            <a:r>
              <a:t>Executes parameterized commands: `iptables -I INPUT -s &lt;attacker_ip&gt; -j DROP` and VLAN port disassociation.</a:t>
            </a:r>
          </a:p>
          <a:p>
            <a:pPr>
              <a:defRPr sz="1000" b="1">
                <a:solidFill>
                  <a:srgbClr val="F8FAFC"/>
                </a:solidFill>
              </a:defRPr>
            </a:pPr>
            <a:r>
              <a:t>• Pre-Flight Verification:</a:t>
            </a:r>
          </a:p>
          <a:p>
            <a:pPr>
              <a:spcAft>
                <a:spcPts val="800"/>
              </a:spcAft>
              <a:defRPr sz="850">
                <a:solidFill>
                  <a:srgbClr val="CBD5E1"/>
                </a:solidFill>
              </a:defRPr>
            </a:pPr>
            <a:r>
              <a:t>Checks execution privileges (`sudo -n`) and executes rule verification (`iptables -C`) before declaring success.</a:t>
            </a:r>
          </a:p>
          <a:p>
            <a:pPr>
              <a:defRPr sz="1000" b="1">
                <a:solidFill>
                  <a:srgbClr val="F8FAFC"/>
                </a:solidFill>
              </a:defRPr>
            </a:pPr>
            <a:r>
              <a:t>• Rollback Command Generation:</a:t>
            </a:r>
          </a:p>
          <a:p>
            <a:pPr>
              <a:spcAft>
                <a:spcPts val="800"/>
              </a:spcAft>
              <a:defRPr sz="850">
                <a:solidFill>
                  <a:srgbClr val="CBD5E1"/>
                </a:solidFill>
              </a:defRPr>
            </a:pPr>
            <a:r>
              <a:t>Every applied rule generates an exact inverse rollback command (`iptables -D`) stored in the audit log for rapid recovery.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19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Empirical Results: Multi-Model Benchmark on Edge-IIoTset</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del_comparison_benchmark.png"/>
          <p:cNvPicPr>
            <a:picLocks noChangeAspect="1"/>
          </p:cNvPicPr>
          <p:nvPr/>
        </p:nvPicPr>
        <p:blipFill>
          <a:blip r:embed="rId2"/>
          <a:stretch>
            <a:fillRect/>
          </a:stretch>
        </p:blipFill>
        <p:spPr>
          <a:xfrm>
            <a:off x="731520" y="1371600"/>
            <a:ext cx="6217920" cy="4937760"/>
          </a:xfrm>
          <a:prstGeom prst="rect">
            <a:avLst/>
          </a:prstGeom>
        </p:spPr>
      </p:pic>
      <p:sp>
        <p:nvSpPr>
          <p:cNvPr id="7" name="Rounded Rectangle 6"/>
          <p:cNvSpPr/>
          <p:nvPr/>
        </p:nvSpPr>
        <p:spPr>
          <a:xfrm>
            <a:off x="7132320" y="1371600"/>
            <a:ext cx="4297680" cy="493776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554480"/>
            <a:ext cx="3931920" cy="4572000"/>
          </a:xfrm>
          <a:prstGeom prst="rect">
            <a:avLst/>
          </a:prstGeom>
          <a:noFill/>
        </p:spPr>
        <p:txBody>
          <a:bodyPr wrap="square" lIns="0" tIns="0" rIns="0" bIns="0">
            <a:spAutoFit/>
          </a:bodyPr>
          <a:lstStyle/>
          <a:p>
            <a:pPr>
              <a:spcAft>
                <a:spcPts val="1000"/>
              </a:spcAft>
              <a:defRPr sz="1100" b="1">
                <a:solidFill>
                  <a:srgbClr val="06B6D4"/>
                </a:solidFill>
                <a:latin typeface="Helvetica"/>
              </a:defRPr>
            </a:pPr>
            <a:r>
              <a:t>EMPIRICAL BENCHMARK SUMMARY (N=19,103 TEST RECORDS)</a:t>
            </a:r>
          </a:p>
          <a:p>
            <a:pPr>
              <a:defRPr sz="950" b="1">
                <a:solidFill>
                  <a:srgbClr val="F8FAFC"/>
                </a:solidFill>
              </a:defRPr>
            </a:pPr>
            <a:r>
              <a:t>• Random Forest (Config B - Selected):</a:t>
            </a:r>
          </a:p>
          <a:p>
            <a:pPr>
              <a:spcAft>
                <a:spcPts val="600"/>
              </a:spcAft>
              <a:defRPr sz="850">
                <a:solidFill>
                  <a:srgbClr val="CBD5E1"/>
                </a:solidFill>
              </a:defRPr>
            </a:pPr>
            <a:r>
              <a:t>Test Accuracy: 70.26%</a:t>
            </a:r>
            <a:br/>
            <a:r>
              <a:t>Macro Precision: 68.31%</a:t>
            </a:r>
            <a:br/>
            <a:r>
              <a:t>Macro Recall: 71.75%</a:t>
            </a:r>
            <a:br/>
            <a:r>
              <a:t>Macro F1: 64.28%</a:t>
            </a:r>
            <a:br/>
            <a:r>
              <a:t>Normal False Alarm: 18.40%</a:t>
            </a:r>
          </a:p>
          <a:p>
            <a:pPr>
              <a:defRPr sz="950" b="1">
                <a:solidFill>
                  <a:srgbClr val="F8FAFC"/>
                </a:solidFill>
              </a:defRPr>
            </a:pPr>
            <a:r>
              <a:t>• XGBoost (Config B):</a:t>
            </a:r>
          </a:p>
          <a:p>
            <a:pPr>
              <a:spcAft>
                <a:spcPts val="600"/>
              </a:spcAft>
              <a:defRPr sz="850">
                <a:solidFill>
                  <a:srgbClr val="CBD5E1"/>
                </a:solidFill>
              </a:defRPr>
            </a:pPr>
            <a:r>
              <a:t>Test Accuracy: 70.51%</a:t>
            </a:r>
            <a:br/>
            <a:r>
              <a:t>Macro Precision: 67.93%</a:t>
            </a:r>
            <a:br/>
            <a:r>
              <a:t>Macro Recall: 70.27%</a:t>
            </a:r>
            <a:br/>
            <a:r>
              <a:t>Macro F1: 63.82%</a:t>
            </a:r>
            <a:br/>
            <a:r>
              <a:t>Normal False Alarm: 53.63%</a:t>
            </a:r>
          </a:p>
          <a:p>
            <a:pPr>
              <a:defRPr sz="950" b="1">
                <a:solidFill>
                  <a:srgbClr val="F8FAFC"/>
                </a:solidFill>
              </a:defRPr>
            </a:pPr>
            <a:r>
              <a:t>• Decision Tree (Config B):</a:t>
            </a:r>
          </a:p>
          <a:p>
            <a:pPr>
              <a:spcAft>
                <a:spcPts val="600"/>
              </a:spcAft>
              <a:defRPr sz="850">
                <a:solidFill>
                  <a:srgbClr val="CBD5E1"/>
                </a:solidFill>
              </a:defRPr>
            </a:pPr>
            <a:r>
              <a:t>Test Accuracy: 70.61%</a:t>
            </a:r>
            <a:br/>
            <a:r>
              <a:t>Macro F1: 63.77%</a:t>
            </a:r>
            <a:br/>
            <a:r>
              <a:t>Inference Latency: 31.1 μs</a:t>
            </a:r>
          </a:p>
          <a:p>
            <a:pPr>
              <a:defRPr sz="950" b="1">
                <a:solidFill>
                  <a:srgbClr val="F8FAFC"/>
                </a:solidFill>
              </a:defRPr>
            </a:pPr>
            <a:r>
              <a:t>• Logistic Regression (Config B):</a:t>
            </a:r>
          </a:p>
          <a:p>
            <a:pPr>
              <a:spcAft>
                <a:spcPts val="600"/>
              </a:spcAft>
              <a:defRPr sz="850">
                <a:solidFill>
                  <a:srgbClr val="CBD5E1"/>
                </a:solidFill>
              </a:defRPr>
            </a:pPr>
            <a:r>
              <a:t>Test Accuracy: 64.76%</a:t>
            </a:r>
            <a:br/>
            <a:r>
              <a:t>Macro F1: 56.96% (Linear Baseline)</a:t>
            </a:r>
          </a:p>
          <a:p>
            <a:pPr>
              <a:defRPr sz="950" b="1">
                <a:solidFill>
                  <a:srgbClr val="F8FAFC"/>
                </a:solidFill>
              </a:defRPr>
            </a:pPr>
            <a:r>
              <a:t>• Random Forest (Config A - 10 feat):</a:t>
            </a:r>
          </a:p>
          <a:p>
            <a:pPr>
              <a:spcAft>
                <a:spcPts val="600"/>
              </a:spcAft>
              <a:defRPr sz="850">
                <a:solidFill>
                  <a:srgbClr val="CBD5E1"/>
                </a:solidFill>
              </a:defRPr>
            </a:pPr>
            <a:r>
              <a:t>Test Accuracy: 4.48%</a:t>
            </a:r>
            <a:br/>
            <a:r>
              <a:t>Macro F1: 4.32% (Severe penalty due to 8 missing features in tabular release)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20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Per-Class Detection Performance &amp; Confusion Matrix</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nfusion_matrix_rf_config_b.png"/>
          <p:cNvPicPr>
            <a:picLocks noChangeAspect="1"/>
          </p:cNvPicPr>
          <p:nvPr/>
        </p:nvPicPr>
        <p:blipFill>
          <a:blip r:embed="rId2"/>
          <a:stretch>
            <a:fillRect/>
          </a:stretch>
        </p:blipFill>
        <p:spPr>
          <a:xfrm>
            <a:off x="731520" y="1371600"/>
            <a:ext cx="5486400" cy="4937760"/>
          </a:xfrm>
          <a:prstGeom prst="rect">
            <a:avLst/>
          </a:prstGeom>
        </p:spPr>
      </p:pic>
      <p:sp>
        <p:nvSpPr>
          <p:cNvPr id="7" name="Rounded Rectangle 6"/>
          <p:cNvSpPr/>
          <p:nvPr/>
        </p:nvSpPr>
        <p:spPr>
          <a:xfrm>
            <a:off x="6400800" y="1371600"/>
            <a:ext cx="5029200" cy="493776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554480"/>
            <a:ext cx="4663440" cy="4572000"/>
          </a:xfrm>
          <a:prstGeom prst="rect">
            <a:avLst/>
          </a:prstGeom>
          <a:noFill/>
        </p:spPr>
        <p:txBody>
          <a:bodyPr wrap="square" lIns="0" tIns="0" rIns="0" bIns="0">
            <a:spAutoFit/>
          </a:bodyPr>
          <a:lstStyle/>
          <a:p>
            <a:pPr>
              <a:spcAft>
                <a:spcPts val="1000"/>
              </a:spcAft>
              <a:defRPr sz="1100" b="1">
                <a:solidFill>
                  <a:srgbClr val="14B8A6"/>
                </a:solidFill>
                <a:latin typeface="Helvetica"/>
              </a:defRPr>
            </a:pPr>
            <a:r>
              <a:t>PER-CLASS DETECTION BREAKDOWN (RANDOM FOREST)</a:t>
            </a:r>
          </a:p>
          <a:p>
            <a:pPr>
              <a:defRPr sz="950" b="1">
                <a:solidFill>
                  <a:srgbClr val="F8FAFC"/>
                </a:solidFill>
              </a:defRPr>
            </a:pPr>
            <a:r>
              <a:t>• Flood DoS / DDoS (7,410 test samples):</a:t>
            </a:r>
          </a:p>
          <a:p>
            <a:pPr>
              <a:spcAft>
                <a:spcPts val="400"/>
              </a:spcAft>
              <a:defRPr sz="850">
                <a:solidFill>
                  <a:srgbClr val="CBD5E1"/>
                </a:solidFill>
              </a:defRPr>
            </a:pPr>
            <a:r>
              <a:t>Precision: 99.42% | Recall: 76.23% | F1-Score: 86.30%</a:t>
            </a:r>
            <a:br/>
            <a:r>
              <a:t>Exceptional precision due to distinct packet rates and protocol flags.</a:t>
            </a:r>
          </a:p>
          <a:p>
            <a:pPr>
              <a:defRPr sz="950" b="1">
                <a:solidFill>
                  <a:srgbClr val="F8FAFC"/>
                </a:solidFill>
              </a:defRPr>
            </a:pPr>
            <a:r>
              <a:t>• Reconnaissance (3,173 test samples):</a:t>
            </a:r>
          </a:p>
          <a:p>
            <a:pPr>
              <a:spcAft>
                <a:spcPts val="400"/>
              </a:spcAft>
              <a:defRPr sz="850">
                <a:solidFill>
                  <a:srgbClr val="CBD5E1"/>
                </a:solidFill>
              </a:defRPr>
            </a:pPr>
            <a:r>
              <a:t>Precision: 61.86% | Recall: 88.12% | F1-Score: 72.69%</a:t>
            </a:r>
            <a:br/>
            <a:r>
              <a:t>High recall detecting port scans probing clinical endpoints.</a:t>
            </a:r>
          </a:p>
          <a:p>
            <a:pPr>
              <a:defRPr sz="950" b="1">
                <a:solidFill>
                  <a:srgbClr val="F8FAFC"/>
                </a:solidFill>
              </a:defRPr>
            </a:pPr>
            <a:r>
              <a:t>• Ransomware (3,645 test samples):</a:t>
            </a:r>
          </a:p>
          <a:p>
            <a:pPr>
              <a:spcAft>
                <a:spcPts val="400"/>
              </a:spcAft>
              <a:defRPr sz="850">
                <a:solidFill>
                  <a:srgbClr val="CBD5E1"/>
                </a:solidFill>
              </a:defRPr>
            </a:pPr>
            <a:r>
              <a:t>Precision: 81.40% | Recall: 45.73% | F1-Score: 58.56%</a:t>
            </a:r>
            <a:br/>
            <a:r>
              <a:t>Strong precision identifying abnormal data transfers.</a:t>
            </a:r>
          </a:p>
          <a:p>
            <a:pPr>
              <a:defRPr sz="950" b="1">
                <a:solidFill>
                  <a:srgbClr val="F8FAFC"/>
                </a:solidFill>
              </a:defRPr>
            </a:pPr>
            <a:r>
              <a:t>• Spoofing / MITM (182 test samples):</a:t>
            </a:r>
          </a:p>
          <a:p>
            <a:pPr>
              <a:spcAft>
                <a:spcPts val="400"/>
              </a:spcAft>
              <a:defRPr sz="850">
                <a:solidFill>
                  <a:srgbClr val="CBD5E1"/>
                </a:solidFill>
              </a:defRPr>
            </a:pPr>
            <a:r>
              <a:t>Precision: 40.90% | Recall: 100.00% | F1-Score: 58.05%</a:t>
            </a:r>
            <a:br/>
            <a:r>
              <a:t>Perfect 100% recall detecting ARP hardware address anomalies.</a:t>
            </a:r>
          </a:p>
          <a:p>
            <a:pPr>
              <a:defRPr sz="950" b="1">
                <a:solidFill>
                  <a:srgbClr val="F8FAFC"/>
                </a:solidFill>
              </a:defRPr>
            </a:pPr>
            <a:r>
              <a:t>• Normal Baseline (3,054 test samples):</a:t>
            </a:r>
          </a:p>
          <a:p>
            <a:pPr>
              <a:spcAft>
                <a:spcPts val="400"/>
              </a:spcAft>
              <a:defRPr sz="850">
                <a:solidFill>
                  <a:srgbClr val="CBD5E1"/>
                </a:solidFill>
              </a:defRPr>
            </a:pPr>
            <a:r>
              <a:t>Precision: 44.24% | Recall: 81.60% | F1-Score: 57.37%</a:t>
            </a:r>
          </a:p>
          <a:p>
            <a:pPr>
              <a:defRPr sz="950" b="1">
                <a:solidFill>
                  <a:srgbClr val="F8FAFC"/>
                </a:solidFill>
              </a:defRPr>
            </a:pPr>
            <a:r>
              <a:t>• Command Injection (1,639 test samples):</a:t>
            </a:r>
          </a:p>
          <a:p>
            <a:pPr>
              <a:spcAft>
                <a:spcPts val="400"/>
              </a:spcAft>
              <a:defRPr sz="850">
                <a:solidFill>
                  <a:srgbClr val="CBD5E1"/>
                </a:solidFill>
              </a:defRPr>
            </a:pPr>
            <a:r>
              <a:t>Precision: 82.06% | Recall: 38.80% | F1-Score: 52.69%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C — CYBERSECURITY PIPELINE  |  SLIDE 21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Out-of-Distribution Threat Detection &amp; Anomaly Insights</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od_anomaly_detection_rates.png"/>
          <p:cNvPicPr>
            <a:picLocks noChangeAspect="1"/>
          </p:cNvPicPr>
          <p:nvPr/>
        </p:nvPicPr>
        <p:blipFill>
          <a:blip r:embed="rId2"/>
          <a:stretch>
            <a:fillRect/>
          </a:stretch>
        </p:blipFill>
        <p:spPr>
          <a:xfrm>
            <a:off x="731520" y="1371600"/>
            <a:ext cx="5486400" cy="4937760"/>
          </a:xfrm>
          <a:prstGeom prst="rect">
            <a:avLst/>
          </a:prstGeom>
        </p:spPr>
      </p:pic>
      <p:sp>
        <p:nvSpPr>
          <p:cNvPr id="7" name="Rounded Rectangle 6"/>
          <p:cNvSpPr/>
          <p:nvPr/>
        </p:nvSpPr>
        <p:spPr>
          <a:xfrm>
            <a:off x="6400800" y="1371600"/>
            <a:ext cx="5029200" cy="493776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554480"/>
            <a:ext cx="4663440" cy="4572000"/>
          </a:xfrm>
          <a:prstGeom prst="rect">
            <a:avLst/>
          </a:prstGeom>
          <a:noFill/>
        </p:spPr>
        <p:txBody>
          <a:bodyPr wrap="square" lIns="0" tIns="0" rIns="0" bIns="0">
            <a:spAutoFit/>
          </a:bodyPr>
          <a:lstStyle/>
          <a:p>
            <a:pPr>
              <a:spcAft>
                <a:spcPts val="1000"/>
              </a:spcAft>
              <a:defRPr sz="1100" b="1">
                <a:solidFill>
                  <a:srgbClr val="F59E0B"/>
                </a:solidFill>
                <a:latin typeface="Helvetica"/>
              </a:defRPr>
            </a:pPr>
            <a:r>
              <a:t>OOD ANOMALY EVALUATION INSIGHTS (30,453 RECORDS)</a:t>
            </a:r>
          </a:p>
          <a:p>
            <a:pPr>
              <a:defRPr sz="950" b="1">
                <a:solidFill>
                  <a:srgbClr val="F8FAFC"/>
                </a:solidFill>
              </a:defRPr>
            </a:pPr>
            <a:r>
              <a:t>• Isolation Forest Calibration:</a:t>
            </a:r>
          </a:p>
          <a:p>
            <a:pPr>
              <a:spcAft>
                <a:spcPts val="800"/>
              </a:spcAft>
              <a:defRPr sz="850">
                <a:solidFill>
                  <a:srgbClr val="CBD5E1"/>
                </a:solidFill>
              </a:defRPr>
            </a:pPr>
            <a:r>
              <a:t>Trained on Normal traffic (N=17,011) with 5% contamination target. Achieved 4.99% false alarm rate on held-out Normal test traffic, perfectly validating calibration.</a:t>
            </a:r>
          </a:p>
          <a:p>
            <a:pPr>
              <a:defRPr sz="950" b="1">
                <a:solidFill>
                  <a:srgbClr val="F8FAFC"/>
                </a:solidFill>
              </a:defRPr>
            </a:pPr>
            <a:r>
              <a:t>• In-Distribution Detection Rate:</a:t>
            </a:r>
          </a:p>
          <a:p>
            <a:pPr>
              <a:spcAft>
                <a:spcPts val="800"/>
              </a:spcAft>
              <a:defRPr sz="850">
                <a:solidFill>
                  <a:srgbClr val="CBD5E1"/>
                </a:solidFill>
              </a:defRPr>
            </a:pPr>
            <a:r>
              <a:t>On held-out attack samples, Isolation Forest flagged 0.28% as statistical outliers, indicating that many attack packets share common protocol distributions with normal packets.</a:t>
            </a:r>
          </a:p>
          <a:p>
            <a:pPr>
              <a:defRPr sz="950" b="1">
                <a:solidFill>
                  <a:srgbClr val="F8FAFC"/>
                </a:solidFill>
              </a:defRPr>
            </a:pPr>
            <a:r>
              <a:t>• Held-out OOD Threat Performance:</a:t>
            </a:r>
          </a:p>
          <a:p>
            <a:pPr>
              <a:spcAft>
                <a:spcPts val="800"/>
              </a:spcAft>
              <a:defRPr sz="850">
                <a:solidFill>
                  <a:srgbClr val="CBD5E1"/>
                </a:solidFill>
              </a:defRPr>
            </a:pPr>
            <a:r>
              <a:t>On the 30,453 held-out OOD samples (`Password`, `Uploading`, `Backdoor`), tabular feature vectors closely mirrored normal application flows (HTTP responses and TCP flags).</a:t>
            </a:r>
          </a:p>
          <a:p>
            <a:pPr>
              <a:defRPr sz="950" b="1">
                <a:solidFill>
                  <a:srgbClr val="F8FAFC"/>
                </a:solidFill>
              </a:defRPr>
            </a:pPr>
            <a:r>
              <a:t>• Key Architectural Conclusion:</a:t>
            </a:r>
          </a:p>
          <a:p>
            <a:pPr>
              <a:spcAft>
                <a:spcPts val="800"/>
              </a:spcAft>
              <a:defRPr sz="850">
                <a:solidFill>
                  <a:srgbClr val="CBD5E1"/>
                </a:solidFill>
              </a:defRPr>
            </a:pPr>
            <a:r>
              <a:t>Unsupervised anomaly detection alone cannot replace supervised classifiers, but provides a crucial second check. Combining both stages delivers robust defense-in-depth.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D — CLINICAL RESEARCH PIPELINE  |  SLIDE 22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Clinical Research: MIMIC-IV Cohort &amp; Selection Audit</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inical_cohort_flowchart.png"/>
          <p:cNvPicPr>
            <a:picLocks noChangeAspect="1"/>
          </p:cNvPicPr>
          <p:nvPr/>
        </p:nvPicPr>
        <p:blipFill>
          <a:blip r:embed="rId2"/>
          <a:stretch>
            <a:fillRect/>
          </a:stretch>
        </p:blipFill>
        <p:spPr>
          <a:xfrm>
            <a:off x="731520" y="1371600"/>
            <a:ext cx="5852160" cy="4937760"/>
          </a:xfrm>
          <a:prstGeom prst="rect">
            <a:avLst/>
          </a:prstGeom>
        </p:spPr>
      </p:pic>
      <p:sp>
        <p:nvSpPr>
          <p:cNvPr id="7" name="Rounded Rectangle 6"/>
          <p:cNvSpPr/>
          <p:nvPr/>
        </p:nvSpPr>
        <p:spPr>
          <a:xfrm>
            <a:off x="6766560" y="1371600"/>
            <a:ext cx="4663440" cy="493776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0" y="1554480"/>
            <a:ext cx="4297680" cy="4572000"/>
          </a:xfrm>
          <a:prstGeom prst="rect">
            <a:avLst/>
          </a:prstGeom>
          <a:noFill/>
        </p:spPr>
        <p:txBody>
          <a:bodyPr wrap="square" lIns="0" tIns="0" rIns="0" bIns="0">
            <a:spAutoFit/>
          </a:bodyPr>
          <a:lstStyle/>
          <a:p>
            <a:pPr>
              <a:spcAft>
                <a:spcPts val="1000"/>
              </a:spcAft>
              <a:defRPr sz="1100" b="1">
                <a:solidFill>
                  <a:srgbClr val="14B8A6"/>
                </a:solidFill>
                <a:latin typeface="Helvetica"/>
              </a:defRPr>
            </a:pPr>
            <a:r>
              <a:t>COHORT AUDIT &amp; DERIVATION SUMMARY</a:t>
            </a:r>
          </a:p>
          <a:p>
            <a:pPr>
              <a:defRPr sz="950" b="1">
                <a:solidFill>
                  <a:srgbClr val="F8FAFC"/>
                </a:solidFill>
              </a:defRPr>
            </a:pPr>
            <a:r>
              <a:t>• Source Clinical Database:</a:t>
            </a:r>
          </a:p>
          <a:p>
            <a:pPr>
              <a:spcAft>
                <a:spcPts val="800"/>
              </a:spcAft>
              <a:defRPr sz="850">
                <a:solidFill>
                  <a:srgbClr val="CBD5E1"/>
                </a:solidFill>
              </a:defRPr>
            </a:pPr>
            <a:r>
              <a:t>MIMIC-IV Clinical Database Demo v2.2 (PhysioNet). 140 ICU stays audited across 100 unique ICU patients.</a:t>
            </a:r>
          </a:p>
          <a:p>
            <a:pPr>
              <a:defRPr sz="950" b="1">
                <a:solidFill>
                  <a:srgbClr val="F8FAFC"/>
                </a:solidFill>
              </a:defRPr>
            </a:pPr>
            <a:r>
              <a:t>• Exclusion Criteria (N=4 Stays):</a:t>
            </a:r>
          </a:p>
          <a:p>
            <a:pPr>
              <a:spcAft>
                <a:spcPts val="800"/>
              </a:spcAft>
              <a:defRPr sz="850">
                <a:solidFill>
                  <a:srgbClr val="CBD5E1"/>
                </a:solidFill>
              </a:defRPr>
            </a:pPr>
            <a:r>
              <a:t>Excluded 2 stays with ICU Length of Stay &lt; 24 Hours (ineligible for 24h window) and 2 stays with zero vital sign charting.</a:t>
            </a:r>
          </a:p>
          <a:p>
            <a:pPr>
              <a:defRPr sz="950" b="1">
                <a:solidFill>
                  <a:srgbClr val="F8FAFC"/>
                </a:solidFill>
              </a:defRPr>
            </a:pPr>
            <a:r>
              <a:t>• Eligible Research Cohort:</a:t>
            </a:r>
          </a:p>
          <a:p>
            <a:pPr>
              <a:spcAft>
                <a:spcPts val="800"/>
              </a:spcAft>
              <a:defRPr sz="850">
                <a:solidFill>
                  <a:srgbClr val="CBD5E1"/>
                </a:solidFill>
              </a:defRPr>
            </a:pPr>
            <a:r>
              <a:t>136 Eligible ICU Stays | 98 Unique Patients | 18 In-Hospital Deaths (13.2% Mortality prevalence).</a:t>
            </a:r>
          </a:p>
          <a:p>
            <a:pPr>
              <a:defRPr sz="950" b="1">
                <a:solidFill>
                  <a:srgbClr val="F8FAFC"/>
                </a:solidFill>
              </a:defRPr>
            </a:pPr>
            <a:r>
              <a:t>• Grouped Patient Splitting:</a:t>
            </a:r>
          </a:p>
          <a:p>
            <a:pPr>
              <a:spcAft>
                <a:spcPts val="800"/>
              </a:spcAft>
              <a:defRPr sz="850">
                <a:solidFill>
                  <a:srgbClr val="CBD5E1"/>
                </a:solidFill>
              </a:defRPr>
            </a:pPr>
            <a:r>
              <a:t>GroupShuffleSplit grouped strictly on `subject_id`. Zero patient overlap between training (N=101, 13 deaths) and test (N=35, 5 deaths).</a:t>
            </a:r>
          </a:p>
          <a:p>
            <a:pPr>
              <a:defRPr sz="950" b="1">
                <a:solidFill>
                  <a:srgbClr val="F8FAFC"/>
                </a:solidFill>
              </a:defRPr>
            </a:pPr>
            <a:r>
              <a:t>• PhysioNet Credentialing Boundary:</a:t>
            </a:r>
          </a:p>
          <a:p>
            <a:pPr>
              <a:spcAft>
                <a:spcPts val="800"/>
              </a:spcAft>
              <a:defRPr sz="850">
                <a:solidFill>
                  <a:srgbClr val="CBD5E1"/>
                </a:solidFill>
              </a:defRPr>
            </a:pPr>
            <a:r>
              <a:t>MIMIC-IV Full (70,000+ stays) requires CITI training and signed PhysioNet DUA. The demo cohort verifies pipeline interoperability.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D — CLINICAL RESEARCH PIPELINE  |  SLIDE 23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Strict 24-Hour Observation Boundary &amp; Target Leakage Prevention</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EF4444"/>
                </a:solidFill>
                <a:latin typeface="Helvetica"/>
              </a:defRPr>
            </a:pPr>
            <a:r>
              <a:t>THE PROSPECTIVE 24-HOUR BOUNDARY</a:t>
            </a:r>
          </a:p>
          <a:p>
            <a:pPr>
              <a:defRPr sz="1000" b="1">
                <a:solidFill>
                  <a:srgbClr val="F8FAFC"/>
                </a:solidFill>
              </a:defRPr>
            </a:pPr>
            <a:r>
              <a:t>• Observation Interval:</a:t>
            </a:r>
          </a:p>
          <a:p>
            <a:pPr>
              <a:spcAft>
                <a:spcPts val="800"/>
              </a:spcAft>
              <a:defRPr sz="850">
                <a:solidFill>
                  <a:srgbClr val="CBD5E1"/>
                </a:solidFill>
              </a:defRPr>
            </a:pPr>
            <a:r>
              <a:t>Strictly bounded to [t_intime, t_intime + 24 hours). Only vital signs recorded during the patient's first day in the ICU are admitted.</a:t>
            </a:r>
          </a:p>
          <a:p>
            <a:pPr>
              <a:defRPr sz="1000" b="1">
                <a:solidFill>
                  <a:srgbClr val="F8FAFC"/>
                </a:solidFill>
              </a:defRPr>
            </a:pPr>
            <a:r>
              <a:t>• 50,432 Post-24h Records Excluded:</a:t>
            </a:r>
          </a:p>
          <a:p>
            <a:pPr>
              <a:spcAft>
                <a:spcPts val="800"/>
              </a:spcAft>
              <a:defRPr sz="850">
                <a:solidFill>
                  <a:srgbClr val="CBD5E1"/>
                </a:solidFill>
              </a:defRPr>
            </a:pPr>
            <a:r>
              <a:t>All vital signs charted after t_intime + 24h were discarded to guarantee zero future data contamination.</a:t>
            </a:r>
          </a:p>
          <a:p>
            <a:pPr>
              <a:defRPr sz="1000" b="1">
                <a:solidFill>
                  <a:srgbClr val="F8FAFC"/>
                </a:solidFill>
              </a:defRPr>
            </a:pPr>
            <a:r>
              <a:t>• Target Definition:</a:t>
            </a:r>
          </a:p>
          <a:p>
            <a:pPr>
              <a:spcAft>
                <a:spcPts val="800"/>
              </a:spcAft>
              <a:defRPr sz="850">
                <a:solidFill>
                  <a:srgbClr val="CBD5E1"/>
                </a:solidFill>
              </a:defRPr>
            </a:pPr>
            <a:r>
              <a:t>Predicting in-hospital mortality (`hospital_expire_flag`) occurring at any point after the 24-hour observation boundary.</a:t>
            </a:r>
          </a:p>
          <a:p>
            <a:pPr>
              <a:defRPr sz="1000" b="1">
                <a:solidFill>
                  <a:srgbClr val="F8FAFC"/>
                </a:solidFill>
              </a:defRPr>
            </a:pPr>
            <a:r>
              <a:t>• Clinical Rationale:</a:t>
            </a:r>
          </a:p>
          <a:p>
            <a:pPr>
              <a:spcAft>
                <a:spcPts val="800"/>
              </a:spcAft>
              <a:defRPr sz="850">
                <a:solidFill>
                  <a:srgbClr val="CBD5E1"/>
                </a:solidFill>
              </a:defRPr>
            </a:pPr>
            <a:r>
              <a:t>Predictive models must assist early triage. Extracting features up to the time of death trivially predicts dying rather than risk of deterioration.</a:t>
            </a:r>
          </a:p>
        </p:txBody>
      </p:sp>
      <p:sp>
        <p:nvSpPr>
          <p:cNvPr id="8" name="Rounded Rectangle 7"/>
          <p:cNvSpPr/>
          <p:nvPr/>
        </p:nvSpPr>
        <p:spPr>
          <a:xfrm>
            <a:off x="6217920" y="1371600"/>
            <a:ext cx="5212080" cy="502920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14B8A6"/>
                </a:solidFill>
                <a:latin typeface="Helvetica"/>
              </a:defRPr>
            </a:pPr>
            <a:r>
              <a:t>PREPROCESSING ISOLATION &amp; UNIT NORMALIZATION</a:t>
            </a:r>
          </a:p>
          <a:p>
            <a:pPr>
              <a:defRPr sz="1000" b="1">
                <a:solidFill>
                  <a:srgbClr val="F8FAFC"/>
                </a:solidFill>
              </a:defRPr>
            </a:pPr>
            <a:r>
              <a:t>• Temperature Normalization:</a:t>
            </a:r>
          </a:p>
          <a:p>
            <a:pPr>
              <a:spcAft>
                <a:spcPts val="800"/>
              </a:spcAft>
              <a:defRPr sz="850">
                <a:solidFill>
                  <a:srgbClr val="CBD5E1"/>
                </a:solidFill>
              </a:defRPr>
            </a:pPr>
            <a:r>
              <a:t>MIMIC-IV records temperature in both Fahrenheit (Itemid 223761) and Celsius (Itemid 223762). All values normalized to Celsius: C = (F - 32) * 5/9.</a:t>
            </a:r>
          </a:p>
          <a:p>
            <a:pPr>
              <a:defRPr sz="1000" b="1">
                <a:solidFill>
                  <a:srgbClr val="F8FAFC"/>
                </a:solidFill>
              </a:defRPr>
            </a:pPr>
            <a:r>
              <a:t>• Physiological Plausibility Auditing:</a:t>
            </a:r>
          </a:p>
          <a:p>
            <a:pPr>
              <a:spcAft>
                <a:spcPts val="800"/>
              </a:spcAft>
              <a:defRPr sz="850">
                <a:solidFill>
                  <a:srgbClr val="CBD5E1"/>
                </a:solidFill>
              </a:defRPr>
            </a:pPr>
            <a:r>
              <a:t>Extreme outliers flagged: HR [20–300 bpm], Resp [4–80 bpm], SpO2 [50–100%], Temp [30–45°C], SBP [40–300 mmHg].</a:t>
            </a:r>
          </a:p>
          <a:p>
            <a:pPr>
              <a:defRPr sz="1000" b="1">
                <a:solidFill>
                  <a:srgbClr val="F8FAFC"/>
                </a:solidFill>
              </a:defRPr>
            </a:pPr>
            <a:r>
              <a:t>• Median Imputation Inside Folds:</a:t>
            </a:r>
          </a:p>
          <a:p>
            <a:pPr>
              <a:spcAft>
                <a:spcPts val="800"/>
              </a:spcAft>
              <a:defRPr sz="850">
                <a:solidFill>
                  <a:srgbClr val="CBD5E1"/>
                </a:solidFill>
              </a:defRPr>
            </a:pPr>
            <a:r>
              <a:t>`SimpleImputer` and `StandardScaler` fitted exclusively on training folds. Test folds transformed using training parameters.</a:t>
            </a:r>
          </a:p>
          <a:p>
            <a:pPr>
              <a:defRPr sz="1000" b="1">
                <a:solidFill>
                  <a:srgbClr val="F8FAFC"/>
                </a:solidFill>
              </a:defRPr>
            </a:pPr>
            <a:r>
              <a:t>• Zero Ground-Truth Contamination:</a:t>
            </a:r>
          </a:p>
          <a:p>
            <a:pPr>
              <a:spcAft>
                <a:spcPts val="800"/>
              </a:spcAft>
              <a:defRPr sz="850">
                <a:solidFill>
                  <a:srgbClr val="CBD5E1"/>
                </a:solidFill>
              </a:defRPr>
            </a:pPr>
            <a:r>
              <a:t>Discharge status, diagnosis codes, and length of stay are never included in model features.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D — CLINICAL RESEARCH PIPELINE  |  SLIDE 24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69-Feature Physiological Feature Extraction Schema</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06B6D4"/>
                </a:solidFill>
                <a:latin typeface="Helvetica"/>
              </a:defRPr>
            </a:pPr>
            <a:r>
              <a:t>7 CORE VITAL SIGNS × 9 METRICS (63 FEATURES)</a:t>
            </a:r>
          </a:p>
          <a:p>
            <a:pPr>
              <a:defRPr sz="1000" b="1">
                <a:solidFill>
                  <a:srgbClr val="F8FAFC"/>
                </a:solidFill>
              </a:defRPr>
            </a:pPr>
            <a:r>
              <a:t>• Heart Rate (HR):</a:t>
            </a:r>
          </a:p>
          <a:p>
            <a:pPr>
              <a:spcAft>
                <a:spcPts val="400"/>
              </a:spcAft>
              <a:defRPr sz="850">
                <a:solidFill>
                  <a:srgbClr val="CBD5E1"/>
                </a:solidFill>
              </a:defRPr>
            </a:pPr>
            <a:r>
              <a:t>Mean, Min, Max, Standard Deviation, First, Last, Linear Trend (slope), Range, Volatility.</a:t>
            </a:r>
          </a:p>
          <a:p>
            <a:pPr>
              <a:defRPr sz="1000" b="1">
                <a:solidFill>
                  <a:srgbClr val="F8FAFC"/>
                </a:solidFill>
              </a:defRPr>
            </a:pPr>
            <a:r>
              <a:t>• Respiratory Rate (RR):</a:t>
            </a:r>
          </a:p>
          <a:p>
            <a:pPr>
              <a:spcAft>
                <a:spcPts val="400"/>
              </a:spcAft>
              <a:defRPr sz="850">
                <a:solidFill>
                  <a:srgbClr val="CBD5E1"/>
                </a:solidFill>
              </a:defRPr>
            </a:pPr>
            <a:r>
              <a:t>Tachypneic episodes (&gt;24 bpm) and bradypneic deviations over 24 hours.</a:t>
            </a:r>
          </a:p>
          <a:p>
            <a:pPr>
              <a:defRPr sz="1000" b="1">
                <a:solidFill>
                  <a:srgbClr val="F8FAFC"/>
                </a:solidFill>
              </a:defRPr>
            </a:pPr>
            <a:r>
              <a:t>• Oxygen Saturation (SpO2):</a:t>
            </a:r>
          </a:p>
          <a:p>
            <a:pPr>
              <a:spcAft>
                <a:spcPts val="400"/>
              </a:spcAft>
              <a:defRPr sz="850">
                <a:solidFill>
                  <a:srgbClr val="CBD5E1"/>
                </a:solidFill>
              </a:defRPr>
            </a:pPr>
            <a:r>
              <a:t>Hypoxemic exposure (&lt;90%) and saturation variability.</a:t>
            </a:r>
          </a:p>
          <a:p>
            <a:pPr>
              <a:defRPr sz="1000" b="1">
                <a:solidFill>
                  <a:srgbClr val="F8FAFC"/>
                </a:solidFill>
              </a:defRPr>
            </a:pPr>
            <a:r>
              <a:t>• Body Temperature (°C):</a:t>
            </a:r>
          </a:p>
          <a:p>
            <a:pPr>
              <a:spcAft>
                <a:spcPts val="400"/>
              </a:spcAft>
              <a:defRPr sz="850">
                <a:solidFill>
                  <a:srgbClr val="CBD5E1"/>
                </a:solidFill>
              </a:defRPr>
            </a:pPr>
            <a:r>
              <a:t>Hypothermia (&lt;36°C) vs febrile surges (&gt;38.5°C).</a:t>
            </a:r>
          </a:p>
          <a:p>
            <a:pPr>
              <a:defRPr sz="1000" b="1">
                <a:solidFill>
                  <a:srgbClr val="F8FAFC"/>
                </a:solidFill>
              </a:defRPr>
            </a:pPr>
            <a:r>
              <a:t>• Systolic Blood Pressure (SBP):</a:t>
            </a:r>
          </a:p>
          <a:p>
            <a:pPr>
              <a:spcAft>
                <a:spcPts val="400"/>
              </a:spcAft>
              <a:defRPr sz="850">
                <a:solidFill>
                  <a:srgbClr val="CBD5E1"/>
                </a:solidFill>
              </a:defRPr>
            </a:pPr>
            <a:r>
              <a:t>Hypotensive crisis (&lt;90 mmHg) and pulse amplitude.</a:t>
            </a:r>
          </a:p>
          <a:p>
            <a:pPr>
              <a:defRPr sz="1000" b="1">
                <a:solidFill>
                  <a:srgbClr val="F8FAFC"/>
                </a:solidFill>
              </a:defRPr>
            </a:pPr>
            <a:r>
              <a:t>• Diastolic Blood Pressure (DBP):</a:t>
            </a:r>
          </a:p>
          <a:p>
            <a:pPr>
              <a:spcAft>
                <a:spcPts val="400"/>
              </a:spcAft>
              <a:defRPr sz="850">
                <a:solidFill>
                  <a:srgbClr val="CBD5E1"/>
                </a:solidFill>
              </a:defRPr>
            </a:pPr>
            <a:r>
              <a:t>Perfusion pressure stability over 24 hours.</a:t>
            </a:r>
          </a:p>
          <a:p>
            <a:pPr>
              <a:defRPr sz="1000" b="1">
                <a:solidFill>
                  <a:srgbClr val="F8FAFC"/>
                </a:solidFill>
              </a:defRPr>
            </a:pPr>
            <a:r>
              <a:t>• Mean Arterial Pressure (MAP):</a:t>
            </a:r>
          </a:p>
          <a:p>
            <a:pPr>
              <a:spcAft>
                <a:spcPts val="400"/>
              </a:spcAft>
              <a:defRPr sz="850">
                <a:solidFill>
                  <a:srgbClr val="CBD5E1"/>
                </a:solidFill>
              </a:defRPr>
            </a:pPr>
            <a:r>
              <a:t>Computed clinical organ perfusion indicator: (SBP + 2*DBP)/3.</a:t>
            </a:r>
          </a:p>
        </p:txBody>
      </p:sp>
      <p:sp>
        <p:nvSpPr>
          <p:cNvPr id="8" name="Rounded Rectangle 7"/>
          <p:cNvSpPr/>
          <p:nvPr/>
        </p:nvSpPr>
        <p:spPr>
          <a:xfrm>
            <a:off x="6217920" y="1371600"/>
            <a:ext cx="5212080" cy="502920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14B8A6"/>
                </a:solidFill>
                <a:latin typeface="Helvetica"/>
              </a:defRPr>
            </a:pPr>
            <a:r>
              <a:t>6 SUMMARY &amp; DATA-QUALITY INDICATORS</a:t>
            </a:r>
          </a:p>
          <a:p>
            <a:pPr>
              <a:defRPr sz="1000" b="1">
                <a:solidFill>
                  <a:srgbClr val="F8FAFC"/>
                </a:solidFill>
              </a:defRPr>
            </a:pPr>
            <a:r>
              <a:t>• 1. Total Vital Measurements Count:</a:t>
            </a:r>
          </a:p>
          <a:p>
            <a:pPr>
              <a:spcAft>
                <a:spcPts val="800"/>
              </a:spcAft>
              <a:defRPr sz="850">
                <a:solidFill>
                  <a:srgbClr val="CBD5E1"/>
                </a:solidFill>
              </a:defRPr>
            </a:pPr>
            <a:r>
              <a:t>Quantifies clinical monitoring intensity (more severely ill patients receive more frequent charting).</a:t>
            </a:r>
          </a:p>
          <a:p>
            <a:pPr>
              <a:defRPr sz="1000" b="1">
                <a:solidFill>
                  <a:srgbClr val="F8FAFC"/>
                </a:solidFill>
              </a:defRPr>
            </a:pPr>
            <a:r>
              <a:t>• 2. Blood Pressure Measurements Count:</a:t>
            </a:r>
          </a:p>
          <a:p>
            <a:pPr>
              <a:spcAft>
                <a:spcPts val="800"/>
              </a:spcAft>
              <a:defRPr sz="850">
                <a:solidFill>
                  <a:srgbClr val="CBD5E1"/>
                </a:solidFill>
              </a:defRPr>
            </a:pPr>
            <a:r>
              <a:t>Tracks hemodynamic surveillance frequency.</a:t>
            </a:r>
          </a:p>
          <a:p>
            <a:pPr>
              <a:defRPr sz="1000" b="1">
                <a:solidFill>
                  <a:srgbClr val="F8FAFC"/>
                </a:solidFill>
              </a:defRPr>
            </a:pPr>
            <a:r>
              <a:t>• 3. Temperature Missingness Indicator:</a:t>
            </a:r>
          </a:p>
          <a:p>
            <a:pPr>
              <a:spcAft>
                <a:spcPts val="800"/>
              </a:spcAft>
              <a:defRPr sz="850">
                <a:solidFill>
                  <a:srgbClr val="CBD5E1"/>
                </a:solidFill>
              </a:defRPr>
            </a:pPr>
            <a:r>
              <a:t>Flags ICU stays with absent temperature records.</a:t>
            </a:r>
          </a:p>
          <a:p>
            <a:pPr>
              <a:defRPr sz="1000" b="1">
                <a:solidFill>
                  <a:srgbClr val="F8FAFC"/>
                </a:solidFill>
              </a:defRPr>
            </a:pPr>
            <a:r>
              <a:t>• 4. Blood Pressure Missingness Indicator:</a:t>
            </a:r>
          </a:p>
          <a:p>
            <a:pPr>
              <a:spcAft>
                <a:spcPts val="800"/>
              </a:spcAft>
              <a:defRPr sz="850">
                <a:solidFill>
                  <a:srgbClr val="CBD5E1"/>
                </a:solidFill>
              </a:defRPr>
            </a:pPr>
            <a:r>
              <a:t>Identifies non-invasive vs arterial line tracking availability.</a:t>
            </a:r>
          </a:p>
          <a:p>
            <a:pPr>
              <a:defRPr sz="1000" b="1">
                <a:solidFill>
                  <a:srgbClr val="F8FAFC"/>
                </a:solidFill>
              </a:defRPr>
            </a:pPr>
            <a:r>
              <a:t>• 5. Vital Outlier Count:</a:t>
            </a:r>
          </a:p>
          <a:p>
            <a:pPr>
              <a:spcAft>
                <a:spcPts val="800"/>
              </a:spcAft>
              <a:defRPr sz="850">
                <a:solidFill>
                  <a:srgbClr val="CBD5E1"/>
                </a:solidFill>
              </a:defRPr>
            </a:pPr>
            <a:r>
              <a:t>Number of physiological readings flagged outside plausibility bounds.</a:t>
            </a:r>
          </a:p>
          <a:p>
            <a:pPr>
              <a:defRPr sz="1000" b="1">
                <a:solidFill>
                  <a:srgbClr val="F8FAFC"/>
                </a:solidFill>
              </a:defRPr>
            </a:pPr>
            <a:r>
              <a:t>• 6. Mean Measurement Interval (Hours):</a:t>
            </a:r>
          </a:p>
          <a:p>
            <a:pPr>
              <a:spcAft>
                <a:spcPts val="800"/>
              </a:spcAft>
              <a:defRPr sz="850">
                <a:solidFill>
                  <a:srgbClr val="CBD5E1"/>
                </a:solidFill>
              </a:defRPr>
            </a:pPr>
            <a:r>
              <a:t>Temporal density of bedside nursing observation.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D — CLINICAL RESEARCH PIPELINE  |  SLIDE 25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Clinical Mortality Baseline: Honest Uncertainty Evaluation</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inical_roc_curves.png"/>
          <p:cNvPicPr>
            <a:picLocks noChangeAspect="1"/>
          </p:cNvPicPr>
          <p:nvPr/>
        </p:nvPicPr>
        <p:blipFill>
          <a:blip r:embed="rId2"/>
          <a:stretch>
            <a:fillRect/>
          </a:stretch>
        </p:blipFill>
        <p:spPr>
          <a:xfrm>
            <a:off x="731520" y="1371600"/>
            <a:ext cx="5303520" cy="4937760"/>
          </a:xfrm>
          <a:prstGeom prst="rect">
            <a:avLst/>
          </a:prstGeom>
        </p:spPr>
      </p:pic>
      <p:sp>
        <p:nvSpPr>
          <p:cNvPr id="7" name="Rounded Rectangle 6"/>
          <p:cNvSpPr/>
          <p:nvPr/>
        </p:nvSpPr>
        <p:spPr>
          <a:xfrm>
            <a:off x="6217920" y="1371600"/>
            <a:ext cx="5212080" cy="493776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572000"/>
          </a:xfrm>
          <a:prstGeom prst="rect">
            <a:avLst/>
          </a:prstGeom>
          <a:noFill/>
        </p:spPr>
        <p:txBody>
          <a:bodyPr wrap="square" lIns="0" tIns="0" rIns="0" bIns="0">
            <a:spAutoFit/>
          </a:bodyPr>
          <a:lstStyle/>
          <a:p>
            <a:pPr>
              <a:spcAft>
                <a:spcPts val="1000"/>
              </a:spcAft>
              <a:defRPr sz="1100" b="1">
                <a:solidFill>
                  <a:srgbClr val="F59E0B"/>
                </a:solidFill>
                <a:latin typeface="Helvetica"/>
              </a:defRPr>
            </a:pPr>
            <a:r>
              <a:t>EVALUATION METRICS &amp; TRANSPARENT UNCERTAINTY</a:t>
            </a:r>
          </a:p>
          <a:p>
            <a:pPr>
              <a:defRPr sz="950" b="1">
                <a:solidFill>
                  <a:srgbClr val="F8FAFC"/>
                </a:solidFill>
              </a:defRPr>
            </a:pPr>
            <a:r>
              <a:t>• L2 Logistic Regression (Held-Out Test N=35):</a:t>
            </a:r>
          </a:p>
          <a:p>
            <a:pPr>
              <a:spcAft>
                <a:spcPts val="600"/>
              </a:spcAft>
              <a:defRPr sz="850">
                <a:solidFill>
                  <a:srgbClr val="CBD5E1"/>
                </a:solidFill>
              </a:defRPr>
            </a:pPr>
            <a:r>
              <a:t>ROC-AUC: 0.7600 | PR-AUC: 0.6160 | Accuracy: 82.86%</a:t>
            </a:r>
            <a:br/>
            <a:r>
              <a:t>Sensitivity: 60.0% (3/5 deaths detected) | Specificity: 86.67%</a:t>
            </a:r>
            <a:br/>
            <a:r>
              <a:t>Brier Score: 0.1268 (vs Dummy: 0.1226)</a:t>
            </a:r>
          </a:p>
          <a:p>
            <a:pPr>
              <a:defRPr sz="950" b="1">
                <a:solidFill>
                  <a:srgbClr val="F8FAFC"/>
                </a:solidFill>
              </a:defRPr>
            </a:pPr>
            <a:r>
              <a:t>• 5-Fold Grouped Cross-Validation (N=136):</a:t>
            </a:r>
          </a:p>
          <a:p>
            <a:pPr>
              <a:spcAft>
                <a:spcPts val="600"/>
              </a:spcAft>
              <a:defRPr sz="850">
                <a:solidFill>
                  <a:srgbClr val="CBD5E1"/>
                </a:solidFill>
              </a:defRPr>
            </a:pPr>
            <a:r>
              <a:t>Out-of-Fold ROC-AUC: 0.5325 | Out-of-Fold PR-AUC: 0.3083</a:t>
            </a:r>
            <a:br/>
            <a:r>
              <a:t>Out-of-Fold Sensitivity: 33.33% | Specificity: 81.36%</a:t>
            </a:r>
          </a:p>
          <a:p>
            <a:pPr>
              <a:defRPr sz="950" b="1">
                <a:solidFill>
                  <a:srgbClr val="F8FAFC"/>
                </a:solidFill>
              </a:defRPr>
            </a:pPr>
            <a:r>
              <a:t>• The Small-Sample Optimism Gap:</a:t>
            </a:r>
          </a:p>
          <a:p>
            <a:pPr>
              <a:spcAft>
                <a:spcPts val="600"/>
              </a:spcAft>
              <a:defRPr sz="850">
                <a:solidFill>
                  <a:srgbClr val="CBD5E1"/>
                </a:solidFill>
              </a:defRPr>
            </a:pPr>
            <a:r>
              <a:t>Held-out AUC (0.7600) vs Grouped CV AUC (0.5325) exposes the extreme sensitivity volatility of small clinical cohorts (only 5 deaths in test partition).</a:t>
            </a:r>
          </a:p>
          <a:p>
            <a:pPr>
              <a:defRPr sz="950" b="1">
                <a:solidFill>
                  <a:srgbClr val="F8FAFC"/>
                </a:solidFill>
              </a:defRPr>
            </a:pPr>
            <a:r>
              <a:t>• Random Forest Baseline (Held-Out Test):</a:t>
            </a:r>
          </a:p>
          <a:p>
            <a:pPr>
              <a:spcAft>
                <a:spcPts val="600"/>
              </a:spcAft>
              <a:defRPr sz="850">
                <a:solidFill>
                  <a:srgbClr val="CBD5E1"/>
                </a:solidFill>
              </a:defRPr>
            </a:pPr>
            <a:r>
              <a:t>ROC-AUC: 0.7667 | PR-AUC: 0.4894 | Precision: 75.0% | Recall: 60.0%</a:t>
            </a:r>
          </a:p>
          <a:p>
            <a:pPr>
              <a:defRPr sz="950" b="1">
                <a:solidFill>
                  <a:srgbClr val="F8FAFC"/>
                </a:solidFill>
              </a:defRPr>
            </a:pPr>
            <a:r>
              <a:t>• Dummy Majority Classifier:</a:t>
            </a:r>
          </a:p>
          <a:p>
            <a:pPr>
              <a:spcAft>
                <a:spcPts val="600"/>
              </a:spcAft>
              <a:defRPr sz="850">
                <a:solidFill>
                  <a:srgbClr val="CBD5E1"/>
                </a:solidFill>
              </a:defRPr>
            </a:pPr>
            <a:r>
              <a:t>Accuracy: 85.71% | Sensitivity: 0.0% | Specificity: 100.0% | ROC-AUC: 0.5000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D — CLINICAL RESEARCH PIPELINE  |  SLIDE 26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Clinical Calibration &amp; Mandatory Regulatory Disclaimers</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inical_calibration_plot.png"/>
          <p:cNvPicPr>
            <a:picLocks noChangeAspect="1"/>
          </p:cNvPicPr>
          <p:nvPr/>
        </p:nvPicPr>
        <p:blipFill>
          <a:blip r:embed="rId2"/>
          <a:stretch>
            <a:fillRect/>
          </a:stretch>
        </p:blipFill>
        <p:spPr>
          <a:xfrm>
            <a:off x="731520" y="1371600"/>
            <a:ext cx="5303520" cy="4937760"/>
          </a:xfrm>
          <a:prstGeom prst="rect">
            <a:avLst/>
          </a:prstGeom>
        </p:spPr>
      </p:pic>
      <p:sp>
        <p:nvSpPr>
          <p:cNvPr id="7" name="Rounded Rectangle 6"/>
          <p:cNvSpPr/>
          <p:nvPr/>
        </p:nvSpPr>
        <p:spPr>
          <a:xfrm>
            <a:off x="6217920" y="1371600"/>
            <a:ext cx="5212080" cy="4937760"/>
          </a:xfrm>
          <a:prstGeom prst="roundRect">
            <a:avLst/>
          </a:prstGeom>
          <a:solidFill>
            <a:srgbClr val="16223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572000"/>
          </a:xfrm>
          <a:prstGeom prst="rect">
            <a:avLst/>
          </a:prstGeom>
          <a:noFill/>
        </p:spPr>
        <p:txBody>
          <a:bodyPr wrap="square" lIns="0" tIns="0" rIns="0" bIns="0">
            <a:spAutoFit/>
          </a:bodyPr>
          <a:lstStyle/>
          <a:p>
            <a:pPr>
              <a:spcAft>
                <a:spcPts val="1000"/>
              </a:spcAft>
              <a:defRPr sz="1100" b="1">
                <a:solidFill>
                  <a:srgbClr val="EF4444"/>
                </a:solidFill>
                <a:latin typeface="Helvetica"/>
              </a:defRPr>
            </a:pPr>
            <a:r>
              <a:t>MANDATORY RESEARCH DISCLAIMERS &amp; LIMITATIONS</a:t>
            </a:r>
          </a:p>
          <a:p>
            <a:pPr>
              <a:defRPr sz="950" b="1">
                <a:solidFill>
                  <a:srgbClr val="F8FAFC"/>
                </a:solidFill>
              </a:defRPr>
            </a:pPr>
            <a:r>
              <a:t>• NON-DIAGNOSTIC RESEARCH ONLY:</a:t>
            </a:r>
          </a:p>
          <a:p>
            <a:pPr>
              <a:spcAft>
                <a:spcPts val="800"/>
              </a:spcAft>
              <a:defRPr sz="850">
                <a:solidFill>
                  <a:srgbClr val="CBD5E1"/>
                </a:solidFill>
              </a:defRPr>
            </a:pPr>
            <a:r>
              <a:t>The mortality prediction model is strictly exploratory. It is NOT validated for clinical diagnosis, patient triage, ICU bed allocation, or end-of-life decisions.</a:t>
            </a:r>
          </a:p>
          <a:p>
            <a:pPr>
              <a:defRPr sz="950" b="1">
                <a:solidFill>
                  <a:srgbClr val="F8FAFC"/>
                </a:solidFill>
              </a:defRPr>
            </a:pPr>
            <a:r>
              <a:t>• No Real-World Clinical Interventions:</a:t>
            </a:r>
          </a:p>
          <a:p>
            <a:pPr>
              <a:spcAft>
                <a:spcPts val="800"/>
              </a:spcAft>
              <a:defRPr sz="850">
                <a:solidFill>
                  <a:srgbClr val="CBD5E1"/>
                </a:solidFill>
              </a:defRPr>
            </a:pPr>
            <a:r>
              <a:t>EdgeShield AI must never be used to alter drug therapy, adjust ventilator settings, or discharge patients without human physician oversight.</a:t>
            </a:r>
          </a:p>
          <a:p>
            <a:pPr>
              <a:defRPr sz="950" b="1">
                <a:solidFill>
                  <a:srgbClr val="F8FAFC"/>
                </a:solidFill>
              </a:defRPr>
            </a:pPr>
            <a:r>
              <a:t>• Regulatory Compliance (FDA / SaMD):</a:t>
            </a:r>
          </a:p>
          <a:p>
            <a:pPr>
              <a:spcAft>
                <a:spcPts val="800"/>
              </a:spcAft>
              <a:defRPr sz="850">
                <a:solidFill>
                  <a:srgbClr val="CBD5E1"/>
                </a:solidFill>
              </a:defRPr>
            </a:pPr>
            <a:r>
              <a:t>EdgeShield AI has not been submitted for or granted FDA 510(k), De Novo, or CE Mark medical device clearance.</a:t>
            </a:r>
          </a:p>
          <a:p>
            <a:pPr>
              <a:defRPr sz="950" b="1">
                <a:solidFill>
                  <a:srgbClr val="F8FAFC"/>
                </a:solidFill>
              </a:defRPr>
            </a:pPr>
            <a:r>
              <a:t>• Small Cohort Limitations:</a:t>
            </a:r>
          </a:p>
          <a:p>
            <a:pPr>
              <a:spcAft>
                <a:spcPts val="800"/>
              </a:spcAft>
              <a:defRPr sz="850">
                <a:solidFill>
                  <a:srgbClr val="CBD5E1"/>
                </a:solidFill>
              </a:defRPr>
            </a:pPr>
            <a:r>
              <a:t>The MIMIC-IV Demo cohort (136 stays, 18 deaths) lacks statistical power to generalize across hospital systems, demographic groups, or varied disease etiologies.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E — IMPLEMENTATION &amp; VERIFICATION  |  SLIDE 27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Full-Stack Implementation: Backend, Frontend &amp; Operator UX</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2560320" cy="5029200"/>
          </a:xfrm>
          <a:prstGeom prst="roundRect">
            <a:avLst/>
          </a:prstGeom>
          <a:solidFill>
            <a:srgbClr val="16223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2286000" cy="4663440"/>
          </a:xfrm>
          <a:prstGeom prst="rect">
            <a:avLst/>
          </a:prstGeom>
          <a:noFill/>
        </p:spPr>
        <p:txBody>
          <a:bodyPr wrap="square" lIns="0" tIns="0" rIns="0" bIns="0">
            <a:spAutoFit/>
          </a:bodyPr>
          <a:lstStyle/>
          <a:p>
            <a:pPr>
              <a:spcAft>
                <a:spcPts val="1200"/>
              </a:spcAft>
              <a:defRPr sz="1100" b="1">
                <a:solidFill>
                  <a:srgbClr val="EF4444"/>
                </a:solidFill>
                <a:latin typeface="Helvetica"/>
              </a:defRPr>
            </a:pPr>
            <a:r>
              <a:t>ALERT CENTER</a:t>
            </a:r>
          </a:p>
          <a:p>
            <a:pPr>
              <a:defRPr sz="950" b="1">
                <a:solidFill>
                  <a:srgbClr val="F8FAFC"/>
                </a:solidFill>
              </a:defRPr>
            </a:pPr>
            <a:r>
              <a:t>• Triaged Feed:</a:t>
            </a:r>
          </a:p>
          <a:p>
            <a:pPr>
              <a:spcAft>
                <a:spcPts val="1000"/>
              </a:spcAft>
              <a:defRPr sz="850">
                <a:solidFill>
                  <a:srgbClr val="CBD5E1"/>
                </a:solidFill>
              </a:defRPr>
            </a:pPr>
            <a:r>
              <a:t>Real-time list of detected intrusion events with severity indicators (CRITICAL, HIGH, MEDIUM, INFORMATIONAL).</a:t>
            </a:r>
          </a:p>
          <a:p>
            <a:pPr>
              <a:defRPr sz="950" b="1">
                <a:solidFill>
                  <a:srgbClr val="F8FAFC"/>
                </a:solidFill>
              </a:defRPr>
            </a:pPr>
            <a:r>
              <a:t>• Explainer Modal:</a:t>
            </a:r>
          </a:p>
          <a:p>
            <a:pPr>
              <a:spcAft>
                <a:spcPts val="1000"/>
              </a:spcAft>
              <a:defRPr sz="850">
                <a:solidFill>
                  <a:srgbClr val="CBD5E1"/>
                </a:solidFill>
              </a:defRPr>
            </a:pPr>
            <a:r>
              <a:t>Displays asynchronous LLM-generated clinical impact and mitigation steps.</a:t>
            </a:r>
          </a:p>
          <a:p>
            <a:pPr>
              <a:defRPr sz="950" b="1">
                <a:solidFill>
                  <a:srgbClr val="F8FAFC"/>
                </a:solidFill>
              </a:defRPr>
            </a:pPr>
            <a:r>
              <a:t>• Enforcement Actions:</a:t>
            </a:r>
          </a:p>
          <a:p>
            <a:pPr>
              <a:spcAft>
                <a:spcPts val="1000"/>
              </a:spcAft>
              <a:defRPr sz="850">
                <a:solidFill>
                  <a:srgbClr val="CBD5E1"/>
                </a:solidFill>
              </a:defRPr>
            </a:pPr>
            <a:r>
              <a:t>Isolate device, release interlock, or trigger simulated attack.</a:t>
            </a:r>
          </a:p>
        </p:txBody>
      </p:sp>
      <p:sp>
        <p:nvSpPr>
          <p:cNvPr id="8" name="Rounded Rectangle 7"/>
          <p:cNvSpPr/>
          <p:nvPr/>
        </p:nvSpPr>
        <p:spPr>
          <a:xfrm>
            <a:off x="3456432" y="1371600"/>
            <a:ext cx="256032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554480"/>
            <a:ext cx="2286000" cy="4663440"/>
          </a:xfrm>
          <a:prstGeom prst="rect">
            <a:avLst/>
          </a:prstGeom>
          <a:noFill/>
        </p:spPr>
        <p:txBody>
          <a:bodyPr wrap="square" lIns="0" tIns="0" rIns="0" bIns="0">
            <a:spAutoFit/>
          </a:bodyPr>
          <a:lstStyle/>
          <a:p>
            <a:pPr>
              <a:spcAft>
                <a:spcPts val="1200"/>
              </a:spcAft>
              <a:defRPr sz="1100" b="1">
                <a:solidFill>
                  <a:srgbClr val="06B6D4"/>
                </a:solidFill>
                <a:latin typeface="Helvetica"/>
              </a:defRPr>
            </a:pPr>
            <a:r>
              <a:t>DEVICE MANAGER</a:t>
            </a:r>
          </a:p>
          <a:p>
            <a:pPr>
              <a:defRPr sz="950" b="1">
                <a:solidFill>
                  <a:srgbClr val="F8FAFC"/>
                </a:solidFill>
              </a:defRPr>
            </a:pPr>
            <a:r>
              <a:t>• Hospital Grid:</a:t>
            </a:r>
          </a:p>
          <a:p>
            <a:pPr>
              <a:spcAft>
                <a:spcPts val="1000"/>
              </a:spcAft>
              <a:defRPr sz="850">
                <a:solidFill>
                  <a:srgbClr val="CBD5E1"/>
                </a:solidFill>
              </a:defRPr>
            </a:pPr>
            <a:r>
              <a:t>Live inventory of all registered medical IoT devices with IP, MAC, location, and firmware version.</a:t>
            </a:r>
          </a:p>
          <a:p>
            <a:pPr>
              <a:defRPr sz="950" b="1">
                <a:solidFill>
                  <a:srgbClr val="F8FAFC"/>
                </a:solidFill>
              </a:defRPr>
            </a:pPr>
            <a:r>
              <a:t>• Risk Score Gauge:</a:t>
            </a:r>
          </a:p>
          <a:p>
            <a:pPr>
              <a:spcAft>
                <a:spcPts val="1000"/>
              </a:spcAft>
              <a:defRPr sz="850">
                <a:solidFill>
                  <a:srgbClr val="CBD5E1"/>
                </a:solidFill>
              </a:defRPr>
            </a:pPr>
            <a:r>
              <a:t>Visual progress bar of rolling dynamic risk score with exponential decay status.</a:t>
            </a:r>
          </a:p>
          <a:p>
            <a:pPr>
              <a:defRPr sz="950" b="1">
                <a:solidFill>
                  <a:srgbClr val="F8FAFC"/>
                </a:solidFill>
              </a:defRPr>
            </a:pPr>
            <a:r>
              <a:t>• Interlock Controls:</a:t>
            </a:r>
          </a:p>
          <a:p>
            <a:pPr>
              <a:spcAft>
                <a:spcPts val="1000"/>
              </a:spcAft>
              <a:defRPr sz="850">
                <a:solidFill>
                  <a:srgbClr val="CBD5E1"/>
                </a:solidFill>
              </a:defRPr>
            </a:pPr>
            <a:r>
              <a:t>Bedside override status indicator for life-critical assets.</a:t>
            </a:r>
          </a:p>
        </p:txBody>
      </p:sp>
      <p:sp>
        <p:nvSpPr>
          <p:cNvPr id="10" name="Rounded Rectangle 9"/>
          <p:cNvSpPr/>
          <p:nvPr/>
        </p:nvSpPr>
        <p:spPr>
          <a:xfrm>
            <a:off x="6181344" y="1371600"/>
            <a:ext cx="2560320" cy="502920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554480"/>
            <a:ext cx="2286000" cy="4663440"/>
          </a:xfrm>
          <a:prstGeom prst="rect">
            <a:avLst/>
          </a:prstGeom>
          <a:noFill/>
        </p:spPr>
        <p:txBody>
          <a:bodyPr wrap="square" lIns="0" tIns="0" rIns="0" bIns="0">
            <a:spAutoFit/>
          </a:bodyPr>
          <a:lstStyle/>
          <a:p>
            <a:pPr>
              <a:spcAft>
                <a:spcPts val="1200"/>
              </a:spcAft>
              <a:defRPr sz="1100" b="1">
                <a:solidFill>
                  <a:srgbClr val="14B8A6"/>
                </a:solidFill>
                <a:latin typeface="Helvetica"/>
              </a:defRPr>
            </a:pPr>
            <a:r>
              <a:t>AI COPILOT DRAWER</a:t>
            </a:r>
          </a:p>
          <a:p>
            <a:pPr>
              <a:defRPr sz="950" b="1">
                <a:solidFill>
                  <a:srgbClr val="F8FAFC"/>
                </a:solidFill>
              </a:defRPr>
            </a:pPr>
            <a:r>
              <a:t>• PDF Document Reader:</a:t>
            </a:r>
          </a:p>
          <a:p>
            <a:pPr>
              <a:spcAft>
                <a:spcPts val="1000"/>
              </a:spcAft>
              <a:defRPr sz="850">
                <a:solidFill>
                  <a:srgbClr val="CBD5E1"/>
                </a:solidFill>
              </a:defRPr>
            </a:pPr>
            <a:r>
              <a:t>Upload and index medical device manuals via PyMuPDF.</a:t>
            </a:r>
          </a:p>
          <a:p>
            <a:pPr>
              <a:defRPr sz="950" b="1">
                <a:solidFill>
                  <a:srgbClr val="F8FAFC"/>
                </a:solidFill>
              </a:defRPr>
            </a:pPr>
            <a:r>
              <a:t>• Vector RAG Chat:</a:t>
            </a:r>
          </a:p>
          <a:p>
            <a:pPr>
              <a:spcAft>
                <a:spcPts val="1000"/>
              </a:spcAft>
              <a:defRPr sz="850">
                <a:solidFill>
                  <a:srgbClr val="CBD5E1"/>
                </a:solidFill>
              </a:defRPr>
            </a:pPr>
            <a:r>
              <a:t>Interactive assistant answering clinical cybersecurity questions grounded in manuals.</a:t>
            </a:r>
          </a:p>
          <a:p>
            <a:pPr>
              <a:defRPr sz="950" b="1">
                <a:solidFill>
                  <a:srgbClr val="F8FAFC"/>
                </a:solidFill>
              </a:defRPr>
            </a:pPr>
            <a:r>
              <a:t>• Contextual Guidance:</a:t>
            </a:r>
          </a:p>
          <a:p>
            <a:pPr>
              <a:spcAft>
                <a:spcPts val="1000"/>
              </a:spcAft>
              <a:defRPr sz="850">
                <a:solidFill>
                  <a:srgbClr val="CBD5E1"/>
                </a:solidFill>
              </a:defRPr>
            </a:pPr>
            <a:r>
              <a:t>Provides step-by-step remediation protocols during active alerts.</a:t>
            </a:r>
          </a:p>
        </p:txBody>
      </p:sp>
      <p:sp>
        <p:nvSpPr>
          <p:cNvPr id="12" name="Rounded Rectangle 11"/>
          <p:cNvSpPr/>
          <p:nvPr/>
        </p:nvSpPr>
        <p:spPr>
          <a:xfrm>
            <a:off x="8906256" y="1371600"/>
            <a:ext cx="2560320" cy="502920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554480"/>
            <a:ext cx="2286000" cy="4663440"/>
          </a:xfrm>
          <a:prstGeom prst="rect">
            <a:avLst/>
          </a:prstGeom>
          <a:noFill/>
        </p:spPr>
        <p:txBody>
          <a:bodyPr wrap="square" lIns="0" tIns="0" rIns="0" bIns="0">
            <a:spAutoFit/>
          </a:bodyPr>
          <a:lstStyle/>
          <a:p>
            <a:pPr>
              <a:spcAft>
                <a:spcPts val="1200"/>
              </a:spcAft>
              <a:defRPr sz="1100" b="1">
                <a:solidFill>
                  <a:srgbClr val="F59E0B"/>
                </a:solidFill>
                <a:latin typeface="Helvetica"/>
              </a:defRPr>
            </a:pPr>
            <a:r>
              <a:t>PATIENT MONITORING</a:t>
            </a:r>
          </a:p>
          <a:p>
            <a:pPr>
              <a:defRPr sz="950" b="1">
                <a:solidFill>
                  <a:srgbClr val="F8FAFC"/>
                </a:solidFill>
              </a:defRPr>
            </a:pPr>
            <a:r>
              <a:t>• Vital Signs Stream:</a:t>
            </a:r>
          </a:p>
          <a:p>
            <a:pPr>
              <a:spcAft>
                <a:spcPts val="1000"/>
              </a:spcAft>
              <a:defRPr sz="850">
                <a:solidFill>
                  <a:srgbClr val="CBD5E1"/>
                </a:solidFill>
              </a:defRPr>
            </a:pPr>
            <a:r>
              <a:t>Display of 24h prospective vital signs (HR, RR, SpO2, Temp, BP).</a:t>
            </a:r>
          </a:p>
          <a:p>
            <a:pPr>
              <a:defRPr sz="950" b="1">
                <a:solidFill>
                  <a:srgbClr val="F8FAFC"/>
                </a:solidFill>
              </a:defRPr>
            </a:pPr>
            <a:r>
              <a:t>• Data Quality Screening:</a:t>
            </a:r>
          </a:p>
          <a:p>
            <a:pPr>
              <a:spcAft>
                <a:spcPts val="1000"/>
              </a:spcAft>
              <a:defRPr sz="850">
                <a:solidFill>
                  <a:srgbClr val="CBD5E1"/>
                </a:solidFill>
              </a:defRPr>
            </a:pPr>
            <a:r>
              <a:t>Outlier detection, unit conversion, and missingness report cards.</a:t>
            </a:r>
          </a:p>
          <a:p>
            <a:pPr>
              <a:defRPr sz="950" b="1">
                <a:solidFill>
                  <a:srgbClr val="F8FAFC"/>
                </a:solidFill>
              </a:defRPr>
            </a:pPr>
            <a:r>
              <a:t>• Exploratory Risk Bar:</a:t>
            </a:r>
          </a:p>
          <a:p>
            <a:pPr>
              <a:spcAft>
                <a:spcPts val="1000"/>
              </a:spcAft>
              <a:defRPr sz="850">
                <a:solidFill>
                  <a:srgbClr val="CBD5E1"/>
                </a:solidFill>
              </a:defRPr>
            </a:pPr>
            <a:r>
              <a:t>Research mortality risk score with prominent clinical disclaimer banner.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E — IMPLEMENTATION &amp; VERIFICATION  |  SLIDE 28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Verification Evidence: 90/90 Passing Tests &amp; Clean Build</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10B981"/>
                </a:solidFill>
                <a:latin typeface="Helvetica"/>
              </a:defRPr>
            </a:pPr>
            <a:r>
              <a:t>AUTOMATED TEST SUITE: 90 PASSED / 0 FAILED</a:t>
            </a:r>
          </a:p>
          <a:p>
            <a:pPr>
              <a:defRPr sz="950" b="1">
                <a:solidFill>
                  <a:srgbClr val="F8FAFC"/>
                </a:solidFill>
              </a:defRPr>
            </a:pPr>
            <a:r>
              <a:t>• test_canonical_pipeline.py (14 tests)</a:t>
            </a:r>
          </a:p>
          <a:p>
            <a:pPr>
              <a:spcAft>
                <a:spcPts val="400"/>
              </a:spcAft>
              <a:defRPr sz="850">
                <a:solidFill>
                  <a:srgbClr val="CBD5E1"/>
                </a:solidFill>
              </a:defRPr>
            </a:pPr>
            <a:r>
              <a:t>Device resolution, dual-stage scoring, alert flood aggregation, risk decay, async AI enrichment dispatch, latency.</a:t>
            </a:r>
          </a:p>
          <a:p>
            <a:pPr>
              <a:defRPr sz="950" b="1">
                <a:solidFill>
                  <a:srgbClr val="F8FAFC"/>
                </a:solidFill>
              </a:defRPr>
            </a:pPr>
            <a:r>
              <a:t>• test_machine_signals.py (10 tests)</a:t>
            </a:r>
          </a:p>
          <a:p>
            <a:pPr>
              <a:spcAft>
                <a:spcPts val="400"/>
              </a:spcAft>
              <a:defRPr sz="850">
                <a:solidFill>
                  <a:srgbClr val="CBD5E1"/>
                </a:solidFill>
              </a:defRPr>
            </a:pPr>
            <a:r>
              <a:t>Normal signal verification, lethal bolus overdose quarantine, ventilator barotrauma hijack, anti-replay, physiological paradox.</a:t>
            </a:r>
          </a:p>
          <a:p>
            <a:pPr>
              <a:defRPr sz="950" b="1">
                <a:solidFill>
                  <a:srgbClr val="F8FAFC"/>
                </a:solidFill>
              </a:defRPr>
            </a:pPr>
            <a:r>
              <a:t>• test_security_and_enforcement.py (18 tests)</a:t>
            </a:r>
          </a:p>
          <a:p>
            <a:pPr>
              <a:spcAft>
                <a:spcPts val="400"/>
              </a:spcAft>
              <a:defRPr sz="850">
                <a:solidFill>
                  <a:srgbClr val="CBD5E1"/>
                </a:solidFill>
              </a:defRPr>
            </a:pPr>
            <a:r>
              <a:t>RBAC authorization, Linux iptables simulation, idempotency, audit trail logging, interlock override rules.</a:t>
            </a:r>
          </a:p>
          <a:p>
            <a:pPr>
              <a:defRPr sz="950" b="1">
                <a:solidFill>
                  <a:srgbClr val="F8FAFC"/>
                </a:solidFill>
              </a:defRPr>
            </a:pPr>
            <a:r>
              <a:t>• test_patient_monitoring.py (23 tests)</a:t>
            </a:r>
          </a:p>
          <a:p>
            <a:pPr>
              <a:spcAft>
                <a:spcPts val="400"/>
              </a:spcAft>
              <a:defRPr sz="850">
                <a:solidFill>
                  <a:srgbClr val="CBD5E1"/>
                </a:solidFill>
              </a:defRPr>
            </a:pPr>
            <a:r>
              <a:t>Vital sign quality screening, Celsius conversion, 24h windowing, NaN/Inf rejection, grouped split validation.</a:t>
            </a:r>
          </a:p>
          <a:p>
            <a:pPr>
              <a:defRPr sz="950" b="1">
                <a:solidFill>
                  <a:srgbClr val="F8FAFC"/>
                </a:solidFill>
              </a:defRPr>
            </a:pPr>
            <a:r>
              <a:t>• test_empirical_ids.py (7 tests)</a:t>
            </a:r>
          </a:p>
          <a:p>
            <a:pPr>
              <a:spcAft>
                <a:spcPts val="400"/>
              </a:spcAft>
              <a:defRPr sz="850">
                <a:solidFill>
                  <a:srgbClr val="CBD5E1"/>
                </a:solidFill>
              </a:defRPr>
            </a:pPr>
            <a:r>
              <a:t>Empirical model loading, 29-feature schema validation, graceful fallback on missing models, API endpoints.</a:t>
            </a:r>
          </a:p>
          <a:p>
            <a:pPr>
              <a:defRPr sz="950" b="1">
                <a:solidFill>
                  <a:srgbClr val="F8FAFC"/>
                </a:solidFill>
              </a:defRPr>
            </a:pPr>
            <a:r>
              <a:t>• test_feature_extractor.py (6 tests)</a:t>
            </a:r>
          </a:p>
          <a:p>
            <a:pPr>
              <a:spcAft>
                <a:spcPts val="400"/>
              </a:spcAft>
              <a:defRPr sz="850">
                <a:solidFill>
                  <a:srgbClr val="CBD5E1"/>
                </a:solidFill>
              </a:defRPr>
            </a:pPr>
            <a:r>
              <a:t>Edge-IIoTset SHA-256 verification, leakage-free partitioning, zero feature fabrication.</a:t>
            </a:r>
          </a:p>
          <a:p>
            <a:pPr>
              <a:defRPr sz="950" b="1">
                <a:solidFill>
                  <a:srgbClr val="F8FAFC"/>
                </a:solidFill>
              </a:defRPr>
            </a:pPr>
            <a:r>
              <a:t>• test_documents_and_copilot.py &amp; test_api.py (12 tests)</a:t>
            </a:r>
          </a:p>
          <a:p>
            <a:pPr>
              <a:spcAft>
                <a:spcPts val="400"/>
              </a:spcAft>
              <a:defRPr sz="850">
                <a:solidFill>
                  <a:srgbClr val="CBD5E1"/>
                </a:solidFill>
              </a:defRPr>
            </a:pPr>
            <a:r>
              <a:t>PDF RAG search, copilot context switching, core REST routes.</a:t>
            </a:r>
          </a:p>
        </p:txBody>
      </p:sp>
      <p:sp>
        <p:nvSpPr>
          <p:cNvPr id="8" name="Rounded Rectangle 7"/>
          <p:cNvSpPr/>
          <p:nvPr/>
        </p:nvSpPr>
        <p:spPr>
          <a:xfrm>
            <a:off x="6217920" y="1371600"/>
            <a:ext cx="5212080" cy="502920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06B6D4"/>
                </a:solidFill>
                <a:latin typeface="Helvetica"/>
              </a:defRPr>
            </a:pPr>
            <a:r>
              <a:t>BUILD &amp; COMPATIBILITY VERIFICATION EVIDENCE</a:t>
            </a:r>
          </a:p>
          <a:p>
            <a:pPr>
              <a:defRPr sz="1000" b="1">
                <a:solidFill>
                  <a:srgbClr val="F8FAFC"/>
                </a:solidFill>
              </a:defRPr>
            </a:pPr>
            <a:r>
              <a:t>• Frontend Production Build (`tsc &amp;&amp; vite build`):</a:t>
            </a:r>
          </a:p>
          <a:p>
            <a:pPr>
              <a:spcAft>
                <a:spcPts val="800"/>
              </a:spcAft>
              <a:defRPr sz="850">
                <a:solidFill>
                  <a:srgbClr val="CBD5E1"/>
                </a:solidFill>
              </a:defRPr>
            </a:pPr>
            <a:r>
              <a:t>Successfully compiled 2,670 TypeScript/React modules in 1.25 seconds with 0 errors.</a:t>
            </a:r>
          </a:p>
          <a:p>
            <a:pPr>
              <a:defRPr sz="1000" b="1">
                <a:solidFill>
                  <a:srgbClr val="F8FAFC"/>
                </a:solidFill>
              </a:defRPr>
            </a:pPr>
            <a:r>
              <a:t>• Backend Environment:</a:t>
            </a:r>
          </a:p>
          <a:p>
            <a:pPr>
              <a:spcAft>
                <a:spcPts val="800"/>
              </a:spcAft>
              <a:defRPr sz="850">
                <a:solidFill>
                  <a:srgbClr val="CBD5E1"/>
                </a:solidFill>
              </a:defRPr>
            </a:pPr>
            <a:r>
              <a:t>macOS Apple Silicon / Linux x86_64; Python 3.14.6 in isolated virtual environment; Pytest 9.1.1.</a:t>
            </a:r>
          </a:p>
          <a:p>
            <a:pPr>
              <a:defRPr sz="1000" b="1">
                <a:solidFill>
                  <a:srgbClr val="F8FAFC"/>
                </a:solidFill>
              </a:defRPr>
            </a:pPr>
            <a:r>
              <a:t>• Artifact Reproducibility:</a:t>
            </a:r>
          </a:p>
          <a:p>
            <a:pPr>
              <a:spcAft>
                <a:spcPts val="800"/>
              </a:spcAft>
              <a:defRPr sz="850">
                <a:solidFill>
                  <a:srgbClr val="CBD5E1"/>
                </a:solidFill>
              </a:defRPr>
            </a:pPr>
            <a:r>
              <a:t>Deterministic SHA-256 dataset checks and frozen random seeds (seed=42) guarantee 100% reproducible evaluations.</a:t>
            </a:r>
          </a:p>
          <a:p>
            <a:pPr>
              <a:defRPr sz="1000" b="1">
                <a:solidFill>
                  <a:srgbClr val="F8FAFC"/>
                </a:solidFill>
              </a:defRPr>
            </a:pPr>
            <a:r>
              <a:t>• Zero Pipeline Regressions:</a:t>
            </a:r>
          </a:p>
          <a:p>
            <a:pPr>
              <a:spcAft>
                <a:spcPts val="800"/>
              </a:spcAft>
              <a:defRPr sz="850">
                <a:solidFill>
                  <a:srgbClr val="CBD5E1"/>
                </a:solidFill>
              </a:defRPr>
            </a:pPr>
            <a:r>
              <a:t>Preserved all Phase 1 synthetic model artifacts while integrating the empirical benchmark models.</a:t>
            </a:r>
          </a:p>
          <a:p>
            <a:pPr>
              <a:defRPr sz="1000" b="1">
                <a:solidFill>
                  <a:srgbClr val="F8FAFC"/>
                </a:solidFill>
              </a:defRPr>
            </a:pPr>
            <a:r>
              <a:t>• Execution Speed:</a:t>
            </a:r>
          </a:p>
          <a:p>
            <a:pPr>
              <a:spcAft>
                <a:spcPts val="800"/>
              </a:spcAft>
              <a:defRPr sz="850">
                <a:solidFill>
                  <a:srgbClr val="CBD5E1"/>
                </a:solidFill>
              </a:defRPr>
            </a:pPr>
            <a:r>
              <a:t>Complete test suite of 90 tests executes in 2.51 seconds.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E — IMPLEMENTATION &amp; VERIFICATION  |  SLIDE 29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Performance Benchmarks: Edge Latency &amp; Resource Utilization</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nference_latency_benchmark.png"/>
          <p:cNvPicPr>
            <a:picLocks noChangeAspect="1"/>
          </p:cNvPicPr>
          <p:nvPr/>
        </p:nvPicPr>
        <p:blipFill>
          <a:blip r:embed="rId2"/>
          <a:stretch>
            <a:fillRect/>
          </a:stretch>
        </p:blipFill>
        <p:spPr>
          <a:xfrm>
            <a:off x="731520" y="1371600"/>
            <a:ext cx="5486400" cy="4937760"/>
          </a:xfrm>
          <a:prstGeom prst="rect">
            <a:avLst/>
          </a:prstGeom>
        </p:spPr>
      </p:pic>
      <p:sp>
        <p:nvSpPr>
          <p:cNvPr id="7" name="Rounded Rectangle 6"/>
          <p:cNvSpPr/>
          <p:nvPr/>
        </p:nvSpPr>
        <p:spPr>
          <a:xfrm>
            <a:off x="6400800" y="1371600"/>
            <a:ext cx="5029200" cy="4937760"/>
          </a:xfrm>
          <a:prstGeom prst="roundRect">
            <a:avLst/>
          </a:prstGeom>
          <a:solidFill>
            <a:srgbClr val="1622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554480"/>
            <a:ext cx="4663440" cy="4572000"/>
          </a:xfrm>
          <a:prstGeom prst="rect">
            <a:avLst/>
          </a:prstGeom>
          <a:noFill/>
        </p:spPr>
        <p:txBody>
          <a:bodyPr wrap="square" lIns="0" tIns="0" rIns="0" bIns="0">
            <a:spAutoFit/>
          </a:bodyPr>
          <a:lstStyle/>
          <a:p>
            <a:pPr>
              <a:spcAft>
                <a:spcPts val="1000"/>
              </a:spcAft>
              <a:defRPr sz="1100" b="1">
                <a:solidFill>
                  <a:srgbClr val="06B6D4"/>
                </a:solidFill>
                <a:latin typeface="Helvetica"/>
              </a:defRPr>
            </a:pPr>
            <a:r>
              <a:t>EDGE COMPUTING RESOURCE FOOTPRINT</a:t>
            </a:r>
          </a:p>
          <a:p>
            <a:pPr>
              <a:defRPr sz="950" b="1">
                <a:solidFill>
                  <a:srgbClr val="F8FAFC"/>
                </a:solidFill>
              </a:defRPr>
            </a:pPr>
            <a:r>
              <a:t>• Single-Packet Inference Latency (1,000 Trials):</a:t>
            </a:r>
          </a:p>
          <a:p>
            <a:pPr>
              <a:spcAft>
                <a:spcPts val="600"/>
              </a:spcAft>
              <a:defRPr sz="850">
                <a:solidFill>
                  <a:srgbClr val="CBD5E1"/>
                </a:solidFill>
              </a:defRPr>
            </a:pPr>
            <a:r>
              <a:t>• Decision Tree: 31.1 μs median (32,000 packets/sec)</a:t>
            </a:r>
            <a:br/>
            <a:r>
              <a:t>• Logistic Regression: 38.5 μs median (26,000 packets/sec)</a:t>
            </a:r>
            <a:br/>
            <a:r>
              <a:t>• XGBoost Classifier: 146.9 μs median (6,800 packets/sec)</a:t>
            </a:r>
            <a:br/>
            <a:r>
              <a:t>• Random Forest (100 trees): 13.5 ms median (74 packets/sec)</a:t>
            </a:r>
            <a:br/>
            <a:r>
              <a:t>• Isolation Forest: 11.2 ms median</a:t>
            </a:r>
          </a:p>
          <a:p>
            <a:pPr>
              <a:defRPr sz="950" b="1">
                <a:solidFill>
                  <a:srgbClr val="F8FAFC"/>
                </a:solidFill>
              </a:defRPr>
            </a:pPr>
            <a:r>
              <a:t>• End-to-End Pipeline Latency:</a:t>
            </a:r>
          </a:p>
          <a:p>
            <a:pPr>
              <a:spcAft>
                <a:spcPts val="600"/>
              </a:spcAft>
              <a:defRPr sz="850">
                <a:solidFill>
                  <a:srgbClr val="CBD5E1"/>
                </a:solidFill>
              </a:defRPr>
            </a:pPr>
            <a:r>
              <a:t>Canonical Security Pipeline (ingestion, device resolution, scoring, risk update, alert correlation) averages 1.8 to 4.2 ms total.</a:t>
            </a:r>
          </a:p>
          <a:p>
            <a:pPr>
              <a:defRPr sz="950" b="1">
                <a:solidFill>
                  <a:srgbClr val="F8FAFC"/>
                </a:solidFill>
              </a:defRPr>
            </a:pPr>
            <a:r>
              <a:t>• Model Memory &amp; Storage Footprint:</a:t>
            </a:r>
          </a:p>
          <a:p>
            <a:pPr>
              <a:spcAft>
                <a:spcPts val="600"/>
              </a:spcAft>
              <a:defRPr sz="850">
                <a:solidFill>
                  <a:srgbClr val="CBD5E1"/>
                </a:solidFill>
              </a:defRPr>
            </a:pPr>
            <a:r>
              <a:t>• Logistic Regression: 3.0 KB (.joblib)</a:t>
            </a:r>
            <a:br/>
            <a:r>
              <a:t>• Decision Tree: 75.6 KB (.joblib)</a:t>
            </a:r>
            <a:br/>
            <a:r>
              <a:t>• XGBoost: 1.85 MB (.joblib)</a:t>
            </a:r>
            <a:br/>
            <a:r>
              <a:t>• Random Forest: 24.5 MB (.joblib)</a:t>
            </a:r>
            <a:br/>
            <a:r>
              <a:t>• Isolation Forest: 1.26 MB (.joblib)</a:t>
            </a:r>
          </a:p>
          <a:p>
            <a:pPr>
              <a:defRPr sz="950" b="1">
                <a:solidFill>
                  <a:srgbClr val="F8FAFC"/>
                </a:solidFill>
              </a:defRPr>
            </a:pPr>
            <a:r>
              <a:t>• Hardware Requirements:</a:t>
            </a:r>
          </a:p>
          <a:p>
            <a:pPr>
              <a:spcAft>
                <a:spcPts val="600"/>
              </a:spcAft>
              <a:defRPr sz="850">
                <a:solidFill>
                  <a:srgbClr val="CBD5E1"/>
                </a:solidFill>
              </a:defRPr>
            </a:pPr>
            <a:r>
              <a:t>Runs comfortably on lightweight edge hardware (e.g. Raspberry Pi 4 / 5, NVIDIA Jetson, or Intel NUC) using &lt;300 MB RAM.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8229600" cy="256032"/>
          </a:xfrm>
          <a:prstGeom prst="rect">
            <a:avLst/>
          </a:prstGeom>
          <a:noFill/>
        </p:spPr>
        <p:txBody>
          <a:bodyPr wrap="square" lIns="0" tIns="0" rIns="0" bIns="0">
            <a:spAutoFit/>
          </a:bodyPr>
          <a:lstStyle/>
          <a:p>
            <a:pPr>
              <a:defRPr sz="900" b="1">
                <a:solidFill>
                  <a:srgbClr val="06B6D4"/>
                </a:solidFill>
                <a:latin typeface="Arial"/>
              </a:defRPr>
            </a:pPr>
            <a:r>
              <a:t>SECTION F — FINAL OUTCOME  |  SLIDE 30 OF 30</a:t>
            </a:r>
          </a:p>
        </p:txBody>
      </p:sp>
      <p:sp>
        <p:nvSpPr>
          <p:cNvPr id="4" name="TextBox 3"/>
          <p:cNvSpPr txBox="1"/>
          <p:nvPr/>
        </p:nvSpPr>
        <p:spPr>
          <a:xfrm>
            <a:off x="731520" y="621792"/>
            <a:ext cx="10515600" cy="502920"/>
          </a:xfrm>
          <a:prstGeom prst="rect">
            <a:avLst/>
          </a:prstGeom>
          <a:noFill/>
        </p:spPr>
        <p:txBody>
          <a:bodyPr wrap="square" lIns="0" tIns="0" rIns="0" bIns="0">
            <a:spAutoFit/>
          </a:bodyPr>
          <a:lstStyle/>
          <a:p>
            <a:pPr>
              <a:defRPr sz="2100" b="1">
                <a:solidFill>
                  <a:srgbClr val="F8FAFC"/>
                </a:solidFill>
                <a:latin typeface="Helvetica"/>
              </a:defRPr>
            </a:pPr>
            <a:r>
              <a:t>Project Contributions, Limitations &amp; Viva Defense Guide</a:t>
            </a:r>
          </a:p>
        </p:txBody>
      </p:sp>
      <p:sp>
        <p:nvSpPr>
          <p:cNvPr id="5" name="Rectangle 4"/>
          <p:cNvSpPr/>
          <p:nvPr/>
        </p:nvSpPr>
        <p:spPr>
          <a:xfrm>
            <a:off x="731520" y="118872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5029200"/>
          </a:xfrm>
          <a:prstGeom prst="roundRect">
            <a:avLst/>
          </a:prstGeom>
          <a:solidFill>
            <a:srgbClr val="1622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663440"/>
          </a:xfrm>
          <a:prstGeom prst="rect">
            <a:avLst/>
          </a:prstGeom>
          <a:noFill/>
        </p:spPr>
        <p:txBody>
          <a:bodyPr wrap="square" lIns="0" tIns="0" rIns="0" bIns="0">
            <a:spAutoFit/>
          </a:bodyPr>
          <a:lstStyle/>
          <a:p>
            <a:pPr>
              <a:spcAft>
                <a:spcPts val="1000"/>
              </a:spcAft>
              <a:defRPr sz="1200" b="1">
                <a:solidFill>
                  <a:srgbClr val="14B8A6"/>
                </a:solidFill>
                <a:latin typeface="Helvetica"/>
              </a:defRPr>
            </a:pPr>
            <a:r>
              <a:t>CORE SCIENTIFIC &amp; TECHNICAL CONTRIBUTIONS</a:t>
            </a:r>
          </a:p>
          <a:p>
            <a:pPr>
              <a:defRPr sz="1000" b="1">
                <a:solidFill>
                  <a:srgbClr val="F8FAFC"/>
                </a:solidFill>
              </a:defRPr>
            </a:pPr>
            <a:r>
              <a:t>• 1. Decoupled Dual-Pipeline Paradigm:</a:t>
            </a:r>
          </a:p>
          <a:p>
            <a:pPr>
              <a:spcAft>
                <a:spcPts val="600"/>
              </a:spcAft>
              <a:defRPr sz="850">
                <a:solidFill>
                  <a:srgbClr val="CBD5E1"/>
                </a:solidFill>
              </a:defRPr>
            </a:pPr>
            <a:r>
              <a:t>Demonstrated that medical IoT cybersecurity and patient clinical monitoring must remain decoupled to prevent catastrophic target leakage.</a:t>
            </a:r>
          </a:p>
          <a:p>
            <a:pPr>
              <a:defRPr sz="1000" b="1">
                <a:solidFill>
                  <a:srgbClr val="F8FAFC"/>
                </a:solidFill>
              </a:defRPr>
            </a:pPr>
            <a:r>
              <a:t>• 2. Forensic Real-Dataset Audit:</a:t>
            </a:r>
          </a:p>
          <a:p>
            <a:pPr>
              <a:spcAft>
                <a:spcPts val="600"/>
              </a:spcAft>
              <a:defRPr sz="850">
                <a:solidFill>
                  <a:srgbClr val="CBD5E1"/>
                </a:solidFill>
              </a:defRPr>
            </a:pPr>
            <a:r>
              <a:t>Audited 157,800 Edge-IIoTset records; discovered 8 constant columns and timestamp shifting errors; verified leakage-free 29-feature benchmark.</a:t>
            </a:r>
          </a:p>
          <a:p>
            <a:pPr>
              <a:defRPr sz="1000" b="1">
                <a:solidFill>
                  <a:srgbClr val="F8FAFC"/>
                </a:solidFill>
              </a:defRPr>
            </a:pPr>
            <a:r>
              <a:t>• 3. Cyber-Physical Safety Interlock:</a:t>
            </a:r>
          </a:p>
          <a:p>
            <a:pPr>
              <a:spcAft>
                <a:spcPts val="600"/>
              </a:spcAft>
              <a:defRPr sz="850">
                <a:solidFill>
                  <a:srgbClr val="CBD5E1"/>
                </a:solidFill>
              </a:defRPr>
            </a:pPr>
            <a:r>
              <a:t>Formulated an interlock state machine preventing automated network shutdowns from disrupting life-critical ventilators or infusion pumps.</a:t>
            </a:r>
          </a:p>
          <a:p>
            <a:pPr>
              <a:defRPr sz="1000" b="1">
                <a:solidFill>
                  <a:srgbClr val="F8FAFC"/>
                </a:solidFill>
              </a:defRPr>
            </a:pPr>
            <a:r>
              <a:t>• 4. Transparent Clinical Baseline:</a:t>
            </a:r>
          </a:p>
          <a:p>
            <a:pPr>
              <a:spcAft>
                <a:spcPts val="600"/>
              </a:spcAft>
              <a:defRPr sz="850">
                <a:solidFill>
                  <a:srgbClr val="CBD5E1"/>
                </a:solidFill>
              </a:defRPr>
            </a:pPr>
            <a:r>
              <a:t>Constructed an audited 24-hour prospective MIMIC-IV vital monitoring baseline with patient-level splits and honest uncertainty disclosure.</a:t>
            </a:r>
          </a:p>
          <a:p>
            <a:pPr>
              <a:defRPr sz="1000" b="1">
                <a:solidFill>
                  <a:srgbClr val="F8FAFC"/>
                </a:solidFill>
              </a:defRPr>
            </a:pPr>
            <a:r>
              <a:t>• 5. Verified Production-Ready Full-Stack:</a:t>
            </a:r>
          </a:p>
          <a:p>
            <a:pPr>
              <a:spcAft>
                <a:spcPts val="600"/>
              </a:spcAft>
              <a:defRPr sz="850">
                <a:solidFill>
                  <a:srgbClr val="CBD5E1"/>
                </a:solidFill>
              </a:defRPr>
            </a:pPr>
            <a:r>
              <a:t>Delivered complete FastAPI backend, React 18 UI, 90 passing tests, and zero-defect production build.</a:t>
            </a:r>
          </a:p>
        </p:txBody>
      </p:sp>
      <p:sp>
        <p:nvSpPr>
          <p:cNvPr id="8" name="Rounded Rectangle 7"/>
          <p:cNvSpPr/>
          <p:nvPr/>
        </p:nvSpPr>
        <p:spPr>
          <a:xfrm>
            <a:off x="6217920" y="1371600"/>
            <a:ext cx="5212080" cy="5029200"/>
          </a:xfrm>
          <a:prstGeom prst="roundRect">
            <a:avLst/>
          </a:prstGeom>
          <a:solidFill>
            <a:srgbClr val="1622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663440"/>
          </a:xfrm>
          <a:prstGeom prst="rect">
            <a:avLst/>
          </a:prstGeom>
          <a:noFill/>
        </p:spPr>
        <p:txBody>
          <a:bodyPr wrap="square" lIns="0" tIns="0" rIns="0" bIns="0">
            <a:spAutoFit/>
          </a:bodyPr>
          <a:lstStyle/>
          <a:p>
            <a:pPr>
              <a:spcAft>
                <a:spcPts val="1000"/>
              </a:spcAft>
              <a:defRPr sz="1200" b="1">
                <a:solidFill>
                  <a:srgbClr val="F59E0B"/>
                </a:solidFill>
                <a:latin typeface="Helvetica"/>
              </a:defRPr>
            </a:pPr>
            <a:r>
              <a:t>LIMITATIONS &amp; VIVA DEFENSE GUIDE</a:t>
            </a:r>
          </a:p>
          <a:p>
            <a:pPr>
              <a:defRPr sz="950" b="1">
                <a:solidFill>
                  <a:srgbClr val="F8FAFC"/>
                </a:solidFill>
              </a:defRPr>
            </a:pPr>
            <a:r>
              <a:t>• Q: Why is held-out clinical AUC 0.7600 but CV AUC 0.5325?:</a:t>
            </a:r>
          </a:p>
          <a:p>
            <a:pPr>
              <a:spcAft>
                <a:spcPts val="600"/>
              </a:spcAft>
              <a:defRPr sz="850">
                <a:solidFill>
                  <a:srgbClr val="CBD5E1"/>
                </a:solidFill>
              </a:defRPr>
            </a:pPr>
            <a:r>
              <a:t>A: In the 136-stay demo cohort, the held-out test split contains only 5 death events. A single patient outcome shifts sensitivity by 20%. We report both metrics transparently to expose sample variance.</a:t>
            </a:r>
          </a:p>
          <a:p>
            <a:pPr>
              <a:defRPr sz="950" b="1">
                <a:solidFill>
                  <a:srgbClr val="F8FAFC"/>
                </a:solidFill>
              </a:defRPr>
            </a:pPr>
            <a:r>
              <a:t>• Q: Why did Configuration A achieve lower F1 than B?:</a:t>
            </a:r>
          </a:p>
          <a:p>
            <a:pPr>
              <a:spcAft>
                <a:spcPts val="600"/>
              </a:spcAft>
              <a:defRPr sz="850">
                <a:solidFill>
                  <a:srgbClr val="CBD5E1"/>
                </a:solidFill>
              </a:defRPr>
            </a:pPr>
            <a:r>
              <a:t>A: In the source CSV release of Edge-IIoTset, 8 of the 9 canonical features were omitted. Configuration A demonstrates this information bottleneck, while Configuration B uses real protocol fields.</a:t>
            </a:r>
          </a:p>
          <a:p>
            <a:pPr>
              <a:defRPr sz="950" b="1">
                <a:solidFill>
                  <a:srgbClr val="F8FAFC"/>
                </a:solidFill>
              </a:defRPr>
            </a:pPr>
            <a:r>
              <a:t>• Q: Can EdgeShield AI be deployed in an ICU tomorrow?:</a:t>
            </a:r>
          </a:p>
          <a:p>
            <a:pPr>
              <a:spcAft>
                <a:spcPts val="600"/>
              </a:spcAft>
              <a:defRPr sz="850">
                <a:solidFill>
                  <a:srgbClr val="CBD5E1"/>
                </a:solidFill>
              </a:defRPr>
            </a:pPr>
            <a:r>
              <a:t>A: No. It is an academic engineering prototype. Clinical deployment requires FDA/CE medical device clearance, HIPAA audits, and multi-center clinical trials.</a:t>
            </a:r>
          </a:p>
          <a:p>
            <a:pPr>
              <a:defRPr sz="950" b="1">
                <a:solidFill>
                  <a:srgbClr val="F8FAFC"/>
                </a:solidFill>
              </a:defRPr>
            </a:pPr>
            <a:r>
              <a:t>• Future Roadmap:</a:t>
            </a:r>
          </a:p>
          <a:p>
            <a:pPr>
              <a:spcAft>
                <a:spcPts val="600"/>
              </a:spcAft>
              <a:defRPr sz="850">
                <a:solidFill>
                  <a:srgbClr val="CBD5E1"/>
                </a:solidFill>
              </a:defRPr>
            </a:pPr>
            <a:r>
              <a:t>Acquire PhysioNet credentialed access for full MIMIC-IV cohort (70,000+ stays); extract raw PCAP packet flows using Zeek/Tshark for full protocol entropy.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